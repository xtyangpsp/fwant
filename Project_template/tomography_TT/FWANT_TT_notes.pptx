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Goal of the talk: agree on what is rotated where, before the kernel code is patched. Rayleigh (ZZ) and Love (TT) projects stay separate; this is only about the TT simulations.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polarity reversal seen in the fy run is exactly this: Love amplitude goes like sin(alpha) for an fx force, so receivers on the other side of the source get the opposite sign, and receivers along the force axis get nothing.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a flat plane beta = alpha + 180 and the source and receiver arrows coincide. On the sphere they differ by the convergence of meridians, so we keep both pairs. T uses the same handedness at both ends, which matches obspy rotate_ne_rt.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Source-side rotation answers the question: what would the receiver record if the virtual source had pushed across the path to this particular receiver? The weights depend on alpha, so each receiver gets its own mix of the two runs.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Receiver-side rotation is the familiar one. It uses beta, the back azimuth, because T and R are defined by the local propagation direction at the receiver. If the source force really is transverse, the R and Z parts are small leakage, which we use as a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same pair of vectors gives every combination. Only TT and RR carry signal. RT, TR and ZT are not used further; they are our test that the geometry is right.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Leakage and azimuth tests used the fx and fy runs from the Rio Grande project. The remaining open item is the sign convention between the EGF TT and the synthetic TT; a few stations with high SNR are enough to settle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SI_ker_sta_fxyz.F90 for TT (it also runs fz-only ZZ lines). The original SI_ker_sta.F90 would ignore the source weights and silently use only one event run, so the kernels would be wrong for most azimuths. Both runs must use the same force amplitude, because the program mixes the raw event SGTs with weights sin α and cos α.</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6F4EE"/>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949920"/>
            <a:ext cx="10566400" cy="447030"/>
          </a:xfrm>
          <a:prstGeom prst="rect">
            <a:avLst/>
          </a:prstGeom>
          <a:noFill/>
          <a:ln/>
        </p:spPr>
        <p:txBody>
          <a:bodyPr wrap="square" lIns="0" tIns="0" rIns="0" bIns="0" rtlCol="0" anchor="t"/>
          <a:lstStyle>
            <a:lvl1pPr algn="l" indent="0" marL="0">
              <a:lnSpc>
                <a:spcPct val="115000"/>
              </a:lnSpc>
              <a:buNone/>
              <a:defRPr lang="en-US" sz="3200" dirty="0">
                <a:solidFill>
                  <a:srgbClr val="1D2B3A"/>
                </a:solidFill>
                <a:latin typeface="EB Garamond" pitchFamily="34" charset="0"/>
                <a:ea typeface="EB Garamond" pitchFamily="34" charset="-122"/>
                <a:cs typeface="EB Garamond" pitchFamily="34" charset="-120"/>
              </a:defRPr>
            </a:lvl1pPr>
          </a:lstStyle>
          <a:p>
            <a:pPr algn="l" indent="0" marL="0">
              <a:lnSpc>
                <a:spcPct val="115000"/>
              </a:lnSpc>
              <a:buNone/>
            </a:pPr>
            <a:endParaRPr lang="en-US" sz="3200" dirty="0"/>
          </a:p>
        </p:txBody>
      </p:sp>
      <p:sp>
        <p:nvSpPr>
          <p:cNvPr id="3" name="Text Placeholder 2"/>
          <p:cNvSpPr/>
          <p:nvPr>
            <p:ph idx="101" type="body"/>
          </p:nvPr>
        </p:nvSpPr>
        <p:spPr>
          <a:xfrm>
            <a:off x="812800" y="1701750"/>
            <a:ext cx="10566400" cy="4343450"/>
          </a:xfrm>
          <a:prstGeom prst="rect">
            <a:avLst/>
          </a:prstGeom>
          <a:noFill/>
          <a:ln/>
        </p:spPr>
        <p:txBody>
          <a:bodyPr wrap="square" lIns="0" tIns="0" rIns="0" bIns="0" rtlCol="0" anchor="t"/>
          <a:lstStyle>
            <a:lvl1pPr algn="l" indent="0" marL="0">
              <a:lnSpc>
                <a:spcPct val="140000"/>
              </a:lnSpc>
              <a:buNone/>
              <a:defRPr lang="en-US" sz="1600" dirty="0">
                <a:solidFill>
                  <a:srgbClr val="44505C"/>
                </a:solidFill>
                <a:latin typeface="IBM Plex Sans" pitchFamily="34" charset="0"/>
                <a:ea typeface="IBM Plex Sans" pitchFamily="34" charset="-122"/>
                <a:cs typeface="IBM Plex Sans"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6F4EE"/>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949920"/>
            <a:ext cx="10566400" cy="447030"/>
          </a:xfrm>
          <a:prstGeom prst="rect">
            <a:avLst/>
          </a:prstGeom>
          <a:noFill/>
          <a:ln/>
        </p:spPr>
        <p:txBody>
          <a:bodyPr wrap="square" lIns="0" tIns="0" rIns="0" bIns="0" rtlCol="0" anchor="t"/>
          <a:lstStyle>
            <a:lvl1pPr algn="l" indent="0" marL="0">
              <a:lnSpc>
                <a:spcPct val="115000"/>
              </a:lnSpc>
              <a:buNone/>
              <a:defRPr lang="en-US" sz="3200" dirty="0">
                <a:solidFill>
                  <a:srgbClr val="1D2B3A"/>
                </a:solidFill>
                <a:latin typeface="EB Garamond" pitchFamily="34" charset="0"/>
                <a:ea typeface="EB Garamond" pitchFamily="34" charset="-122"/>
                <a:cs typeface="EB Garamond" pitchFamily="34" charset="-120"/>
              </a:defRPr>
            </a:lvl1pPr>
          </a:lstStyle>
          <a:p>
            <a:pPr algn="l" indent="0" marL="0">
              <a:lnSpc>
                <a:spcPct val="115000"/>
              </a:lnSpc>
              <a:buNone/>
            </a:pPr>
            <a:endParaRPr lang="en-US" sz="3200" dirty="0"/>
          </a:p>
        </p:txBody>
      </p:sp>
      <p:sp>
        <p:nvSpPr>
          <p:cNvPr id="3" name="Text Placeholder 2"/>
          <p:cNvSpPr/>
          <p:nvPr>
            <p:ph idx="101" type="body"/>
          </p:nvPr>
        </p:nvSpPr>
        <p:spPr>
          <a:xfrm>
            <a:off x="812800" y="1701750"/>
            <a:ext cx="10566400" cy="4343450"/>
          </a:xfrm>
          <a:prstGeom prst="rect">
            <a:avLst/>
          </a:prstGeom>
          <a:noFill/>
          <a:ln/>
        </p:spPr>
        <p:txBody>
          <a:bodyPr wrap="square" lIns="0" tIns="0" rIns="0" bIns="0" rtlCol="0" anchor="t"/>
          <a:lstStyle>
            <a:lvl1pPr algn="l" indent="0" marL="0">
              <a:lnSpc>
                <a:spcPct val="140000"/>
              </a:lnSpc>
              <a:buNone/>
              <a:defRPr lang="en-US" sz="1600" dirty="0">
                <a:solidFill>
                  <a:srgbClr val="44505C"/>
                </a:solidFill>
                <a:latin typeface="IBM Plex Sans" pitchFamily="34" charset="0"/>
                <a:ea typeface="IBM Plex Sans" pitchFamily="34" charset="-122"/>
                <a:cs typeface="IBM Plex Sans"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2.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2.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D2B3A"/>
        </a:solidFill>
      </p:bgPr>
    </p:bg>
    <p:spTree>
      <p:nvGrpSpPr>
        <p:cNvPr id="1" name=""/>
        <p:cNvGrpSpPr/>
        <p:nvPr/>
      </p:nvGrpSpPr>
      <p:grpSpPr>
        <a:xfrm>
          <a:off x="0" y="0"/>
          <a:ext cx="0" cy="0"/>
          <a:chOff x="0" y="0"/>
          <a:chExt cx="0" cy="0"/>
        </a:xfrm>
      </p:grpSpPr>
      <p:sp>
        <p:nvSpPr>
          <p:cNvPr id="2" name="Text 0"/>
          <p:cNvSpPr/>
          <p:nvPr/>
        </p:nvSpPr>
        <p:spPr>
          <a:xfrm>
            <a:off x="812800" y="1968500"/>
            <a:ext cx="10883392" cy="274290"/>
          </a:xfrm>
          <a:prstGeom prst="rect">
            <a:avLst/>
          </a:prstGeom>
          <a:noFill/>
          <a:ln/>
        </p:spPr>
        <p:txBody>
          <a:bodyPr wrap="square" lIns="0" tIns="0" rIns="0" bIns="0" rtlCol="0" anchor="t">
            <a:normAutofit/>
          </a:bodyPr>
          <a:lstStyle/>
          <a:p>
            <a:pPr algn="l" indent="0" marL="0">
              <a:lnSpc>
                <a:spcPts val="1960"/>
              </a:lnSpc>
              <a:buNone/>
            </a:pPr>
            <a:r>
              <a:rPr lang="en-US" sz="1400" b="1" spc="150" kern="0" dirty="0">
                <a:solidFill>
                  <a:srgbClr val="7FD1CB"/>
                </a:solidFill>
                <a:latin typeface="IBM Plex Sans" pitchFamily="34" charset="0"/>
                <a:ea typeface="IBM Plex Sans" pitchFamily="34" charset="-122"/>
                <a:cs typeface="IBM Plex Sans" pitchFamily="34" charset="-120"/>
              </a:rPr>
              <a:t>FWANT · LOVE-WAVE (TT) EXTENSION</a:t>
            </a:r>
            <a:endParaRPr lang="en-US" sz="1400" dirty="0"/>
          </a:p>
        </p:txBody>
      </p:sp>
      <p:sp>
        <p:nvSpPr>
          <p:cNvPr id="3" name="Text 1"/>
          <p:cNvSpPr/>
          <p:nvPr>
            <p:ph type="title"/>
          </p:nvPr>
        </p:nvSpPr>
        <p:spPr>
          <a:xfrm>
            <a:off x="812800" y="2425700"/>
            <a:ext cx="10883392" cy="1625600"/>
          </a:xfrm>
          <a:prstGeom prst="rect">
            <a:avLst/>
          </a:prstGeom>
          <a:noFill/>
          <a:ln/>
        </p:spPr>
        <p:txBody>
          <a:bodyPr wrap="square" lIns="0" tIns="0" rIns="0" bIns="0" rtlCol="0" anchor="t">
            <a:normAutofit/>
          </a:bodyPr>
          <a:lstStyle/>
          <a:p>
            <a:pPr algn="l" indent="0" marL="0">
              <a:lnSpc>
                <a:spcPts val="6300"/>
              </a:lnSpc>
              <a:buNone/>
            </a:pPr>
            <a:r>
              <a:rPr lang="en-US" sz="6000" b="1" i="0" dirty="0">
                <a:solidFill>
                  <a:srgbClr val="F6F4EE"/>
                </a:solidFill>
                <a:latin typeface="EB Garamond" pitchFamily="18" charset="0"/>
                <a:ea typeface="EB Garamond" pitchFamily="18" charset="-122"/>
                <a:cs typeface="EB Garamond" pitchFamily="18" charset="-120"/>
              </a:rPr>
              <a:t>Rotating fx and fy runs into TT and RR</a:t>
            </a:r>
            <a:endParaRPr lang="en-US" sz="6000" dirty="0"/>
          </a:p>
        </p:txBody>
      </p:sp>
      <p:sp>
        <p:nvSpPr>
          <p:cNvPr id="4" name="Text 2"/>
          <p:cNvSpPr/>
          <p:nvPr/>
        </p:nvSpPr>
        <p:spPr>
          <a:xfrm>
            <a:off x="812800" y="4229100"/>
            <a:ext cx="6352256" cy="685800"/>
          </a:xfrm>
          <a:prstGeom prst="rect">
            <a:avLst/>
          </a:prstGeom>
          <a:noFill/>
          <a:ln/>
        </p:spPr>
        <p:txBody>
          <a:bodyPr wrap="square" lIns="0" tIns="0" rIns="0" bIns="0" rtlCol="0" anchor="t">
            <a:normAutofit/>
          </a:bodyPr>
          <a:lstStyle/>
          <a:p>
            <a:pPr algn="l" indent="0" marL="0">
              <a:lnSpc>
                <a:spcPts val="2600"/>
              </a:lnSpc>
              <a:buNone/>
            </a:pPr>
            <a:r>
              <a:rPr lang="en-US" sz="2000" dirty="0">
                <a:solidFill>
                  <a:srgbClr val="BFD0DA"/>
                </a:solidFill>
                <a:latin typeface="IBM Plex Sans" pitchFamily="34" charset="0"/>
                <a:ea typeface="IBM Plex Sans" pitchFamily="34" charset="-122"/>
                <a:cs typeface="IBM Plex Sans" pitchFamily="34" charset="-120"/>
              </a:rPr>
              <a:t>What source-side and receiver-side rotation mean, and why we need both</a:t>
            </a:r>
            <a:endParaRPr lang="en-US" sz="2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6F4EE"/>
        </a:solidFill>
      </p:bgPr>
    </p:bg>
    <p:spTree>
      <p:nvGrpSpPr>
        <p:cNvPr id="1" name=""/>
        <p:cNvGrpSpPr/>
        <p:nvPr/>
      </p:nvGrpSpPr>
      <p:grpSpPr>
        <a:xfrm>
          <a:off x="0" y="0"/>
          <a:ext cx="0" cy="0"/>
          <a:chOff x="0" y="0"/>
          <a:chExt cx="0" cy="0"/>
        </a:xfrm>
      </p:grpSpPr>
      <p:sp>
        <p:nvSpPr>
          <p:cNvPr id="2" name="Text 0"/>
          <p:cNvSpPr/>
          <p:nvPr/>
        </p:nvSpPr>
        <p:spPr>
          <a:xfrm>
            <a:off x="812800" y="558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F7A7A"/>
                </a:solidFill>
                <a:latin typeface="IBM Plex Sans" pitchFamily="34" charset="0"/>
                <a:ea typeface="IBM Plex Sans" pitchFamily="34" charset="-122"/>
                <a:cs typeface="IBM Plex Sans" pitchFamily="34" charset="-120"/>
              </a:rPr>
              <a:t>1 · THE PROBLEM</a:t>
            </a:r>
            <a:endParaRPr lang="en-US" sz="1200" dirty="0"/>
          </a:p>
        </p:txBody>
      </p:sp>
      <p:sp>
        <p:nvSpPr>
          <p:cNvPr id="3" name="Text 1"/>
          <p:cNvSpPr/>
          <p:nvPr>
            <p:ph type="title"/>
          </p:nvPr>
        </p:nvSpPr>
        <p:spPr>
          <a:xfrm>
            <a:off x="812800" y="9499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D2B3A"/>
                </a:solidFill>
                <a:latin typeface="EB Garamond" pitchFamily="18" charset="0"/>
                <a:ea typeface="EB Garamond" pitchFamily="18" charset="-122"/>
                <a:cs typeface="EB Garamond" pitchFamily="18" charset="-120"/>
              </a:rPr>
              <a:t>One horizontal force cannot give Love waves at every azimuth</a:t>
            </a:r>
            <a:endParaRPr lang="en-US" sz="3200" dirty="0"/>
          </a:p>
        </p:txBody>
      </p:sp>
      <p:sp>
        <p:nvSpPr>
          <p:cNvPr id="4" name="Text 2"/>
          <p:cNvSpPr/>
          <p:nvPr/>
        </p:nvSpPr>
        <p:spPr>
          <a:xfrm>
            <a:off x="812800" y="1574750"/>
            <a:ext cx="4185920" cy="8255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4505C"/>
                </a:solidFill>
                <a:latin typeface="IBM Plex Sans" pitchFamily="34" charset="0"/>
                <a:ea typeface="IBM Plex Sans" pitchFamily="34" charset="-122"/>
                <a:cs typeface="IBM Plex Sans" pitchFamily="34" charset="-120"/>
              </a:rPr>
              <a:t>A horizontal force excites </a:t>
            </a:r>
            <a:r>
              <a:rPr lang="en-US" sz="1500" b="1" dirty="0">
                <a:solidFill>
                  <a:srgbClr val="B4531E"/>
                </a:solidFill>
                <a:latin typeface="IBM Plex Sans" pitchFamily="34" charset="0"/>
                <a:ea typeface="IBM Plex Sans" pitchFamily="34" charset="-122"/>
                <a:cs typeface="IBM Plex Sans" pitchFamily="34" charset="-120"/>
              </a:rPr>
              <a:t>Rayleigh</a:t>
            </a:r>
            <a:r>
              <a:rPr lang="en-US" sz="1500" dirty="0">
                <a:solidFill>
                  <a:srgbClr val="44505C"/>
                </a:solidFill>
                <a:latin typeface="IBM Plex Sans" pitchFamily="34" charset="0"/>
                <a:ea typeface="IBM Plex Sans" pitchFamily="34" charset="-122"/>
                <a:cs typeface="IBM Plex Sans" pitchFamily="34" charset="-120"/>
              </a:rPr>
              <a:t> with its component </a:t>
            </a:r>
            <a:r>
              <a:rPr lang="en-US" sz="1500" b="1" dirty="0">
                <a:solidFill>
                  <a:srgbClr val="1D2B3A"/>
                </a:solidFill>
                <a:latin typeface="IBM Plex Sans" pitchFamily="34" charset="0"/>
                <a:ea typeface="IBM Plex Sans" pitchFamily="34" charset="-122"/>
                <a:cs typeface="IBM Plex Sans" pitchFamily="34" charset="-120"/>
              </a:rPr>
              <a:t>along</a:t>
            </a:r>
            <a:r>
              <a:rPr lang="en-US" sz="1500" dirty="0">
                <a:solidFill>
                  <a:srgbClr val="44505C"/>
                </a:solidFill>
                <a:latin typeface="IBM Plex Sans" pitchFamily="34" charset="0"/>
                <a:ea typeface="IBM Plex Sans" pitchFamily="34" charset="-122"/>
                <a:cs typeface="IBM Plex Sans" pitchFamily="34" charset="-120"/>
              </a:rPr>
              <a:t> the path and </a:t>
            </a:r>
            <a:r>
              <a:rPr lang="en-US" sz="1500" b="1" dirty="0">
                <a:solidFill>
                  <a:srgbClr val="1F7A7A"/>
                </a:solidFill>
                <a:latin typeface="IBM Plex Sans" pitchFamily="34" charset="0"/>
                <a:ea typeface="IBM Plex Sans" pitchFamily="34" charset="-122"/>
                <a:cs typeface="IBM Plex Sans" pitchFamily="34" charset="-120"/>
              </a:rPr>
              <a:t>Love</a:t>
            </a:r>
            <a:r>
              <a:rPr lang="en-US" sz="1500" dirty="0">
                <a:solidFill>
                  <a:srgbClr val="44505C"/>
                </a:solidFill>
                <a:latin typeface="IBM Plex Sans" pitchFamily="34" charset="0"/>
                <a:ea typeface="IBM Plex Sans" pitchFamily="34" charset="-122"/>
                <a:cs typeface="IBM Plex Sans" pitchFamily="34" charset="-120"/>
              </a:rPr>
              <a:t> with its component </a:t>
            </a:r>
            <a:r>
              <a:rPr lang="en-US" sz="1500" b="1" dirty="0">
                <a:solidFill>
                  <a:srgbClr val="1D2B3A"/>
                </a:solidFill>
                <a:latin typeface="IBM Plex Sans" pitchFamily="34" charset="0"/>
                <a:ea typeface="IBM Plex Sans" pitchFamily="34" charset="-122"/>
                <a:cs typeface="IBM Plex Sans" pitchFamily="34" charset="-120"/>
              </a:rPr>
              <a:t>across</a:t>
            </a:r>
            <a:r>
              <a:rPr lang="en-US" sz="1500" dirty="0">
                <a:solidFill>
                  <a:srgbClr val="44505C"/>
                </a:solidFill>
                <a:latin typeface="IBM Plex Sans" pitchFamily="34" charset="0"/>
                <a:ea typeface="IBM Plex Sans" pitchFamily="34" charset="-122"/>
                <a:cs typeface="IBM Plex Sans" pitchFamily="34" charset="-120"/>
              </a:rPr>
              <a:t> the path.</a:t>
            </a:r>
            <a:endParaRPr lang="en-US" sz="1500" dirty="0"/>
          </a:p>
        </p:txBody>
      </p:sp>
      <p:sp>
        <p:nvSpPr>
          <p:cNvPr id="5" name="Text 3"/>
          <p:cNvSpPr/>
          <p:nvPr/>
        </p:nvSpPr>
        <p:spPr>
          <a:xfrm>
            <a:off x="812800" y="2514550"/>
            <a:ext cx="4185920" cy="8255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4505C"/>
                </a:solidFill>
                <a:latin typeface="IBM Plex Sans" pitchFamily="34" charset="0"/>
                <a:ea typeface="IBM Plex Sans" pitchFamily="34" charset="-122"/>
                <a:cs typeface="IBM Plex Sans" pitchFamily="34" charset="-120"/>
              </a:rPr>
              <a:t>A single force toward south therefore flips the sign of Love between east and west receivers, and gives </a:t>
            </a:r>
            <a:r>
              <a:rPr lang="en-US" sz="1500" b="1" dirty="0">
                <a:solidFill>
                  <a:srgbClr val="1D2B3A"/>
                </a:solidFill>
                <a:latin typeface="IBM Plex Sans" pitchFamily="34" charset="0"/>
                <a:ea typeface="IBM Plex Sans" pitchFamily="34" charset="-122"/>
                <a:cs typeface="IBM Plex Sans" pitchFamily="34" charset="-120"/>
              </a:rPr>
              <a:t>zero Love</a:t>
            </a:r>
            <a:r>
              <a:rPr lang="en-US" sz="1500" dirty="0">
                <a:solidFill>
                  <a:srgbClr val="44505C"/>
                </a:solidFill>
                <a:latin typeface="IBM Plex Sans" pitchFamily="34" charset="0"/>
                <a:ea typeface="IBM Plex Sans" pitchFamily="34" charset="-122"/>
                <a:cs typeface="IBM Plex Sans" pitchFamily="34" charset="-120"/>
              </a:rPr>
              <a:t> to the north and south.</a:t>
            </a:r>
            <a:endParaRPr lang="en-US" sz="1500" dirty="0"/>
          </a:p>
        </p:txBody>
      </p:sp>
      <p:sp>
        <p:nvSpPr>
          <p:cNvPr id="6" name="Text 4"/>
          <p:cNvSpPr/>
          <p:nvPr/>
        </p:nvSpPr>
        <p:spPr>
          <a:xfrm>
            <a:off x="812800" y="3454350"/>
            <a:ext cx="4185920" cy="8255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4505C"/>
                </a:solidFill>
                <a:latin typeface="IBM Plex Sans" pitchFamily="34" charset="0"/>
                <a:ea typeface="IBM Plex Sans" pitchFamily="34" charset="-122"/>
                <a:cs typeface="IBM Plex Sans" pitchFamily="34" charset="-120"/>
              </a:rPr>
              <a:t>One run cannot give TT for every azimuth. Two orthogonal runs, </a:t>
            </a:r>
            <a:r>
              <a:rPr lang="en-US" sz="1500" b="1" dirty="0">
                <a:solidFill>
                  <a:srgbClr val="1D2B3A"/>
                </a:solidFill>
                <a:latin typeface="IBM Plex Sans" pitchFamily="34" charset="0"/>
                <a:ea typeface="IBM Plex Sans" pitchFamily="34" charset="-122"/>
                <a:cs typeface="IBM Plex Sans" pitchFamily="34" charset="-120"/>
              </a:rPr>
              <a:t>fx and fy</a:t>
            </a:r>
            <a:r>
              <a:rPr lang="en-US" sz="1500" dirty="0">
                <a:solidFill>
                  <a:srgbClr val="44505C"/>
                </a:solidFill>
                <a:latin typeface="IBM Plex Sans" pitchFamily="34" charset="0"/>
                <a:ea typeface="IBM Plex Sans" pitchFamily="34" charset="-122"/>
                <a:cs typeface="IBM Plex Sans" pitchFamily="34" charset="-120"/>
              </a:rPr>
              <a:t>, can: any horizontal force is a mix of them.</a:t>
            </a:r>
            <a:endParaRPr lang="en-US" sz="1500" dirty="0"/>
          </a:p>
        </p:txBody>
      </p:sp>
      <p:pic>
        <p:nvPicPr>
          <p:cNvPr id="7" name="Image 0" descr="Virtual source at the centre with a force pointing south and receivers to the east, west, north and south">    </p:cNvPr>
          <p:cNvPicPr>
            <a:picLocks noChangeAspect="1"/>
          </p:cNvPicPr>
          <p:nvPr/>
        </p:nvPicPr>
        <p:blipFill>
          <a:blip r:embed="rId1"/>
          <a:srcRect l="0" r="0" t="0" b="0"/>
          <a:stretch/>
        </p:blipFill>
        <p:spPr>
          <a:xfrm>
            <a:off x="5283200" y="1574750"/>
            <a:ext cx="6096000" cy="4445000"/>
          </a:xfrm>
          <a:prstGeom prst="rect">
            <a:avLst/>
          </a:prstGeom>
        </p:spPr>
      </p:pic>
      <p:sp>
        <p:nvSpPr>
          <p:cNvPr id="8" name="Text 5"/>
          <p:cNvSpPr/>
          <p:nvPr/>
        </p:nvSpPr>
        <p:spPr>
          <a:xfrm>
            <a:off x="6819900" y="3365450"/>
            <a:ext cx="1384300" cy="215900"/>
          </a:xfrm>
          <a:prstGeom prst="rect">
            <a:avLst/>
          </a:prstGeom>
          <a:noFill/>
          <a:ln/>
        </p:spPr>
        <p:txBody>
          <a:bodyPr wrap="square" lIns="0" tIns="0" rIns="0" bIns="0" rtlCol="0" anchor="t">
            <a:normAutofit/>
          </a:bodyPr>
          <a:lstStyle/>
          <a:p>
            <a:pPr algn="r" indent="0" marL="0">
              <a:lnSpc>
                <a:spcPts val="1500"/>
              </a:lnSpc>
              <a:buNone/>
            </a:pPr>
            <a:r>
              <a:rPr lang="en-US" sz="1200" b="1" dirty="0">
                <a:solidFill>
                  <a:srgbClr val="1D2B3A"/>
                </a:solidFill>
                <a:latin typeface="IBM Plex Sans" pitchFamily="34" charset="0"/>
                <a:ea typeface="IBM Plex Sans" pitchFamily="34" charset="-122"/>
                <a:cs typeface="IBM Plex Sans" pitchFamily="34" charset="-120"/>
              </a:rPr>
              <a:t>virtual source</a:t>
            </a:r>
            <a:endParaRPr lang="en-US" sz="1200" dirty="0"/>
          </a:p>
        </p:txBody>
      </p:sp>
      <p:sp>
        <p:nvSpPr>
          <p:cNvPr id="9" name="Text 6"/>
          <p:cNvSpPr/>
          <p:nvPr/>
        </p:nvSpPr>
        <p:spPr>
          <a:xfrm>
            <a:off x="8483600" y="4464000"/>
            <a:ext cx="1701800" cy="231775"/>
          </a:xfrm>
          <a:prstGeom prst="rect">
            <a:avLst/>
          </a:prstGeom>
          <a:noFill/>
          <a:ln/>
        </p:spPr>
        <p:txBody>
          <a:bodyPr wrap="square" lIns="0" tIns="0" rIns="0" bIns="0" rtlCol="0" anchor="t">
            <a:normAutofit/>
          </a:bodyPr>
          <a:lstStyle/>
          <a:p>
            <a:pPr algn="l" indent="0" marL="0">
              <a:lnSpc>
                <a:spcPts val="1625"/>
              </a:lnSpc>
              <a:buNone/>
            </a:pPr>
            <a:r>
              <a:rPr lang="en-US" sz="1300" b="1" dirty="0">
                <a:solidFill>
                  <a:srgbClr val="1D2B3A"/>
                </a:solidFill>
                <a:latin typeface="IBM Plex Sans" pitchFamily="34" charset="0"/>
                <a:ea typeface="IBM Plex Sans" pitchFamily="34" charset="-122"/>
                <a:cs typeface="IBM Plex Sans" pitchFamily="34" charset="-120"/>
              </a:rPr>
              <a:t>force fx (south)</a:t>
            </a:r>
            <a:endParaRPr lang="en-US" sz="1300" dirty="0"/>
          </a:p>
        </p:txBody>
      </p:sp>
      <p:sp>
        <p:nvSpPr>
          <p:cNvPr id="10" name="Text 7"/>
          <p:cNvSpPr/>
          <p:nvPr/>
        </p:nvSpPr>
        <p:spPr>
          <a:xfrm>
            <a:off x="9664700" y="4025850"/>
            <a:ext cx="1638300" cy="644525"/>
          </a:xfrm>
          <a:prstGeom prst="rect">
            <a:avLst/>
          </a:prstGeom>
          <a:noFill/>
          <a:ln/>
        </p:spPr>
        <p:txBody>
          <a:bodyPr wrap="square" lIns="0" tIns="0" rIns="0" bIns="0" rtlCol="0" anchor="t">
            <a:normAutofit/>
          </a:bodyPr>
          <a:lstStyle/>
          <a:p>
            <a:pPr algn="l" indent="0" marL="0">
              <a:lnSpc>
                <a:spcPts val="1625"/>
              </a:lnSpc>
              <a:buNone/>
            </a:pPr>
            <a:r>
              <a:rPr lang="en-US" sz="1300" dirty="0">
                <a:solidFill>
                  <a:srgbClr val="44505C"/>
                </a:solidFill>
                <a:latin typeface="IBM Plex Sans" pitchFamily="34" charset="0"/>
                <a:ea typeface="IBM Plex Sans" pitchFamily="34" charset="-122"/>
                <a:cs typeface="IBM Plex Sans" pitchFamily="34" charset="-120"/>
              </a:rPr>
              <a:t>East</a:t>
            </a:r>
            <a:endParaRPr lang="en-US" sz="1300" dirty="0"/>
          </a:p>
          <a:p>
            <a:pPr algn="l" indent="0" marL="0">
              <a:lnSpc>
                <a:spcPts val="1625"/>
              </a:lnSpc>
              <a:buNone/>
            </a:pPr>
            <a:r>
              <a:rPr lang="en-US" sz="1300" b="1" dirty="0">
                <a:solidFill>
                  <a:srgbClr val="1F7A7A"/>
                </a:solidFill>
                <a:latin typeface="IBM Plex Sans" pitchFamily="34" charset="0"/>
                <a:ea typeface="IBM Plex Sans" pitchFamily="34" charset="-122"/>
                <a:cs typeface="IBM Plex Sans" pitchFamily="34" charset="-120"/>
              </a:rPr>
              <a:t>Love +1</a:t>
            </a:r>
            <a:endParaRPr lang="en-US" sz="1300" dirty="0"/>
          </a:p>
          <a:p>
            <a:pPr algn="l" indent="0" marL="0">
              <a:lnSpc>
                <a:spcPts val="1625"/>
              </a:lnSpc>
              <a:buNone/>
            </a:pPr>
            <a:r>
              <a:rPr lang="en-US" sz="1300" b="1" dirty="0">
                <a:solidFill>
                  <a:srgbClr val="B4531E"/>
                </a:solidFill>
                <a:latin typeface="IBM Plex Sans" pitchFamily="34" charset="0"/>
                <a:ea typeface="IBM Plex Sans" pitchFamily="34" charset="-122"/>
                <a:cs typeface="IBM Plex Sans" pitchFamily="34" charset="-120"/>
              </a:rPr>
              <a:t>Rayleigh 0</a:t>
            </a:r>
            <a:endParaRPr lang="en-US" sz="1300" dirty="0"/>
          </a:p>
        </p:txBody>
      </p:sp>
      <p:sp>
        <p:nvSpPr>
          <p:cNvPr id="11" name="Text 8"/>
          <p:cNvSpPr/>
          <p:nvPr/>
        </p:nvSpPr>
        <p:spPr>
          <a:xfrm>
            <a:off x="5537200" y="4025850"/>
            <a:ext cx="1638300" cy="644525"/>
          </a:xfrm>
          <a:prstGeom prst="rect">
            <a:avLst/>
          </a:prstGeom>
          <a:noFill/>
          <a:ln/>
        </p:spPr>
        <p:txBody>
          <a:bodyPr wrap="square" lIns="0" tIns="0" rIns="0" bIns="0" rtlCol="0" anchor="t">
            <a:normAutofit/>
          </a:bodyPr>
          <a:lstStyle/>
          <a:p>
            <a:pPr algn="l" indent="0" marL="0">
              <a:lnSpc>
                <a:spcPts val="1625"/>
              </a:lnSpc>
              <a:buNone/>
            </a:pPr>
            <a:r>
              <a:rPr lang="en-US" sz="1300" dirty="0">
                <a:solidFill>
                  <a:srgbClr val="44505C"/>
                </a:solidFill>
                <a:latin typeface="IBM Plex Sans" pitchFamily="34" charset="0"/>
                <a:ea typeface="IBM Plex Sans" pitchFamily="34" charset="-122"/>
                <a:cs typeface="IBM Plex Sans" pitchFamily="34" charset="-120"/>
              </a:rPr>
              <a:t>West</a:t>
            </a:r>
            <a:endParaRPr lang="en-US" sz="1300" dirty="0"/>
          </a:p>
          <a:p>
            <a:pPr algn="l" indent="0" marL="0">
              <a:lnSpc>
                <a:spcPts val="1625"/>
              </a:lnSpc>
              <a:buNone/>
            </a:pPr>
            <a:r>
              <a:rPr lang="en-US" sz="1300" b="1" dirty="0">
                <a:solidFill>
                  <a:srgbClr val="1F7A7A"/>
                </a:solidFill>
                <a:latin typeface="IBM Plex Sans" pitchFamily="34" charset="0"/>
                <a:ea typeface="IBM Plex Sans" pitchFamily="34" charset="-122"/>
                <a:cs typeface="IBM Plex Sans" pitchFamily="34" charset="-120"/>
              </a:rPr>
              <a:t>Love −1</a:t>
            </a:r>
            <a:endParaRPr lang="en-US" sz="1300" dirty="0"/>
          </a:p>
          <a:p>
            <a:pPr algn="l" indent="0" marL="0">
              <a:lnSpc>
                <a:spcPts val="1625"/>
              </a:lnSpc>
              <a:buNone/>
            </a:pPr>
            <a:r>
              <a:rPr lang="en-US" sz="1300" b="1" dirty="0">
                <a:solidFill>
                  <a:srgbClr val="B4531E"/>
                </a:solidFill>
                <a:latin typeface="IBM Plex Sans" pitchFamily="34" charset="0"/>
                <a:ea typeface="IBM Plex Sans" pitchFamily="34" charset="-122"/>
                <a:cs typeface="IBM Plex Sans" pitchFamily="34" charset="-120"/>
              </a:rPr>
              <a:t>Rayleigh 0</a:t>
            </a:r>
            <a:endParaRPr lang="en-US" sz="1300" dirty="0"/>
          </a:p>
        </p:txBody>
      </p:sp>
      <p:sp>
        <p:nvSpPr>
          <p:cNvPr id="12" name="Text 9"/>
          <p:cNvSpPr/>
          <p:nvPr/>
        </p:nvSpPr>
        <p:spPr>
          <a:xfrm>
            <a:off x="8483600" y="1714450"/>
            <a:ext cx="1962150" cy="438150"/>
          </a:xfrm>
          <a:prstGeom prst="rect">
            <a:avLst/>
          </a:prstGeom>
          <a:noFill/>
          <a:ln/>
        </p:spPr>
        <p:txBody>
          <a:bodyPr wrap="square" lIns="0" tIns="0" rIns="0" bIns="0" rtlCol="0" anchor="t">
            <a:normAutofit/>
          </a:bodyPr>
          <a:lstStyle/>
          <a:p>
            <a:pPr algn="l" indent="0" marL="0">
              <a:lnSpc>
                <a:spcPts val="1625"/>
              </a:lnSpc>
              <a:buNone/>
            </a:pPr>
            <a:r>
              <a:rPr lang="en-US" sz="1300" dirty="0">
                <a:solidFill>
                  <a:srgbClr val="44505C"/>
                </a:solidFill>
                <a:latin typeface="IBM Plex Sans" pitchFamily="34" charset="0"/>
                <a:ea typeface="IBM Plex Sans" pitchFamily="34" charset="-122"/>
                <a:cs typeface="IBM Plex Sans" pitchFamily="34" charset="-120"/>
              </a:rPr>
              <a:t>North: </a:t>
            </a:r>
            <a:r>
              <a:rPr lang="en-US" sz="1300" b="1" dirty="0">
                <a:solidFill>
                  <a:srgbClr val="1F7A7A"/>
                </a:solidFill>
                <a:latin typeface="IBM Plex Sans" pitchFamily="34" charset="0"/>
                <a:ea typeface="IBM Plex Sans" pitchFamily="34" charset="-122"/>
                <a:cs typeface="IBM Plex Sans" pitchFamily="34" charset="-120"/>
              </a:rPr>
              <a:t>Love 0</a:t>
            </a:r>
            <a:endParaRPr lang="en-US" sz="1300" dirty="0"/>
          </a:p>
          <a:p>
            <a:pPr algn="l" indent="0" marL="0">
              <a:lnSpc>
                <a:spcPts val="1625"/>
              </a:lnSpc>
              <a:buNone/>
            </a:pPr>
            <a:r>
              <a:rPr lang="en-US" sz="1300" b="1" dirty="0">
                <a:solidFill>
                  <a:srgbClr val="B4531E"/>
                </a:solidFill>
                <a:latin typeface="IBM Plex Sans" pitchFamily="34" charset="0"/>
                <a:ea typeface="IBM Plex Sans" pitchFamily="34" charset="-122"/>
                <a:cs typeface="IBM Plex Sans" pitchFamily="34" charset="-120"/>
              </a:rPr>
              <a:t>Rayleigh −1</a:t>
            </a:r>
            <a:endParaRPr lang="en-US" sz="1300" dirty="0"/>
          </a:p>
        </p:txBody>
      </p:sp>
      <p:sp>
        <p:nvSpPr>
          <p:cNvPr id="13" name="Text 10"/>
          <p:cNvSpPr/>
          <p:nvPr/>
        </p:nvSpPr>
        <p:spPr>
          <a:xfrm>
            <a:off x="8483600" y="5308550"/>
            <a:ext cx="1962150" cy="438150"/>
          </a:xfrm>
          <a:prstGeom prst="rect">
            <a:avLst/>
          </a:prstGeom>
          <a:noFill/>
          <a:ln/>
        </p:spPr>
        <p:txBody>
          <a:bodyPr wrap="square" lIns="0" tIns="0" rIns="0" bIns="0" rtlCol="0" anchor="t">
            <a:normAutofit/>
          </a:bodyPr>
          <a:lstStyle/>
          <a:p>
            <a:pPr algn="l" indent="0" marL="0">
              <a:lnSpc>
                <a:spcPts val="1625"/>
              </a:lnSpc>
              <a:buNone/>
            </a:pPr>
            <a:r>
              <a:rPr lang="en-US" sz="1300" dirty="0">
                <a:solidFill>
                  <a:srgbClr val="44505C"/>
                </a:solidFill>
                <a:latin typeface="IBM Plex Sans" pitchFamily="34" charset="0"/>
                <a:ea typeface="IBM Plex Sans" pitchFamily="34" charset="-122"/>
                <a:cs typeface="IBM Plex Sans" pitchFamily="34" charset="-120"/>
              </a:rPr>
              <a:t>South: </a:t>
            </a:r>
            <a:r>
              <a:rPr lang="en-US" sz="1300" b="1" dirty="0">
                <a:solidFill>
                  <a:srgbClr val="1F7A7A"/>
                </a:solidFill>
                <a:latin typeface="IBM Plex Sans" pitchFamily="34" charset="0"/>
                <a:ea typeface="IBM Plex Sans" pitchFamily="34" charset="-122"/>
                <a:cs typeface="IBM Plex Sans" pitchFamily="34" charset="-120"/>
              </a:rPr>
              <a:t>Love 0</a:t>
            </a:r>
            <a:endParaRPr lang="en-US" sz="1300" dirty="0"/>
          </a:p>
          <a:p>
            <a:pPr algn="l" indent="0" marL="0">
              <a:lnSpc>
                <a:spcPts val="1625"/>
              </a:lnSpc>
              <a:buNone/>
            </a:pPr>
            <a:r>
              <a:rPr lang="en-US" sz="1300" b="1" dirty="0">
                <a:solidFill>
                  <a:srgbClr val="B4531E"/>
                </a:solidFill>
                <a:latin typeface="IBM Plex Sans" pitchFamily="34" charset="0"/>
                <a:ea typeface="IBM Plex Sans" pitchFamily="34" charset="-122"/>
                <a:cs typeface="IBM Plex Sans" pitchFamily="34" charset="-120"/>
              </a:rPr>
              <a:t>Rayleigh +1</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6F4EE"/>
        </a:solidFill>
      </p:bgPr>
    </p:bg>
    <p:spTree>
      <p:nvGrpSpPr>
        <p:cNvPr id="1" name=""/>
        <p:cNvGrpSpPr/>
        <p:nvPr/>
      </p:nvGrpSpPr>
      <p:grpSpPr>
        <a:xfrm>
          <a:off x="0" y="0"/>
          <a:ext cx="0" cy="0"/>
          <a:chOff x="0" y="0"/>
          <a:chExt cx="0" cy="0"/>
        </a:xfrm>
      </p:grpSpPr>
      <p:sp>
        <p:nvSpPr>
          <p:cNvPr id="2" name="Text 0"/>
          <p:cNvSpPr/>
          <p:nvPr/>
        </p:nvSpPr>
        <p:spPr>
          <a:xfrm>
            <a:off x="812800" y="558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F7A7A"/>
                </a:solidFill>
                <a:latin typeface="IBM Plex Sans" pitchFamily="34" charset="0"/>
                <a:ea typeface="IBM Plex Sans" pitchFamily="34" charset="-122"/>
                <a:cs typeface="IBM Plex Sans" pitchFamily="34" charset="-120"/>
              </a:rPr>
              <a:t>2 · GEOMETRY</a:t>
            </a:r>
            <a:endParaRPr lang="en-US" sz="1200" dirty="0"/>
          </a:p>
        </p:txBody>
      </p:sp>
      <p:sp>
        <p:nvSpPr>
          <p:cNvPr id="3" name="Text 1"/>
          <p:cNvSpPr/>
          <p:nvPr>
            <p:ph type="title"/>
          </p:nvPr>
        </p:nvSpPr>
        <p:spPr>
          <a:xfrm>
            <a:off x="812800" y="9499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D2B3A"/>
                </a:solidFill>
                <a:latin typeface="EB Garamond" pitchFamily="18" charset="0"/>
                <a:ea typeface="EB Garamond" pitchFamily="18" charset="-122"/>
                <a:cs typeface="EB Garamond" pitchFamily="18" charset="-120"/>
              </a:rPr>
              <a:t>Two azimuths, two pairs of unit vectors</a:t>
            </a:r>
            <a:endParaRPr lang="en-US" sz="3200" dirty="0"/>
          </a:p>
        </p:txBody>
      </p:sp>
      <p:sp>
        <p:nvSpPr>
          <p:cNvPr id="4" name="Text 2"/>
          <p:cNvSpPr/>
          <p:nvPr/>
        </p:nvSpPr>
        <p:spPr>
          <a:xfrm>
            <a:off x="812800" y="1574750"/>
            <a:ext cx="4185920"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4505C"/>
                </a:solidFill>
                <a:latin typeface="IBM Plex Sans" pitchFamily="34" charset="0"/>
                <a:ea typeface="IBM Plex Sans" pitchFamily="34" charset="-122"/>
                <a:cs typeface="IBM Plex Sans" pitchFamily="34" charset="-120"/>
              </a:rPr>
              <a:t>Code frame: </a:t>
            </a:r>
            <a:r>
              <a:rPr lang="en-US" sz="1500" b="1" dirty="0">
                <a:solidFill>
                  <a:srgbClr val="1D2B3A"/>
                </a:solidFill>
                <a:latin typeface="IBM Plex Sans" pitchFamily="34" charset="0"/>
                <a:ea typeface="IBM Plex Sans" pitchFamily="34" charset="-122"/>
                <a:cs typeface="IBM Plex Sans" pitchFamily="34" charset="-120"/>
              </a:rPr>
              <a:t>x = south</a:t>
            </a:r>
            <a:r>
              <a:rPr lang="en-US" sz="1500" dirty="0">
                <a:solidFill>
                  <a:srgbClr val="44505C"/>
                </a:solidFill>
                <a:latin typeface="IBM Plex Sans" pitchFamily="34" charset="0"/>
                <a:ea typeface="IBM Plex Sans" pitchFamily="34" charset="-122"/>
                <a:cs typeface="IBM Plex Sans" pitchFamily="34" charset="-120"/>
              </a:rPr>
              <a:t> (colatitude), </a:t>
            </a:r>
            <a:r>
              <a:rPr lang="en-US" sz="1500" b="1" dirty="0">
                <a:solidFill>
                  <a:srgbClr val="1D2B3A"/>
                </a:solidFill>
                <a:latin typeface="IBM Plex Sans" pitchFamily="34" charset="0"/>
                <a:ea typeface="IBM Plex Sans" pitchFamily="34" charset="-122"/>
                <a:cs typeface="IBM Plex Sans" pitchFamily="34" charset="-120"/>
              </a:rPr>
              <a:t>y = east</a:t>
            </a:r>
            <a:r>
              <a:rPr lang="en-US" sz="1500" dirty="0">
                <a:solidFill>
                  <a:srgbClr val="44505C"/>
                </a:solidFill>
                <a:latin typeface="IBM Plex Sans" pitchFamily="34" charset="0"/>
                <a:ea typeface="IBM Plex Sans" pitchFamily="34" charset="-122"/>
                <a:cs typeface="IBM Plex Sans" pitchFamily="34" charset="-120"/>
              </a:rPr>
              <a:t>, z = up.</a:t>
            </a:r>
            <a:endParaRPr lang="en-US" sz="1500" dirty="0"/>
          </a:p>
        </p:txBody>
      </p:sp>
      <p:sp>
        <p:nvSpPr>
          <p:cNvPr id="5" name="Text 3"/>
          <p:cNvSpPr/>
          <p:nvPr/>
        </p:nvSpPr>
        <p:spPr>
          <a:xfrm>
            <a:off x="812800" y="2247850"/>
            <a:ext cx="4185920" cy="5588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1D2B3A"/>
                </a:solidFill>
                <a:latin typeface="IBM Plex Sans" pitchFamily="34" charset="0"/>
                <a:ea typeface="IBM Plex Sans" pitchFamily="34" charset="-122"/>
                <a:cs typeface="IBM Plex Sans" pitchFamily="34" charset="-120"/>
              </a:rPr>
              <a:t>α</a:t>
            </a:r>
            <a:r>
              <a:rPr lang="en-US" sz="1500" dirty="0">
                <a:solidFill>
                  <a:srgbClr val="44505C"/>
                </a:solidFill>
                <a:latin typeface="IBM Plex Sans" pitchFamily="34" charset="0"/>
                <a:ea typeface="IBM Plex Sans" pitchFamily="34" charset="-122"/>
                <a:cs typeface="IBM Plex Sans" pitchFamily="34" charset="-120"/>
              </a:rPr>
              <a:t>: azimuth source → receiver. </a:t>
            </a:r>
            <a:r>
              <a:rPr lang="en-US" sz="1500" b="1" dirty="0">
                <a:solidFill>
                  <a:srgbClr val="1D2B3A"/>
                </a:solidFill>
                <a:latin typeface="IBM Plex Sans" pitchFamily="34" charset="0"/>
                <a:ea typeface="IBM Plex Sans" pitchFamily="34" charset="-122"/>
                <a:cs typeface="IBM Plex Sans" pitchFamily="34" charset="-120"/>
              </a:rPr>
              <a:t>β</a:t>
            </a:r>
            <a:r>
              <a:rPr lang="en-US" sz="1500" dirty="0">
                <a:solidFill>
                  <a:srgbClr val="44505C"/>
                </a:solidFill>
                <a:latin typeface="IBM Plex Sans" pitchFamily="34" charset="0"/>
                <a:ea typeface="IBM Plex Sans" pitchFamily="34" charset="-122"/>
                <a:cs typeface="IBM Plex Sans" pitchFamily="34" charset="-120"/>
              </a:rPr>
              <a:t>: azimuth receiver → source. Both clockwise from north.</a:t>
            </a:r>
            <a:endParaRPr lang="en-US" sz="1500" dirty="0"/>
          </a:p>
        </p:txBody>
      </p:sp>
      <p:sp>
        <p:nvSpPr>
          <p:cNvPr id="6" name="Text 4"/>
          <p:cNvSpPr/>
          <p:nvPr/>
        </p:nvSpPr>
        <p:spPr>
          <a:xfrm>
            <a:off x="812800" y="2920950"/>
            <a:ext cx="4185920" cy="5588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1F7A7A"/>
                </a:solidFill>
                <a:latin typeface="IBM Plex Sans" pitchFamily="34" charset="0"/>
                <a:ea typeface="IBM Plex Sans" pitchFamily="34" charset="-122"/>
                <a:cs typeface="IBM Plex Sans" pitchFamily="34" charset="-120"/>
              </a:rPr>
              <a:t>T</a:t>
            </a:r>
            <a:r>
              <a:rPr lang="en-US" sz="1500" dirty="0">
                <a:solidFill>
                  <a:srgbClr val="44505C"/>
                </a:solidFill>
                <a:latin typeface="IBM Plex Sans" pitchFamily="34" charset="0"/>
                <a:ea typeface="IBM Plex Sans" pitchFamily="34" charset="-122"/>
                <a:cs typeface="IBM Plex Sans" pitchFamily="34" charset="-120"/>
              </a:rPr>
              <a:t> is the propagation direction turned 90° clockwise; </a:t>
            </a:r>
            <a:r>
              <a:rPr lang="en-US" sz="1500" b="1" dirty="0">
                <a:solidFill>
                  <a:srgbClr val="B4531E"/>
                </a:solidFill>
                <a:latin typeface="IBM Plex Sans" pitchFamily="34" charset="0"/>
                <a:ea typeface="IBM Plex Sans" pitchFamily="34" charset="-122"/>
                <a:cs typeface="IBM Plex Sans" pitchFamily="34" charset="-120"/>
              </a:rPr>
              <a:t>R</a:t>
            </a:r>
            <a:r>
              <a:rPr lang="en-US" sz="1500" dirty="0">
                <a:solidFill>
                  <a:srgbClr val="44505C"/>
                </a:solidFill>
                <a:latin typeface="IBM Plex Sans" pitchFamily="34" charset="0"/>
                <a:ea typeface="IBM Plex Sans" pitchFamily="34" charset="-122"/>
                <a:cs typeface="IBM Plex Sans" pitchFamily="34" charset="-120"/>
              </a:rPr>
              <a:t> points along propagation.</a:t>
            </a:r>
            <a:endParaRPr lang="en-US" sz="1500" dirty="0"/>
          </a:p>
        </p:txBody>
      </p:sp>
      <p:sp>
        <p:nvSpPr>
          <p:cNvPr id="7" name="Shape 5"/>
          <p:cNvSpPr/>
          <p:nvPr/>
        </p:nvSpPr>
        <p:spPr>
          <a:xfrm>
            <a:off x="819150" y="3600400"/>
            <a:ext cx="4051300" cy="1371402"/>
          </a:xfrm>
          <a:prstGeom prst="roundRect">
            <a:avLst>
              <a:gd name="adj" fmla="val 5093"/>
            </a:avLst>
          </a:prstGeom>
          <a:solidFill>
            <a:srgbClr val="FBFAF6"/>
          </a:solidFill>
          <a:ln w="12700">
            <a:solidFill>
              <a:srgbClr val="D9D4C7"/>
            </a:solidFill>
            <a:prstDash val="solid"/>
          </a:ln>
        </p:spPr>
      </p:sp>
      <p:sp>
        <p:nvSpPr>
          <p:cNvPr id="8" name="Text 6"/>
          <p:cNvSpPr/>
          <p:nvPr/>
        </p:nvSpPr>
        <p:spPr>
          <a:xfrm>
            <a:off x="977900" y="3733750"/>
            <a:ext cx="3845814" cy="87868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D2B3A"/>
                </a:solidFill>
                <a:latin typeface="IBM Plex Mono" pitchFamily="49" charset="0"/>
                <a:ea typeface="IBM Plex Mono" pitchFamily="49" charset="-122"/>
                <a:cs typeface="IBM Plex Mono" pitchFamily="49" charset="-120"/>
              </a:rPr>
              <a:t>T src = ( sin α, cos α)</a:t>
            </a:r>
            <a:endParaRPr lang="en-US" sz="1200" dirty="0"/>
          </a:p>
          <a:p>
            <a:pPr algn="l" indent="0" marL="0">
              <a:lnSpc>
                <a:spcPts val="1680"/>
              </a:lnSpc>
              <a:buNone/>
            </a:pPr>
            <a:r>
              <a:rPr lang="en-US" sz="1200" dirty="0">
                <a:solidFill>
                  <a:srgbClr val="1D2B3A"/>
                </a:solidFill>
                <a:latin typeface="IBM Plex Mono" pitchFamily="49" charset="0"/>
                <a:ea typeface="IBM Plex Mono" pitchFamily="49" charset="-122"/>
                <a:cs typeface="IBM Plex Mono" pitchFamily="49" charset="-120"/>
              </a:rPr>
              <a:t>R src = (−cos α, sin α)</a:t>
            </a:r>
            <a:endParaRPr lang="en-US" sz="1200" dirty="0"/>
          </a:p>
          <a:p>
            <a:pPr algn="l" indent="0" marL="0">
              <a:lnSpc>
                <a:spcPts val="1680"/>
              </a:lnSpc>
              <a:buNone/>
            </a:pPr>
            <a:r>
              <a:rPr lang="en-US" sz="1200" dirty="0">
                <a:solidFill>
                  <a:srgbClr val="1D2B3A"/>
                </a:solidFill>
                <a:latin typeface="IBM Plex Mono" pitchFamily="49" charset="0"/>
                <a:ea typeface="IBM Plex Mono" pitchFamily="49" charset="-122"/>
                <a:cs typeface="IBM Plex Mono" pitchFamily="49" charset="-120"/>
              </a:rPr>
              <a:t>T rcv = (−sin β, −cos β)</a:t>
            </a:r>
            <a:endParaRPr lang="en-US" sz="1200" dirty="0"/>
          </a:p>
          <a:p>
            <a:pPr algn="l" indent="0" marL="0">
              <a:lnSpc>
                <a:spcPts val="1680"/>
              </a:lnSpc>
              <a:buNone/>
            </a:pPr>
            <a:r>
              <a:rPr lang="en-US" sz="1200" dirty="0">
                <a:solidFill>
                  <a:srgbClr val="1D2B3A"/>
                </a:solidFill>
                <a:latin typeface="IBM Plex Mono" pitchFamily="49" charset="0"/>
                <a:ea typeface="IBM Plex Mono" pitchFamily="49" charset="-122"/>
                <a:cs typeface="IBM Plex Mono" pitchFamily="49" charset="-120"/>
              </a:rPr>
              <a:t>R rcv = ( cos β, −sin β)</a:t>
            </a:r>
            <a:endParaRPr lang="en-US" sz="1200" dirty="0"/>
          </a:p>
        </p:txBody>
      </p:sp>
      <p:sp>
        <p:nvSpPr>
          <p:cNvPr id="9" name="Text 7"/>
          <p:cNvSpPr/>
          <p:nvPr/>
        </p:nvSpPr>
        <p:spPr>
          <a:xfrm>
            <a:off x="977900" y="4625132"/>
            <a:ext cx="384581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C"/>
                </a:solidFill>
                <a:latin typeface="IBM Plex Sans" pitchFamily="34" charset="0"/>
                <a:ea typeface="IBM Plex Sans" pitchFamily="34" charset="-122"/>
                <a:cs typeface="IBM Plex Sans" pitchFamily="34" charset="-120"/>
              </a:rPr>
              <a:t>components in (x, y)</a:t>
            </a:r>
            <a:endParaRPr lang="en-US" sz="1200" dirty="0"/>
          </a:p>
        </p:txBody>
      </p:sp>
      <p:pic>
        <p:nvPicPr>
          <p:cNvPr id="10" name="Image 0" descr="Map view with source and receiver, azimuths alpha and beta, and T and R unit vectors at both ends">    </p:cNvPr>
          <p:cNvPicPr>
            <a:picLocks noChangeAspect="1"/>
          </p:cNvPicPr>
          <p:nvPr/>
        </p:nvPicPr>
        <p:blipFill>
          <a:blip r:embed="rId1"/>
          <a:srcRect l="0" r="0" t="0" b="0"/>
          <a:stretch/>
        </p:blipFill>
        <p:spPr>
          <a:xfrm>
            <a:off x="5283200" y="1574750"/>
            <a:ext cx="6096000" cy="4445000"/>
          </a:xfrm>
          <a:prstGeom prst="rect">
            <a:avLst/>
          </a:prstGeom>
        </p:spPr>
      </p:pic>
      <p:sp>
        <p:nvSpPr>
          <p:cNvPr id="11" name="Text 8"/>
          <p:cNvSpPr/>
          <p:nvPr/>
        </p:nvSpPr>
        <p:spPr>
          <a:xfrm>
            <a:off x="6426200" y="1854150"/>
            <a:ext cx="1066800"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1D2B3A"/>
                </a:solidFill>
                <a:latin typeface="IBM Plex Sans" pitchFamily="34" charset="0"/>
                <a:ea typeface="IBM Plex Sans" pitchFamily="34" charset="-122"/>
                <a:cs typeface="IBM Plex Sans" pitchFamily="34" charset="-120"/>
              </a:rPr>
              <a:t>y (east)</a:t>
            </a:r>
            <a:endParaRPr lang="en-US" sz="1200" dirty="0"/>
          </a:p>
        </p:txBody>
      </p:sp>
      <p:sp>
        <p:nvSpPr>
          <p:cNvPr id="12" name="Text 9"/>
          <p:cNvSpPr/>
          <p:nvPr/>
        </p:nvSpPr>
        <p:spPr>
          <a:xfrm>
            <a:off x="5765800" y="2527250"/>
            <a:ext cx="1193800"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1D2B3A"/>
                </a:solidFill>
                <a:latin typeface="IBM Plex Sans" pitchFamily="34" charset="0"/>
                <a:ea typeface="IBM Plex Sans" pitchFamily="34" charset="-122"/>
                <a:cs typeface="IBM Plex Sans" pitchFamily="34" charset="-120"/>
              </a:rPr>
              <a:t>x (south)</a:t>
            </a:r>
            <a:endParaRPr lang="en-US" sz="1200" dirty="0"/>
          </a:p>
        </p:txBody>
      </p:sp>
      <p:sp>
        <p:nvSpPr>
          <p:cNvPr id="13" name="Text 10"/>
          <p:cNvSpPr/>
          <p:nvPr/>
        </p:nvSpPr>
        <p:spPr>
          <a:xfrm>
            <a:off x="5537200" y="5143450"/>
            <a:ext cx="939800" cy="231775"/>
          </a:xfrm>
          <a:prstGeom prst="rect">
            <a:avLst/>
          </a:prstGeom>
          <a:noFill/>
          <a:ln/>
        </p:spPr>
        <p:txBody>
          <a:bodyPr wrap="square" lIns="0" tIns="0" rIns="0" bIns="0" rtlCol="0" anchor="t">
            <a:normAutofit/>
          </a:bodyPr>
          <a:lstStyle/>
          <a:p>
            <a:pPr algn="l" indent="0" marL="0">
              <a:lnSpc>
                <a:spcPts val="1625"/>
              </a:lnSpc>
              <a:buNone/>
            </a:pPr>
            <a:r>
              <a:rPr lang="en-US" sz="1300" b="1" dirty="0">
                <a:solidFill>
                  <a:srgbClr val="1D2B3A"/>
                </a:solidFill>
                <a:latin typeface="IBM Plex Sans" pitchFamily="34" charset="0"/>
                <a:ea typeface="IBM Plex Sans" pitchFamily="34" charset="-122"/>
                <a:cs typeface="IBM Plex Sans" pitchFamily="34" charset="-120"/>
              </a:rPr>
              <a:t>source</a:t>
            </a:r>
            <a:endParaRPr lang="en-US" sz="1300" dirty="0"/>
          </a:p>
        </p:txBody>
      </p:sp>
      <p:sp>
        <p:nvSpPr>
          <p:cNvPr id="14" name="Text 11"/>
          <p:cNvSpPr/>
          <p:nvPr/>
        </p:nvSpPr>
        <p:spPr>
          <a:xfrm>
            <a:off x="9061252" y="3365450"/>
            <a:ext cx="1003300" cy="231775"/>
          </a:xfrm>
          <a:prstGeom prst="rect">
            <a:avLst/>
          </a:prstGeom>
          <a:noFill/>
          <a:ln/>
        </p:spPr>
        <p:txBody>
          <a:bodyPr wrap="square" lIns="0" tIns="0" rIns="0" bIns="0" rtlCol="0" anchor="t">
            <a:normAutofit/>
          </a:bodyPr>
          <a:lstStyle/>
          <a:p>
            <a:pPr algn="l" indent="0" marL="0">
              <a:lnSpc>
                <a:spcPts val="1625"/>
              </a:lnSpc>
              <a:buNone/>
            </a:pPr>
            <a:r>
              <a:rPr lang="en-US" sz="1300" b="1" dirty="0">
                <a:solidFill>
                  <a:srgbClr val="1D2B3A"/>
                </a:solidFill>
                <a:latin typeface="IBM Plex Sans" pitchFamily="34" charset="0"/>
                <a:ea typeface="IBM Plex Sans" pitchFamily="34" charset="-122"/>
                <a:cs typeface="IBM Plex Sans" pitchFamily="34" charset="-120"/>
              </a:rPr>
              <a:t>receiver</a:t>
            </a:r>
            <a:endParaRPr lang="en-US" sz="1300" dirty="0"/>
          </a:p>
        </p:txBody>
      </p:sp>
      <p:sp>
        <p:nvSpPr>
          <p:cNvPr id="15" name="Text 12"/>
          <p:cNvSpPr/>
          <p:nvPr/>
        </p:nvSpPr>
        <p:spPr>
          <a:xfrm>
            <a:off x="6502400" y="3797250"/>
            <a:ext cx="304800" cy="263525"/>
          </a:xfrm>
          <a:prstGeom prst="rect">
            <a:avLst/>
          </a:prstGeom>
          <a:noFill/>
          <a:ln/>
        </p:spPr>
        <p:txBody>
          <a:bodyPr wrap="square" lIns="0" tIns="0" rIns="0" bIns="0" rtlCol="0" anchor="t">
            <a:normAutofit/>
          </a:bodyPr>
          <a:lstStyle/>
          <a:p>
            <a:pPr algn="l" indent="0" marL="0">
              <a:lnSpc>
                <a:spcPts val="1875"/>
              </a:lnSpc>
              <a:buNone/>
            </a:pPr>
            <a:r>
              <a:rPr lang="en-US" sz="1500" b="1" dirty="0">
                <a:solidFill>
                  <a:srgbClr val="1D2B3A"/>
                </a:solidFill>
                <a:latin typeface="IBM Plex Sans" pitchFamily="34" charset="0"/>
                <a:ea typeface="IBM Plex Sans" pitchFamily="34" charset="-122"/>
                <a:cs typeface="IBM Plex Sans" pitchFamily="34" charset="-120"/>
              </a:rPr>
              <a:t>α</a:t>
            </a:r>
            <a:endParaRPr lang="en-US" sz="1500" dirty="0"/>
          </a:p>
        </p:txBody>
      </p:sp>
      <p:sp>
        <p:nvSpPr>
          <p:cNvPr id="16" name="Text 13"/>
          <p:cNvSpPr/>
          <p:nvPr/>
        </p:nvSpPr>
        <p:spPr>
          <a:xfrm>
            <a:off x="9581952" y="2273250"/>
            <a:ext cx="304800" cy="263525"/>
          </a:xfrm>
          <a:prstGeom prst="rect">
            <a:avLst/>
          </a:prstGeom>
          <a:noFill/>
          <a:ln/>
        </p:spPr>
        <p:txBody>
          <a:bodyPr wrap="square" lIns="0" tIns="0" rIns="0" bIns="0" rtlCol="0" anchor="t">
            <a:normAutofit/>
          </a:bodyPr>
          <a:lstStyle/>
          <a:p>
            <a:pPr algn="l" indent="0" marL="0">
              <a:lnSpc>
                <a:spcPts val="1875"/>
              </a:lnSpc>
              <a:buNone/>
            </a:pPr>
            <a:r>
              <a:rPr lang="en-US" sz="1500" b="1" dirty="0">
                <a:solidFill>
                  <a:srgbClr val="1D2B3A"/>
                </a:solidFill>
                <a:latin typeface="IBM Plex Sans" pitchFamily="34" charset="0"/>
                <a:ea typeface="IBM Plex Sans" pitchFamily="34" charset="-122"/>
                <a:cs typeface="IBM Plex Sans" pitchFamily="34" charset="-120"/>
              </a:rPr>
              <a:t>β</a:t>
            </a:r>
            <a:endParaRPr lang="en-US" sz="1500" dirty="0"/>
          </a:p>
        </p:txBody>
      </p:sp>
      <p:sp>
        <p:nvSpPr>
          <p:cNvPr id="17" name="Text 14"/>
          <p:cNvSpPr/>
          <p:nvPr/>
        </p:nvSpPr>
        <p:spPr>
          <a:xfrm>
            <a:off x="6807200" y="5934422"/>
            <a:ext cx="1320800" cy="215900"/>
          </a:xfrm>
          <a:prstGeom prst="rect">
            <a:avLst/>
          </a:prstGeom>
          <a:noFill/>
          <a:ln/>
        </p:spPr>
        <p:txBody>
          <a:bodyPr wrap="square" lIns="0" tIns="0" rIns="0" bIns="0" rtlCol="0" anchor="t">
            <a:normAutofit/>
          </a:bodyPr>
          <a:lstStyle/>
          <a:p>
            <a:pPr algn="l" indent="0" marL="0">
              <a:lnSpc>
                <a:spcPts val="1500"/>
              </a:lnSpc>
              <a:buNone/>
            </a:pPr>
            <a:r>
              <a:rPr lang="en-US" sz="1200" b="1" dirty="0">
                <a:solidFill>
                  <a:srgbClr val="1F7A7A"/>
                </a:solidFill>
                <a:latin typeface="IBM Plex Sans" pitchFamily="34" charset="0"/>
                <a:ea typeface="IBM Plex Sans" pitchFamily="34" charset="-122"/>
                <a:cs typeface="IBM Plex Sans" pitchFamily="34" charset="-120"/>
              </a:rPr>
              <a:t>T at source</a:t>
            </a:r>
            <a:endParaRPr lang="en-US" sz="1200" dirty="0"/>
          </a:p>
        </p:txBody>
      </p:sp>
      <p:sp>
        <p:nvSpPr>
          <p:cNvPr id="18" name="Text 15"/>
          <p:cNvSpPr/>
          <p:nvPr/>
        </p:nvSpPr>
        <p:spPr>
          <a:xfrm>
            <a:off x="7293372" y="4279850"/>
            <a:ext cx="1320800" cy="215900"/>
          </a:xfrm>
          <a:prstGeom prst="rect">
            <a:avLst/>
          </a:prstGeom>
          <a:noFill/>
          <a:ln/>
        </p:spPr>
        <p:txBody>
          <a:bodyPr wrap="square" lIns="0" tIns="0" rIns="0" bIns="0" rtlCol="0" anchor="t">
            <a:normAutofit/>
          </a:bodyPr>
          <a:lstStyle/>
          <a:p>
            <a:pPr algn="l" indent="0" marL="0">
              <a:lnSpc>
                <a:spcPts val="1500"/>
              </a:lnSpc>
              <a:buNone/>
            </a:pPr>
            <a:r>
              <a:rPr lang="en-US" sz="1200" b="1" dirty="0">
                <a:solidFill>
                  <a:srgbClr val="B4531E"/>
                </a:solidFill>
                <a:latin typeface="IBM Plex Sans" pitchFamily="34" charset="0"/>
                <a:ea typeface="IBM Plex Sans" pitchFamily="34" charset="-122"/>
                <a:cs typeface="IBM Plex Sans" pitchFamily="34" charset="-120"/>
              </a:rPr>
              <a:t>R at source</a:t>
            </a:r>
            <a:endParaRPr lang="en-US" sz="1200" dirty="0"/>
          </a:p>
        </p:txBody>
      </p:sp>
      <p:sp>
        <p:nvSpPr>
          <p:cNvPr id="19" name="Text 16"/>
          <p:cNvSpPr/>
          <p:nvPr/>
        </p:nvSpPr>
        <p:spPr>
          <a:xfrm>
            <a:off x="9886752" y="4156422"/>
            <a:ext cx="1447800" cy="215900"/>
          </a:xfrm>
          <a:prstGeom prst="rect">
            <a:avLst/>
          </a:prstGeom>
          <a:noFill/>
          <a:ln/>
        </p:spPr>
        <p:txBody>
          <a:bodyPr wrap="square" lIns="0" tIns="0" rIns="0" bIns="0" rtlCol="0" anchor="t">
            <a:normAutofit/>
          </a:bodyPr>
          <a:lstStyle/>
          <a:p>
            <a:pPr algn="l" indent="0" marL="0">
              <a:lnSpc>
                <a:spcPts val="1500"/>
              </a:lnSpc>
              <a:buNone/>
            </a:pPr>
            <a:r>
              <a:rPr lang="en-US" sz="1200" b="1" dirty="0">
                <a:solidFill>
                  <a:srgbClr val="1F7A7A"/>
                </a:solidFill>
                <a:latin typeface="IBM Plex Sans" pitchFamily="34" charset="0"/>
                <a:ea typeface="IBM Plex Sans" pitchFamily="34" charset="-122"/>
                <a:cs typeface="IBM Plex Sans" pitchFamily="34" charset="-120"/>
              </a:rPr>
              <a:t>T at receiver</a:t>
            </a:r>
            <a:endParaRPr lang="en-US" sz="1200" dirty="0"/>
          </a:p>
        </p:txBody>
      </p:sp>
      <p:sp>
        <p:nvSpPr>
          <p:cNvPr id="20" name="Text 17"/>
          <p:cNvSpPr/>
          <p:nvPr/>
        </p:nvSpPr>
        <p:spPr>
          <a:xfrm>
            <a:off x="10372923" y="2501850"/>
            <a:ext cx="1447800" cy="215900"/>
          </a:xfrm>
          <a:prstGeom prst="rect">
            <a:avLst/>
          </a:prstGeom>
          <a:noFill/>
          <a:ln/>
        </p:spPr>
        <p:txBody>
          <a:bodyPr wrap="square" lIns="0" tIns="0" rIns="0" bIns="0" rtlCol="0" anchor="t">
            <a:normAutofit/>
          </a:bodyPr>
          <a:lstStyle/>
          <a:p>
            <a:pPr algn="l" indent="0" marL="0">
              <a:lnSpc>
                <a:spcPts val="1500"/>
              </a:lnSpc>
              <a:buNone/>
            </a:pPr>
            <a:r>
              <a:rPr lang="en-US" sz="1200" b="1" dirty="0">
                <a:solidFill>
                  <a:srgbClr val="B4531E"/>
                </a:solidFill>
                <a:latin typeface="IBM Plex Sans" pitchFamily="34" charset="0"/>
                <a:ea typeface="IBM Plex Sans" pitchFamily="34" charset="-122"/>
                <a:cs typeface="IBM Plex Sans" pitchFamily="34" charset="-120"/>
              </a:rPr>
              <a:t>R at receiver</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6F4EE"/>
        </a:solidFill>
      </p:bgPr>
    </p:bg>
    <p:spTree>
      <p:nvGrpSpPr>
        <p:cNvPr id="1" name=""/>
        <p:cNvGrpSpPr/>
        <p:nvPr/>
      </p:nvGrpSpPr>
      <p:grpSpPr>
        <a:xfrm>
          <a:off x="0" y="0"/>
          <a:ext cx="0" cy="0"/>
          <a:chOff x="0" y="0"/>
          <a:chExt cx="0" cy="0"/>
        </a:xfrm>
      </p:grpSpPr>
      <p:sp>
        <p:nvSpPr>
          <p:cNvPr id="2" name="Text 0"/>
          <p:cNvSpPr/>
          <p:nvPr/>
        </p:nvSpPr>
        <p:spPr>
          <a:xfrm>
            <a:off x="812800" y="558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F7A7A"/>
                </a:solidFill>
                <a:latin typeface="IBM Plex Sans" pitchFamily="34" charset="0"/>
                <a:ea typeface="IBM Plex Sans" pitchFamily="34" charset="-122"/>
                <a:cs typeface="IBM Plex Sans" pitchFamily="34" charset="-120"/>
              </a:rPr>
              <a:t>3 · SOURCE SIDE</a:t>
            </a:r>
            <a:endParaRPr lang="en-US" sz="1200" dirty="0"/>
          </a:p>
        </p:txBody>
      </p:sp>
      <p:sp>
        <p:nvSpPr>
          <p:cNvPr id="3" name="Text 1"/>
          <p:cNvSpPr/>
          <p:nvPr>
            <p:ph type="title"/>
          </p:nvPr>
        </p:nvSpPr>
        <p:spPr>
          <a:xfrm>
            <a:off x="812800" y="9499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D2B3A"/>
                </a:solidFill>
                <a:latin typeface="EB Garamond" pitchFamily="18" charset="0"/>
                <a:ea typeface="EB Garamond" pitchFamily="18" charset="-122"/>
                <a:cs typeface="EB Garamond" pitchFamily="18" charset="-120"/>
              </a:rPr>
              <a:t>Source-side rotation: build a force along T from fx and fy</a:t>
            </a:r>
            <a:endParaRPr lang="en-US" sz="3200" dirty="0"/>
          </a:p>
        </p:txBody>
      </p:sp>
      <p:sp>
        <p:nvSpPr>
          <p:cNvPr id="4" name="Text 2"/>
          <p:cNvSpPr/>
          <p:nvPr/>
        </p:nvSpPr>
        <p:spPr>
          <a:xfrm>
            <a:off x="812800" y="1574750"/>
            <a:ext cx="4185920"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4505C"/>
                </a:solidFill>
                <a:latin typeface="IBM Plex Sans" pitchFamily="34" charset="0"/>
                <a:ea typeface="IBM Plex Sans" pitchFamily="34" charset="-122"/>
                <a:cs typeface="IBM Plex Sans" pitchFamily="34" charset="-120"/>
              </a:rPr>
              <a:t>The wavefield is </a:t>
            </a:r>
            <a:r>
              <a:rPr lang="en-US" sz="1500" b="1" dirty="0">
                <a:solidFill>
                  <a:srgbClr val="1D2B3A"/>
                </a:solidFill>
                <a:latin typeface="IBM Plex Sans" pitchFamily="34" charset="0"/>
                <a:ea typeface="IBM Plex Sans" pitchFamily="34" charset="-122"/>
                <a:cs typeface="IBM Plex Sans" pitchFamily="34" charset="-120"/>
              </a:rPr>
              <a:t>linear</a:t>
            </a:r>
            <a:r>
              <a:rPr lang="en-US" sz="1500" dirty="0">
                <a:solidFill>
                  <a:srgbClr val="44505C"/>
                </a:solidFill>
                <a:latin typeface="IBM Plex Sans" pitchFamily="34" charset="0"/>
                <a:ea typeface="IBM Plex Sans" pitchFamily="34" charset="-122"/>
                <a:cs typeface="IBM Plex Sans" pitchFamily="34" charset="-120"/>
              </a:rPr>
              <a:t> in the force: u = Fx · u(fx) + Fy · u(fy).</a:t>
            </a:r>
            <a:endParaRPr lang="en-US" sz="1500" dirty="0"/>
          </a:p>
        </p:txBody>
      </p:sp>
      <p:sp>
        <p:nvSpPr>
          <p:cNvPr id="5" name="Text 3"/>
          <p:cNvSpPr/>
          <p:nvPr/>
        </p:nvSpPr>
        <p:spPr>
          <a:xfrm>
            <a:off x="812800" y="2247850"/>
            <a:ext cx="4185920"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4505C"/>
                </a:solidFill>
                <a:latin typeface="IBM Plex Sans" pitchFamily="34" charset="0"/>
                <a:ea typeface="IBM Plex Sans" pitchFamily="34" charset="-122"/>
                <a:cs typeface="IBM Plex Sans" pitchFamily="34" charset="-120"/>
              </a:rPr>
              <a:t>A force along </a:t>
            </a:r>
            <a:r>
              <a:rPr lang="en-US" sz="1500" b="1" dirty="0">
                <a:solidFill>
                  <a:srgbClr val="1F7A7A"/>
                </a:solidFill>
                <a:latin typeface="IBM Plex Sans" pitchFamily="34" charset="0"/>
                <a:ea typeface="IBM Plex Sans" pitchFamily="34" charset="-122"/>
                <a:cs typeface="IBM Plex Sans" pitchFamily="34" charset="-120"/>
              </a:rPr>
              <a:t>T</a:t>
            </a:r>
            <a:r>
              <a:rPr lang="en-US" sz="1500" dirty="0">
                <a:solidFill>
                  <a:srgbClr val="44505C"/>
                </a:solidFill>
                <a:latin typeface="IBM Plex Sans" pitchFamily="34" charset="0"/>
                <a:ea typeface="IBM Plex Sans" pitchFamily="34" charset="-122"/>
                <a:cs typeface="IBM Plex Sans" pitchFamily="34" charset="-120"/>
              </a:rPr>
              <a:t> has (Fx, Fy) = (sin α, cos α), so </a:t>
            </a:r>
            <a:r>
              <a:rPr lang="en-US" sz="1500" b="1" dirty="0">
                <a:solidFill>
                  <a:srgbClr val="1F7A7A"/>
                </a:solidFill>
                <a:latin typeface="IBM Plex Sans" pitchFamily="34" charset="0"/>
                <a:ea typeface="IBM Plex Sans" pitchFamily="34" charset="-122"/>
                <a:cs typeface="IBM Plex Sans" pitchFamily="34" charset="-120"/>
              </a:rPr>
              <a:t>u(T) = sin α · u(fx) + cos α · u(fy)</a:t>
            </a:r>
            <a:endParaRPr lang="en-US" sz="1500" dirty="0"/>
          </a:p>
        </p:txBody>
      </p:sp>
      <p:sp>
        <p:nvSpPr>
          <p:cNvPr id="6" name="Text 4"/>
          <p:cNvSpPr/>
          <p:nvPr/>
        </p:nvSpPr>
        <p:spPr>
          <a:xfrm>
            <a:off x="812800" y="2920950"/>
            <a:ext cx="4185920"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4505C"/>
                </a:solidFill>
                <a:latin typeface="IBM Plex Sans" pitchFamily="34" charset="0"/>
                <a:ea typeface="IBM Plex Sans" pitchFamily="34" charset="-122"/>
                <a:cs typeface="IBM Plex Sans" pitchFamily="34" charset="-120"/>
              </a:rPr>
              <a:t>A force along </a:t>
            </a:r>
            <a:r>
              <a:rPr lang="en-US" sz="1500" b="1" dirty="0">
                <a:solidFill>
                  <a:srgbClr val="B4531E"/>
                </a:solidFill>
                <a:latin typeface="IBM Plex Sans" pitchFamily="34" charset="0"/>
                <a:ea typeface="IBM Plex Sans" pitchFamily="34" charset="-122"/>
                <a:cs typeface="IBM Plex Sans" pitchFamily="34" charset="-120"/>
              </a:rPr>
              <a:t>R</a:t>
            </a:r>
            <a:r>
              <a:rPr lang="en-US" sz="1500" dirty="0">
                <a:solidFill>
                  <a:srgbClr val="44505C"/>
                </a:solidFill>
                <a:latin typeface="IBM Plex Sans" pitchFamily="34" charset="0"/>
                <a:ea typeface="IBM Plex Sans" pitchFamily="34" charset="-122"/>
                <a:cs typeface="IBM Plex Sans" pitchFamily="34" charset="-120"/>
              </a:rPr>
              <a:t> has (−cos α, sin α), so </a:t>
            </a:r>
            <a:r>
              <a:rPr lang="en-US" sz="1500" b="1" dirty="0">
                <a:solidFill>
                  <a:srgbClr val="B4531E"/>
                </a:solidFill>
                <a:latin typeface="IBM Plex Sans" pitchFamily="34" charset="0"/>
                <a:ea typeface="IBM Plex Sans" pitchFamily="34" charset="-122"/>
                <a:cs typeface="IBM Plex Sans" pitchFamily="34" charset="-120"/>
              </a:rPr>
              <a:t>u(R) = −cos α · u(fx) + sin α · u(fy)</a:t>
            </a:r>
            <a:endParaRPr lang="en-US" sz="1500" dirty="0"/>
          </a:p>
        </p:txBody>
      </p:sp>
      <p:sp>
        <p:nvSpPr>
          <p:cNvPr id="7" name="Text 5"/>
          <p:cNvSpPr/>
          <p:nvPr/>
        </p:nvSpPr>
        <p:spPr>
          <a:xfrm>
            <a:off x="812800" y="3594050"/>
            <a:ext cx="4185920" cy="8255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4505C"/>
                </a:solidFill>
                <a:latin typeface="IBM Plex Sans" pitchFamily="34" charset="0"/>
                <a:ea typeface="IBM Plex Sans" pitchFamily="34" charset="-122"/>
                <a:cs typeface="IBM Plex Sans" pitchFamily="34" charset="-120"/>
              </a:rPr>
              <a:t>No new simulation: this is a weighted sum of the two stored wavefields, with </a:t>
            </a:r>
            <a:r>
              <a:rPr lang="en-US" sz="1500" b="1" dirty="0">
                <a:solidFill>
                  <a:srgbClr val="1D2B3A"/>
                </a:solidFill>
                <a:latin typeface="IBM Plex Sans" pitchFamily="34" charset="0"/>
                <a:ea typeface="IBM Plex Sans" pitchFamily="34" charset="-122"/>
                <a:cs typeface="IBM Plex Sans" pitchFamily="34" charset="-120"/>
              </a:rPr>
              <a:t>a different α for every receiver</a:t>
            </a:r>
            <a:r>
              <a:rPr lang="en-US" sz="1500" dirty="0">
                <a:solidFill>
                  <a:srgbClr val="44505C"/>
                </a:solidFill>
                <a:latin typeface="IBM Plex Sans" pitchFamily="34" charset="0"/>
                <a:ea typeface="IBM Plex Sans" pitchFamily="34" charset="-122"/>
                <a:cs typeface="IBM Plex Sans" pitchFamily="34" charset="-120"/>
              </a:rPr>
              <a:t>.</a:t>
            </a:r>
            <a:endParaRPr lang="en-US" sz="1500" dirty="0"/>
          </a:p>
        </p:txBody>
      </p:sp>
      <p:pic>
        <p:nvPicPr>
          <p:cNvPr id="8" name="Image 0" descr="Force along T built from the fx and fy runs with weights sin alpha and cos alpha; force along R built the same way">    </p:cNvPr>
          <p:cNvPicPr>
            <a:picLocks noChangeAspect="1"/>
          </p:cNvPicPr>
          <p:nvPr/>
        </p:nvPicPr>
        <p:blipFill>
          <a:blip r:embed="rId1"/>
          <a:srcRect l="0" r="0" t="0" b="0"/>
          <a:stretch/>
        </p:blipFill>
        <p:spPr>
          <a:xfrm>
            <a:off x="5283200" y="1574750"/>
            <a:ext cx="6096000" cy="4445000"/>
          </a:xfrm>
          <a:prstGeom prst="rect">
            <a:avLst/>
          </a:prstGeom>
        </p:spPr>
      </p:pic>
      <p:sp>
        <p:nvSpPr>
          <p:cNvPr id="9" name="Text 6"/>
          <p:cNvSpPr/>
          <p:nvPr/>
        </p:nvSpPr>
        <p:spPr>
          <a:xfrm>
            <a:off x="6553200" y="2768550"/>
            <a:ext cx="1701800" cy="231775"/>
          </a:xfrm>
          <a:prstGeom prst="rect">
            <a:avLst/>
          </a:prstGeom>
          <a:noFill/>
          <a:ln/>
        </p:spPr>
        <p:txBody>
          <a:bodyPr wrap="square" lIns="0" tIns="0" rIns="0" bIns="0" rtlCol="0" anchor="t">
            <a:normAutofit/>
          </a:bodyPr>
          <a:lstStyle/>
          <a:p>
            <a:pPr algn="l" indent="0" marL="0">
              <a:lnSpc>
                <a:spcPts val="1625"/>
              </a:lnSpc>
              <a:buNone/>
            </a:pPr>
            <a:r>
              <a:rPr lang="en-US" sz="1300" b="1" dirty="0">
                <a:solidFill>
                  <a:srgbClr val="44505C"/>
                </a:solidFill>
                <a:latin typeface="IBM Plex Sans" pitchFamily="34" charset="0"/>
                <a:ea typeface="IBM Plex Sans" pitchFamily="34" charset="-122"/>
                <a:cs typeface="IBM Plex Sans" pitchFamily="34" charset="-120"/>
              </a:rPr>
              <a:t>cos α · fy</a:t>
            </a:r>
            <a:endParaRPr lang="en-US" sz="1300" dirty="0"/>
          </a:p>
        </p:txBody>
      </p:sp>
      <p:sp>
        <p:nvSpPr>
          <p:cNvPr id="10" name="Text 7"/>
          <p:cNvSpPr/>
          <p:nvPr/>
        </p:nvSpPr>
        <p:spPr>
          <a:xfrm>
            <a:off x="5295900" y="4135090"/>
            <a:ext cx="1130300" cy="231775"/>
          </a:xfrm>
          <a:prstGeom prst="rect">
            <a:avLst/>
          </a:prstGeom>
          <a:noFill/>
          <a:ln/>
        </p:spPr>
        <p:txBody>
          <a:bodyPr wrap="square" lIns="0" tIns="0" rIns="0" bIns="0" rtlCol="0" anchor="t">
            <a:normAutofit/>
          </a:bodyPr>
          <a:lstStyle/>
          <a:p>
            <a:pPr algn="r" indent="0" marL="0">
              <a:lnSpc>
                <a:spcPts val="1625"/>
              </a:lnSpc>
              <a:buNone/>
            </a:pPr>
            <a:r>
              <a:rPr lang="en-US" sz="1300" b="1" dirty="0">
                <a:solidFill>
                  <a:srgbClr val="44505C"/>
                </a:solidFill>
                <a:latin typeface="IBM Plex Sans" pitchFamily="34" charset="0"/>
                <a:ea typeface="IBM Plex Sans" pitchFamily="34" charset="-122"/>
                <a:cs typeface="IBM Plex Sans" pitchFamily="34" charset="-120"/>
              </a:rPr>
              <a:t>sin α · fx</a:t>
            </a:r>
            <a:endParaRPr lang="en-US" sz="1300" dirty="0"/>
          </a:p>
        </p:txBody>
      </p:sp>
      <p:sp>
        <p:nvSpPr>
          <p:cNvPr id="11" name="Text 8"/>
          <p:cNvSpPr/>
          <p:nvPr/>
        </p:nvSpPr>
        <p:spPr>
          <a:xfrm>
            <a:off x="7950200" y="5298430"/>
            <a:ext cx="1962150" cy="247650"/>
          </a:xfrm>
          <a:prstGeom prst="rect">
            <a:avLst/>
          </a:prstGeom>
          <a:noFill/>
          <a:ln/>
        </p:spPr>
        <p:txBody>
          <a:bodyPr wrap="square" lIns="0" tIns="0" rIns="0" bIns="0" rtlCol="0" anchor="t">
            <a:normAutofit/>
          </a:bodyPr>
          <a:lstStyle/>
          <a:p>
            <a:pPr algn="l" indent="0" marL="0">
              <a:lnSpc>
                <a:spcPts val="1750"/>
              </a:lnSpc>
              <a:buNone/>
            </a:pPr>
            <a:r>
              <a:rPr lang="en-US" sz="1400" b="1" dirty="0">
                <a:solidFill>
                  <a:srgbClr val="1F7A7A"/>
                </a:solidFill>
                <a:latin typeface="IBM Plex Sans" pitchFamily="34" charset="0"/>
                <a:ea typeface="IBM Plex Sans" pitchFamily="34" charset="-122"/>
                <a:cs typeface="IBM Plex Sans" pitchFamily="34" charset="-120"/>
              </a:rPr>
              <a:t>force along T</a:t>
            </a:r>
            <a:endParaRPr lang="en-US" sz="1400" dirty="0"/>
          </a:p>
        </p:txBody>
      </p:sp>
      <p:sp>
        <p:nvSpPr>
          <p:cNvPr id="12" name="Text 9"/>
          <p:cNvSpPr/>
          <p:nvPr/>
        </p:nvSpPr>
        <p:spPr>
          <a:xfrm>
            <a:off x="8854480" y="1828750"/>
            <a:ext cx="1962150" cy="247650"/>
          </a:xfrm>
          <a:prstGeom prst="rect">
            <a:avLst/>
          </a:prstGeom>
          <a:noFill/>
          <a:ln/>
        </p:spPr>
        <p:txBody>
          <a:bodyPr wrap="square" lIns="0" tIns="0" rIns="0" bIns="0" rtlCol="0" anchor="t">
            <a:normAutofit/>
          </a:bodyPr>
          <a:lstStyle/>
          <a:p>
            <a:pPr algn="l" indent="0" marL="0">
              <a:lnSpc>
                <a:spcPts val="1750"/>
              </a:lnSpc>
              <a:buNone/>
            </a:pPr>
            <a:r>
              <a:rPr lang="en-US" sz="1400" b="1" dirty="0">
                <a:solidFill>
                  <a:srgbClr val="B4531E"/>
                </a:solidFill>
                <a:latin typeface="IBM Plex Sans" pitchFamily="34" charset="0"/>
                <a:ea typeface="IBM Plex Sans" pitchFamily="34" charset="-122"/>
                <a:cs typeface="IBM Plex Sans" pitchFamily="34" charset="-120"/>
              </a:rPr>
              <a:t>force along R</a:t>
            </a:r>
            <a:endParaRPr lang="en-US" sz="1400" dirty="0"/>
          </a:p>
        </p:txBody>
      </p:sp>
      <p:sp>
        <p:nvSpPr>
          <p:cNvPr id="13" name="Text 10"/>
          <p:cNvSpPr/>
          <p:nvPr/>
        </p:nvSpPr>
        <p:spPr>
          <a:xfrm>
            <a:off x="6172200" y="5905450"/>
            <a:ext cx="1962150"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44505C"/>
                </a:solidFill>
                <a:latin typeface="IBM Plex Sans" pitchFamily="34" charset="0"/>
                <a:ea typeface="IBM Plex Sans" pitchFamily="34" charset="-122"/>
                <a:cs typeface="IBM Plex Sans" pitchFamily="34" charset="-120"/>
              </a:rPr>
              <a:t>fx axis (south)</a:t>
            </a:r>
            <a:endParaRPr lang="en-US" sz="1200" dirty="0"/>
          </a:p>
        </p:txBody>
      </p:sp>
      <p:sp>
        <p:nvSpPr>
          <p:cNvPr id="14" name="Text 11"/>
          <p:cNvSpPr/>
          <p:nvPr/>
        </p:nvSpPr>
        <p:spPr>
          <a:xfrm>
            <a:off x="9029700" y="3251150"/>
            <a:ext cx="1701800"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44505C"/>
                </a:solidFill>
                <a:latin typeface="IBM Plex Sans" pitchFamily="34" charset="0"/>
                <a:ea typeface="IBM Plex Sans" pitchFamily="34" charset="-122"/>
                <a:cs typeface="IBM Plex Sans" pitchFamily="34" charset="-120"/>
              </a:rPr>
              <a:t>fy axis (east)</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6F4EE"/>
        </a:solidFill>
      </p:bgPr>
    </p:bg>
    <p:spTree>
      <p:nvGrpSpPr>
        <p:cNvPr id="1" name=""/>
        <p:cNvGrpSpPr/>
        <p:nvPr/>
      </p:nvGrpSpPr>
      <p:grpSpPr>
        <a:xfrm>
          <a:off x="0" y="0"/>
          <a:ext cx="0" cy="0"/>
          <a:chOff x="0" y="0"/>
          <a:chExt cx="0" cy="0"/>
        </a:xfrm>
      </p:grpSpPr>
      <p:sp>
        <p:nvSpPr>
          <p:cNvPr id="2" name="Text 0"/>
          <p:cNvSpPr/>
          <p:nvPr/>
        </p:nvSpPr>
        <p:spPr>
          <a:xfrm>
            <a:off x="812800" y="558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F7A7A"/>
                </a:solidFill>
                <a:latin typeface="IBM Plex Sans" pitchFamily="34" charset="0"/>
                <a:ea typeface="IBM Plex Sans" pitchFamily="34" charset="-122"/>
                <a:cs typeface="IBM Plex Sans" pitchFamily="34" charset="-120"/>
              </a:rPr>
              <a:t>4 · RECEIVER SIDE</a:t>
            </a:r>
            <a:endParaRPr lang="en-US" sz="1200" dirty="0"/>
          </a:p>
        </p:txBody>
      </p:sp>
      <p:sp>
        <p:nvSpPr>
          <p:cNvPr id="3" name="Text 1"/>
          <p:cNvSpPr/>
          <p:nvPr>
            <p:ph type="title"/>
          </p:nvPr>
        </p:nvSpPr>
        <p:spPr>
          <a:xfrm>
            <a:off x="812800" y="9499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D2B3A"/>
                </a:solidFill>
                <a:latin typeface="EB Garamond" pitchFamily="18" charset="0"/>
                <a:ea typeface="EB Garamond" pitchFamily="18" charset="-122"/>
                <a:cs typeface="EB Garamond" pitchFamily="18" charset="-120"/>
              </a:rPr>
              <a:t>Receiver-side rotation: project the response onto T and R</a:t>
            </a:r>
            <a:endParaRPr lang="en-US" sz="3200" dirty="0"/>
          </a:p>
        </p:txBody>
      </p:sp>
      <p:sp>
        <p:nvSpPr>
          <p:cNvPr id="4" name="Text 2"/>
          <p:cNvSpPr/>
          <p:nvPr/>
        </p:nvSpPr>
        <p:spPr>
          <a:xfrm>
            <a:off x="812800" y="1574750"/>
            <a:ext cx="4185920" cy="8255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4505C"/>
                </a:solidFill>
                <a:latin typeface="IBM Plex Sans" pitchFamily="34" charset="0"/>
                <a:ea typeface="IBM Plex Sans" pitchFamily="34" charset="-122"/>
                <a:cs typeface="IBM Plex Sans" pitchFamily="34" charset="-120"/>
              </a:rPr>
              <a:t>After the source-side step we still hold a </a:t>
            </a:r>
            <a:r>
              <a:rPr lang="en-US" sz="1500" b="1" dirty="0">
                <a:solidFill>
                  <a:srgbClr val="1D2B3A"/>
                </a:solidFill>
                <a:latin typeface="IBM Plex Sans" pitchFamily="34" charset="0"/>
                <a:ea typeface="IBM Plex Sans" pitchFamily="34" charset="-122"/>
                <a:cs typeface="IBM Plex Sans" pitchFamily="34" charset="-120"/>
              </a:rPr>
              <a:t>vector</a:t>
            </a:r>
            <a:r>
              <a:rPr lang="en-US" sz="1500" dirty="0">
                <a:solidFill>
                  <a:srgbClr val="44505C"/>
                </a:solidFill>
                <a:latin typeface="IBM Plex Sans" pitchFamily="34" charset="0"/>
                <a:ea typeface="IBM Plex Sans" pitchFamily="34" charset="-122"/>
                <a:cs typeface="IBM Plex Sans" pitchFamily="34" charset="-120"/>
              </a:rPr>
              <a:t> at each receiver: its x (south) and y (east) components, plus z.</a:t>
            </a:r>
            <a:endParaRPr lang="en-US" sz="1500" dirty="0"/>
          </a:p>
        </p:txBody>
      </p:sp>
      <p:sp>
        <p:nvSpPr>
          <p:cNvPr id="5" name="Text 3"/>
          <p:cNvSpPr/>
          <p:nvPr/>
        </p:nvSpPr>
        <p:spPr>
          <a:xfrm>
            <a:off x="812800" y="2514550"/>
            <a:ext cx="4185920"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4505C"/>
                </a:solidFill>
                <a:latin typeface="IBM Plex Sans" pitchFamily="34" charset="0"/>
                <a:ea typeface="IBM Plex Sans" pitchFamily="34" charset="-122"/>
                <a:cs typeface="IBM Plex Sans" pitchFamily="34" charset="-120"/>
              </a:rPr>
              <a:t>Project it with the unit vectors </a:t>
            </a:r>
            <a:r>
              <a:rPr lang="en-US" sz="1500" b="1" dirty="0">
                <a:solidFill>
                  <a:srgbClr val="1D2B3A"/>
                </a:solidFill>
                <a:latin typeface="IBM Plex Sans" pitchFamily="34" charset="0"/>
                <a:ea typeface="IBM Plex Sans" pitchFamily="34" charset="-122"/>
                <a:cs typeface="IBM Plex Sans" pitchFamily="34" charset="-120"/>
              </a:rPr>
              <a:t>at the receiver</a:t>
            </a:r>
            <a:r>
              <a:rPr lang="en-US" sz="1500" dirty="0">
                <a:solidFill>
                  <a:srgbClr val="44505C"/>
                </a:solidFill>
                <a:latin typeface="IBM Plex Sans" pitchFamily="34" charset="0"/>
                <a:ea typeface="IBM Plex Sans" pitchFamily="34" charset="-122"/>
                <a:cs typeface="IBM Plex Sans" pitchFamily="34" charset="-120"/>
              </a:rPr>
              <a:t>: </a:t>
            </a:r>
            <a:r>
              <a:rPr lang="en-US" sz="1500" b="1" dirty="0">
                <a:solidFill>
                  <a:srgbClr val="1F7A7A"/>
                </a:solidFill>
                <a:latin typeface="IBM Plex Sans" pitchFamily="34" charset="0"/>
                <a:ea typeface="IBM Plex Sans" pitchFamily="34" charset="-122"/>
                <a:cs typeface="IBM Plex Sans" pitchFamily="34" charset="-120"/>
              </a:rPr>
              <a:t>TT = T · u</a:t>
            </a:r>
            <a:r>
              <a:rPr lang="en-US" sz="1500" dirty="0">
                <a:solidFill>
                  <a:srgbClr val="44505C"/>
                </a:solidFill>
                <a:latin typeface="IBM Plex Sans" pitchFamily="34" charset="0"/>
                <a:ea typeface="IBM Plex Sans" pitchFamily="34" charset="-122"/>
                <a:cs typeface="IBM Plex Sans" pitchFamily="34" charset="-120"/>
              </a:rPr>
              <a:t>, and the unwanted part </a:t>
            </a:r>
            <a:r>
              <a:rPr lang="en-US" sz="1500" b="1" dirty="0">
                <a:solidFill>
                  <a:srgbClr val="B4531E"/>
                </a:solidFill>
                <a:latin typeface="IBM Plex Sans" pitchFamily="34" charset="0"/>
                <a:ea typeface="IBM Plex Sans" pitchFamily="34" charset="-122"/>
                <a:cs typeface="IBM Plex Sans" pitchFamily="34" charset="-120"/>
              </a:rPr>
              <a:t>RT = R · u</a:t>
            </a:r>
            <a:r>
              <a:rPr lang="en-US" sz="1500" dirty="0">
                <a:solidFill>
                  <a:srgbClr val="44505C"/>
                </a:solidFill>
                <a:latin typeface="IBM Plex Sans" pitchFamily="34" charset="0"/>
                <a:ea typeface="IBM Plex Sans" pitchFamily="34" charset="-122"/>
                <a:cs typeface="IBM Plex Sans" pitchFamily="34" charset="-120"/>
              </a:rPr>
              <a:t>.</a:t>
            </a:r>
            <a:endParaRPr lang="en-US" sz="1500" dirty="0"/>
          </a:p>
        </p:txBody>
      </p:sp>
      <p:sp>
        <p:nvSpPr>
          <p:cNvPr id="6" name="Text 4"/>
          <p:cNvSpPr/>
          <p:nvPr/>
        </p:nvSpPr>
        <p:spPr>
          <a:xfrm>
            <a:off x="812800" y="3187650"/>
            <a:ext cx="4185920"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4505C"/>
                </a:solidFill>
                <a:latin typeface="IBM Plex Sans" pitchFamily="34" charset="0"/>
                <a:ea typeface="IBM Plex Sans" pitchFamily="34" charset="-122"/>
                <a:cs typeface="IBM Plex Sans" pitchFamily="34" charset="-120"/>
              </a:rPr>
              <a:t>This is the same as rotating N/E records into R/T with the back azimuth β.</a:t>
            </a:r>
            <a:endParaRPr lang="en-US" sz="1500" dirty="0"/>
          </a:p>
        </p:txBody>
      </p:sp>
      <p:sp>
        <p:nvSpPr>
          <p:cNvPr id="7" name="Text 5"/>
          <p:cNvSpPr/>
          <p:nvPr/>
        </p:nvSpPr>
        <p:spPr>
          <a:xfrm>
            <a:off x="812800" y="3860750"/>
            <a:ext cx="4185920"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4505C"/>
                </a:solidFill>
                <a:latin typeface="IBM Plex Sans" pitchFamily="34" charset="0"/>
                <a:ea typeface="IBM Plex Sans" pitchFamily="34" charset="-122"/>
                <a:cs typeface="IBM Plex Sans" pitchFamily="34" charset="-120"/>
              </a:rPr>
              <a:t>The kernel code repeats this step with </a:t>
            </a:r>
            <a:r>
              <a:rPr lang="en-US" sz="1500" b="1" dirty="0">
                <a:solidFill>
                  <a:srgbClr val="1D2B3A"/>
                </a:solidFill>
                <a:latin typeface="IBM Plex Sans" pitchFamily="34" charset="0"/>
                <a:ea typeface="IBM Plex Sans" pitchFamily="34" charset="-122"/>
                <a:cs typeface="IBM Plex Sans" pitchFamily="34" charset="-120"/>
              </a:rPr>
              <a:t>rot_mat</a:t>
            </a:r>
            <a:r>
              <a:rPr lang="en-US" sz="1500" dirty="0">
                <a:solidFill>
                  <a:srgbClr val="44505C"/>
                </a:solidFill>
                <a:latin typeface="IBM Plex Sans" pitchFamily="34" charset="0"/>
                <a:ea typeface="IBM Plex Sans" pitchFamily="34" charset="-122"/>
                <a:cs typeface="IBM Plex Sans" pitchFamily="34" charset="-120"/>
              </a:rPr>
              <a:t> (columns T, R, Z) from the conf file.</a:t>
            </a:r>
            <a:endParaRPr lang="en-US" sz="1500" dirty="0"/>
          </a:p>
        </p:txBody>
      </p:sp>
      <p:pic>
        <p:nvPicPr>
          <p:cNvPr id="8" name="Image 0" descr="Receiver response vector split into its T and R parts">    </p:cNvPr>
          <p:cNvPicPr>
            <a:picLocks noChangeAspect="1"/>
          </p:cNvPicPr>
          <p:nvPr/>
        </p:nvPicPr>
        <p:blipFill>
          <a:blip r:embed="rId1"/>
          <a:srcRect l="0" r="0" t="0" b="0"/>
          <a:stretch/>
        </p:blipFill>
        <p:spPr>
          <a:xfrm>
            <a:off x="5283200" y="1574750"/>
            <a:ext cx="6096000" cy="4445000"/>
          </a:xfrm>
          <a:prstGeom prst="rect">
            <a:avLst/>
          </a:prstGeom>
        </p:spPr>
      </p:pic>
      <p:sp>
        <p:nvSpPr>
          <p:cNvPr id="9" name="Text 6"/>
          <p:cNvSpPr/>
          <p:nvPr/>
        </p:nvSpPr>
        <p:spPr>
          <a:xfrm>
            <a:off x="7473950" y="5797699"/>
            <a:ext cx="1701800" cy="231775"/>
          </a:xfrm>
          <a:prstGeom prst="rect">
            <a:avLst/>
          </a:prstGeom>
          <a:noFill/>
          <a:ln/>
        </p:spPr>
        <p:txBody>
          <a:bodyPr wrap="square" lIns="0" tIns="0" rIns="0" bIns="0" rtlCol="0" anchor="t">
            <a:normAutofit/>
          </a:bodyPr>
          <a:lstStyle/>
          <a:p>
            <a:pPr algn="l" indent="0" marL="0">
              <a:lnSpc>
                <a:spcPts val="1625"/>
              </a:lnSpc>
              <a:buNone/>
            </a:pPr>
            <a:r>
              <a:rPr lang="en-US" sz="1300" b="1" dirty="0">
                <a:solidFill>
                  <a:srgbClr val="1F7A7A"/>
                </a:solidFill>
                <a:latin typeface="IBM Plex Sans" pitchFamily="34" charset="0"/>
                <a:ea typeface="IBM Plex Sans" pitchFamily="34" charset="-122"/>
                <a:cs typeface="IBM Plex Sans" pitchFamily="34" charset="-120"/>
              </a:rPr>
              <a:t>T at receiver</a:t>
            </a:r>
            <a:endParaRPr lang="en-US" sz="1300" dirty="0"/>
          </a:p>
        </p:txBody>
      </p:sp>
      <p:sp>
        <p:nvSpPr>
          <p:cNvPr id="10" name="Text 7"/>
          <p:cNvSpPr/>
          <p:nvPr/>
        </p:nvSpPr>
        <p:spPr>
          <a:xfrm>
            <a:off x="8926860" y="1981150"/>
            <a:ext cx="1701800" cy="231775"/>
          </a:xfrm>
          <a:prstGeom prst="rect">
            <a:avLst/>
          </a:prstGeom>
          <a:noFill/>
          <a:ln/>
        </p:spPr>
        <p:txBody>
          <a:bodyPr wrap="square" lIns="0" tIns="0" rIns="0" bIns="0" rtlCol="0" anchor="t">
            <a:normAutofit/>
          </a:bodyPr>
          <a:lstStyle/>
          <a:p>
            <a:pPr algn="l" indent="0" marL="0">
              <a:lnSpc>
                <a:spcPts val="1625"/>
              </a:lnSpc>
              <a:buNone/>
            </a:pPr>
            <a:r>
              <a:rPr lang="en-US" sz="1300" b="1" dirty="0">
                <a:solidFill>
                  <a:srgbClr val="B4531E"/>
                </a:solidFill>
                <a:latin typeface="IBM Plex Sans" pitchFamily="34" charset="0"/>
                <a:ea typeface="IBM Plex Sans" pitchFamily="34" charset="-122"/>
                <a:cs typeface="IBM Plex Sans" pitchFamily="34" charset="-120"/>
              </a:rPr>
              <a:t>R at receiver</a:t>
            </a:r>
            <a:endParaRPr lang="en-US" sz="1300" dirty="0"/>
          </a:p>
        </p:txBody>
      </p:sp>
      <p:sp>
        <p:nvSpPr>
          <p:cNvPr id="11" name="Text 8"/>
          <p:cNvSpPr/>
          <p:nvPr/>
        </p:nvSpPr>
        <p:spPr>
          <a:xfrm>
            <a:off x="8906619" y="4991596"/>
            <a:ext cx="1701800" cy="231775"/>
          </a:xfrm>
          <a:prstGeom prst="rect">
            <a:avLst/>
          </a:prstGeom>
          <a:noFill/>
          <a:ln/>
        </p:spPr>
        <p:txBody>
          <a:bodyPr wrap="square" lIns="0" tIns="0" rIns="0" bIns="0" rtlCol="0" anchor="t">
            <a:normAutofit/>
          </a:bodyPr>
          <a:lstStyle/>
          <a:p>
            <a:pPr algn="l" indent="0" marL="0">
              <a:lnSpc>
                <a:spcPts val="1625"/>
              </a:lnSpc>
              <a:buNone/>
            </a:pPr>
            <a:r>
              <a:rPr lang="en-US" sz="1300" b="1" dirty="0">
                <a:solidFill>
                  <a:srgbClr val="1D2B3A"/>
                </a:solidFill>
                <a:latin typeface="IBM Plex Sans" pitchFamily="34" charset="0"/>
                <a:ea typeface="IBM Plex Sans" pitchFamily="34" charset="-122"/>
                <a:cs typeface="IBM Plex Sans" pitchFamily="34" charset="-120"/>
              </a:rPr>
              <a:t>response u (x, y)</a:t>
            </a:r>
            <a:endParaRPr lang="en-US" sz="1300" dirty="0"/>
          </a:p>
        </p:txBody>
      </p:sp>
      <p:sp>
        <p:nvSpPr>
          <p:cNvPr id="12" name="Text 9"/>
          <p:cNvSpPr/>
          <p:nvPr/>
        </p:nvSpPr>
        <p:spPr>
          <a:xfrm>
            <a:off x="6438900" y="4909046"/>
            <a:ext cx="1447800" cy="231775"/>
          </a:xfrm>
          <a:prstGeom prst="rect">
            <a:avLst/>
          </a:prstGeom>
          <a:noFill/>
          <a:ln/>
        </p:spPr>
        <p:txBody>
          <a:bodyPr wrap="square" lIns="0" tIns="0" rIns="0" bIns="0" rtlCol="0" anchor="t">
            <a:normAutofit/>
          </a:bodyPr>
          <a:lstStyle/>
          <a:p>
            <a:pPr algn="r" indent="0" marL="0">
              <a:lnSpc>
                <a:spcPts val="1625"/>
              </a:lnSpc>
              <a:buNone/>
            </a:pPr>
            <a:r>
              <a:rPr lang="en-US" sz="1300" b="1" dirty="0">
                <a:solidFill>
                  <a:srgbClr val="1F7A7A"/>
                </a:solidFill>
                <a:latin typeface="IBM Plex Sans" pitchFamily="34" charset="0"/>
                <a:ea typeface="IBM Plex Sans" pitchFamily="34" charset="-122"/>
                <a:cs typeface="IBM Plex Sans" pitchFamily="34" charset="-120"/>
              </a:rPr>
              <a:t>TT = T · u</a:t>
            </a:r>
            <a:endParaRPr lang="en-US" sz="1300" dirty="0"/>
          </a:p>
        </p:txBody>
      </p:sp>
      <p:sp>
        <p:nvSpPr>
          <p:cNvPr id="13" name="Text 10"/>
          <p:cNvSpPr/>
          <p:nvPr/>
        </p:nvSpPr>
        <p:spPr>
          <a:xfrm>
            <a:off x="7636619" y="2559000"/>
            <a:ext cx="2158365" cy="215900"/>
          </a:xfrm>
          <a:prstGeom prst="rect">
            <a:avLst/>
          </a:prstGeom>
          <a:noFill/>
          <a:ln/>
        </p:spPr>
        <p:txBody>
          <a:bodyPr wrap="square" lIns="0" tIns="0" rIns="0" bIns="0" rtlCol="0" anchor="t">
            <a:normAutofit/>
          </a:bodyPr>
          <a:lstStyle/>
          <a:p>
            <a:pPr algn="l" indent="0" marL="0">
              <a:lnSpc>
                <a:spcPts val="1500"/>
              </a:lnSpc>
              <a:buNone/>
            </a:pPr>
            <a:r>
              <a:rPr lang="en-US" sz="1200" b="1" dirty="0">
                <a:solidFill>
                  <a:srgbClr val="B4531E"/>
                </a:solidFill>
                <a:latin typeface="IBM Plex Sans" pitchFamily="34" charset="0"/>
                <a:ea typeface="IBM Plex Sans" pitchFamily="34" charset="-122"/>
                <a:cs typeface="IBM Plex Sans" pitchFamily="34" charset="-120"/>
              </a:rPr>
              <a:t>RT = R · u (leakage)</a:t>
            </a:r>
            <a:endParaRPr lang="en-US" sz="1200" dirty="0"/>
          </a:p>
        </p:txBody>
      </p:sp>
      <p:sp>
        <p:nvSpPr>
          <p:cNvPr id="14" name="Text 11"/>
          <p:cNvSpPr/>
          <p:nvPr/>
        </p:nvSpPr>
        <p:spPr>
          <a:xfrm>
            <a:off x="6057900" y="5829250"/>
            <a:ext cx="1701800" cy="215900"/>
          </a:xfrm>
          <a:prstGeom prst="rect">
            <a:avLst/>
          </a:prstGeom>
          <a:noFill/>
          <a:ln/>
        </p:spPr>
        <p:txBody>
          <a:bodyPr wrap="square" lIns="0" tIns="0" rIns="0" bIns="0" rtlCol="0" anchor="t">
            <a:normAutofit/>
          </a:bodyPr>
          <a:lstStyle/>
          <a:p>
            <a:pPr algn="r" indent="0" marL="0">
              <a:lnSpc>
                <a:spcPts val="1500"/>
              </a:lnSpc>
              <a:buNone/>
            </a:pPr>
            <a:r>
              <a:rPr lang="en-US" sz="1200" dirty="0">
                <a:solidFill>
                  <a:srgbClr val="44505C"/>
                </a:solidFill>
                <a:latin typeface="IBM Plex Sans" pitchFamily="34" charset="0"/>
                <a:ea typeface="IBM Plex Sans" pitchFamily="34" charset="-122"/>
                <a:cs typeface="IBM Plex Sans" pitchFamily="34" charset="-120"/>
              </a:rPr>
              <a:t>x (south)</a:t>
            </a:r>
            <a:endParaRPr lang="en-US" sz="1200" dirty="0"/>
          </a:p>
        </p:txBody>
      </p:sp>
      <p:sp>
        <p:nvSpPr>
          <p:cNvPr id="15" name="Text 12"/>
          <p:cNvSpPr/>
          <p:nvPr/>
        </p:nvSpPr>
        <p:spPr>
          <a:xfrm>
            <a:off x="10172700" y="3238450"/>
            <a:ext cx="1066800"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44505C"/>
                </a:solidFill>
                <a:latin typeface="IBM Plex Sans" pitchFamily="34" charset="0"/>
                <a:ea typeface="IBM Plex Sans" pitchFamily="34" charset="-122"/>
                <a:cs typeface="IBM Plex Sans" pitchFamily="34" charset="-120"/>
              </a:rPr>
              <a:t>y (east)</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6F4EE"/>
        </a:solidFill>
      </p:bgPr>
    </p:bg>
    <p:spTree>
      <p:nvGrpSpPr>
        <p:cNvPr id="1" name=""/>
        <p:cNvGrpSpPr/>
        <p:nvPr/>
      </p:nvGrpSpPr>
      <p:grpSpPr>
        <a:xfrm>
          <a:off x="0" y="0"/>
          <a:ext cx="0" cy="0"/>
          <a:chOff x="0" y="0"/>
          <a:chExt cx="0" cy="0"/>
        </a:xfrm>
      </p:grpSpPr>
      <p:sp>
        <p:nvSpPr>
          <p:cNvPr id="2" name="Text 0"/>
          <p:cNvSpPr/>
          <p:nvPr/>
        </p:nvSpPr>
        <p:spPr>
          <a:xfrm>
            <a:off x="812800" y="558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F7A7A"/>
                </a:solidFill>
                <a:latin typeface="IBM Plex Sans" pitchFamily="34" charset="0"/>
                <a:ea typeface="IBM Plex Sans" pitchFamily="34" charset="-122"/>
                <a:cs typeface="IBM Plex Sans" pitchFamily="34" charset="-120"/>
              </a:rPr>
              <a:t>5 · BOTH ROTATIONS TOGETHER</a:t>
            </a:r>
            <a:endParaRPr lang="en-US" sz="1200" dirty="0"/>
          </a:p>
        </p:txBody>
      </p:sp>
      <p:sp>
        <p:nvSpPr>
          <p:cNvPr id="3" name="Text 1"/>
          <p:cNvSpPr/>
          <p:nvPr>
            <p:ph type="title"/>
          </p:nvPr>
        </p:nvSpPr>
        <p:spPr>
          <a:xfrm>
            <a:off x="812800" y="9499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D2B3A"/>
                </a:solidFill>
                <a:latin typeface="EB Garamond" pitchFamily="18" charset="0"/>
                <a:ea typeface="EB Garamond" pitchFamily="18" charset="-122"/>
                <a:cs typeface="EB Garamond" pitchFamily="18" charset="-120"/>
              </a:rPr>
              <a:t>Putting it together: TT, RR and the leakage checks</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587450"/>
          <a:ext cx="5702300" cy="2564954"/>
        </p:xfrm>
        <a:graphic>
          <a:graphicData uri="http://schemas.openxmlformats.org/drawingml/2006/table">
            <a:tbl>
              <a:tblPr/>
              <a:tblGrid>
                <a:gridCol w="1026414"/>
                <a:gridCol w="1368552"/>
                <a:gridCol w="1140460"/>
                <a:gridCol w="2166874"/>
              </a:tblGrid>
              <a:tr h="386011">
                <a:tc>
                  <a:txBody>
                    <a:bodyPr/>
                    <a:lstStyle/>
                    <a:p>
                      <a:pPr indent="0" marL="0">
                        <a:lnSpc>
                          <a:spcPts val="1960"/>
                        </a:lnSpc>
                        <a:buNone/>
                      </a:pPr>
                      <a:r>
                        <a:rPr lang="en-US" sz="1400" b="1" dirty="0">
                          <a:solidFill>
                            <a:srgbClr val="1D2B3A"/>
                          </a:solidFill>
                          <a:latin typeface="IBM Plex Sans" pitchFamily="34" charset="0"/>
                          <a:ea typeface="IBM Plex Sans" pitchFamily="34" charset="-122"/>
                          <a:cs typeface="IBM Plex Sans" pitchFamily="34" charset="-120"/>
                        </a:rPr>
                        <a:t>Output</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3BE"/>
                      </a:solidFill>
                      <a:prstDash val="solid"/>
                      <a:round/>
                      <a:headEnd type="none" w="med" len="med"/>
                      <a:tailEnd type="none" w="med" len="med"/>
                    </a:lnL>
                    <a:lnR w="12700" cap="flat" cmpd="sng" algn="ctr">
                      <a:solidFill>
                        <a:srgbClr val="B6B5B0"/>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B6B5B0"/>
                      </a:solidFill>
                      <a:prstDash val="solid"/>
                      <a:round/>
                      <a:headEnd type="none" w="med" len="med"/>
                      <a:tailEnd type="none" w="med" len="med"/>
                    </a:lnB>
                    <a:solidFill>
                      <a:srgbClr val="E4E2DC"/>
                    </a:solidFill>
                  </a:tcPr>
                </a:tc>
                <a:tc>
                  <a:txBody>
                    <a:bodyPr/>
                    <a:lstStyle/>
                    <a:p>
                      <a:pPr indent="0" marL="0">
                        <a:lnSpc>
                          <a:spcPts val="1960"/>
                        </a:lnSpc>
                        <a:buNone/>
                      </a:pPr>
                      <a:r>
                        <a:rPr lang="en-US" sz="1400" b="1" dirty="0">
                          <a:solidFill>
                            <a:srgbClr val="1D2B3A"/>
                          </a:solidFill>
                          <a:latin typeface="IBM Plex Sans" pitchFamily="34" charset="0"/>
                          <a:ea typeface="IBM Plex Sans" pitchFamily="34" charset="-122"/>
                          <a:cs typeface="IBM Plex Sans" pitchFamily="34" charset="-120"/>
                        </a:rPr>
                        <a:t>Source force</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6B5B0"/>
                      </a:solidFill>
                      <a:prstDash val="solid"/>
                      <a:round/>
                      <a:headEnd type="none" w="med" len="med"/>
                      <a:tailEnd type="none" w="med" len="med"/>
                    </a:lnL>
                    <a:lnR w="12700" cap="flat" cmpd="sng" algn="ctr">
                      <a:solidFill>
                        <a:srgbClr val="B6B5B0"/>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B6B5B0"/>
                      </a:solidFill>
                      <a:prstDash val="solid"/>
                      <a:round/>
                      <a:headEnd type="none" w="med" len="med"/>
                      <a:tailEnd type="none" w="med" len="med"/>
                    </a:lnB>
                    <a:solidFill>
                      <a:srgbClr val="E4E2DC"/>
                    </a:solidFill>
                  </a:tcPr>
                </a:tc>
                <a:tc>
                  <a:txBody>
                    <a:bodyPr/>
                    <a:lstStyle/>
                    <a:p>
                      <a:pPr indent="0" marL="0">
                        <a:lnSpc>
                          <a:spcPts val="1960"/>
                        </a:lnSpc>
                        <a:buNone/>
                      </a:pPr>
                      <a:r>
                        <a:rPr lang="en-US" sz="1400" b="1" dirty="0">
                          <a:solidFill>
                            <a:srgbClr val="1D2B3A"/>
                          </a:solidFill>
                          <a:latin typeface="IBM Plex Sans" pitchFamily="34" charset="0"/>
                          <a:ea typeface="IBM Plex Sans" pitchFamily="34" charset="-122"/>
                          <a:cs typeface="IBM Plex Sans" pitchFamily="34" charset="-120"/>
                        </a:rPr>
                        <a:t>Receiver</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6B5B0"/>
                      </a:solidFill>
                      <a:prstDash val="solid"/>
                      <a:round/>
                      <a:headEnd type="none" w="med" len="med"/>
                      <a:tailEnd type="none" w="med" len="med"/>
                    </a:lnL>
                    <a:lnR w="12700" cap="flat" cmpd="sng" algn="ctr">
                      <a:solidFill>
                        <a:srgbClr val="B6B5B0"/>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B6B5B0"/>
                      </a:solidFill>
                      <a:prstDash val="solid"/>
                      <a:round/>
                      <a:headEnd type="none" w="med" len="med"/>
                      <a:tailEnd type="none" w="med" len="med"/>
                    </a:lnB>
                    <a:solidFill>
                      <a:srgbClr val="E4E2DC"/>
                    </a:solidFill>
                  </a:tcPr>
                </a:tc>
                <a:tc>
                  <a:txBody>
                    <a:bodyPr/>
                    <a:lstStyle/>
                    <a:p>
                      <a:pPr indent="0" marL="0">
                        <a:lnSpc>
                          <a:spcPts val="1960"/>
                        </a:lnSpc>
                        <a:buNone/>
                      </a:pPr>
                      <a:r>
                        <a:rPr lang="en-US" sz="1400" b="1" dirty="0">
                          <a:solidFill>
                            <a:srgbClr val="1D2B3A"/>
                          </a:solidFill>
                          <a:latin typeface="IBM Plex Sans" pitchFamily="34" charset="0"/>
                          <a:ea typeface="IBM Plex Sans" pitchFamily="34" charset="-122"/>
                          <a:cs typeface="IBM Plex Sans" pitchFamily="34" charset="-120"/>
                        </a:rPr>
                        <a:t>Expected</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6B5B0"/>
                      </a:solidFill>
                      <a:prstDash val="solid"/>
                      <a:round/>
                      <a:headEnd type="none" w="med" len="med"/>
                      <a:tailEnd type="none" w="med" len="med"/>
                    </a:lnL>
                    <a:lnR w="12700" cap="flat" cmpd="sng" algn="ctr">
                      <a:solidFill>
                        <a:srgbClr val="B6B5B0"/>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B6B5B0"/>
                      </a:solidFill>
                      <a:prstDash val="solid"/>
                      <a:round/>
                      <a:headEnd type="none" w="med" len="med"/>
                      <a:tailEnd type="none" w="med" len="med"/>
                    </a:lnB>
                    <a:solidFill>
                      <a:srgbClr val="E4E2DC"/>
                    </a:solidFill>
                  </a:tcPr>
                </a:tc>
              </a:tr>
              <a:tr h="386011">
                <a:tc>
                  <a:txBody>
                    <a:bodyPr/>
                    <a:lstStyle/>
                    <a:p>
                      <a:pPr indent="0" marL="0">
                        <a:lnSpc>
                          <a:spcPts val="1960"/>
                        </a:lnSpc>
                        <a:buNone/>
                      </a:pPr>
                      <a:r>
                        <a:rPr lang="en-US" sz="1400" dirty="0">
                          <a:solidFill>
                            <a:srgbClr val="1F7A7A"/>
                          </a:solidFill>
                          <a:latin typeface="IBM Plex Sans" pitchFamily="34" charset="0"/>
                          <a:ea typeface="IBM Plex Sans" pitchFamily="34" charset="-122"/>
                          <a:cs typeface="IBM Plex Sans" pitchFamily="34" charset="-120"/>
                        </a:rPr>
                        <a:t>TT</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B6B5B0"/>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indent="0" marL="0">
                        <a:lnSpc>
                          <a:spcPts val="1960"/>
                        </a:lnSpc>
                        <a:buNone/>
                      </a:pPr>
                      <a:r>
                        <a:rPr lang="en-US" sz="1400" dirty="0">
                          <a:solidFill>
                            <a:srgbClr val="44505C"/>
                          </a:solidFill>
                          <a:latin typeface="IBM Plex Sans" pitchFamily="34" charset="0"/>
                          <a:ea typeface="IBM Plex Sans" pitchFamily="34" charset="-122"/>
                          <a:cs typeface="IBM Plex Sans" pitchFamily="34" charset="-120"/>
                        </a:rPr>
                        <a:t>along T</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B6B5B0"/>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indent="0" marL="0">
                        <a:lnSpc>
                          <a:spcPts val="1960"/>
                        </a:lnSpc>
                        <a:buNone/>
                      </a:pPr>
                      <a:r>
                        <a:rPr lang="en-US" sz="1400" dirty="0">
                          <a:solidFill>
                            <a:srgbClr val="44505C"/>
                          </a:solidFill>
                          <a:latin typeface="IBM Plex Sans" pitchFamily="34" charset="0"/>
                          <a:ea typeface="IBM Plex Sans" pitchFamily="34" charset="-122"/>
                          <a:cs typeface="IBM Plex Sans" pitchFamily="34" charset="-120"/>
                        </a:rPr>
                        <a:t>T</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B6B5B0"/>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indent="0" marL="0">
                        <a:lnSpc>
                          <a:spcPts val="1960"/>
                        </a:lnSpc>
                        <a:buNone/>
                      </a:pPr>
                      <a:r>
                        <a:rPr lang="en-US" sz="1400" dirty="0">
                          <a:solidFill>
                            <a:srgbClr val="44505C"/>
                          </a:solidFill>
                          <a:latin typeface="IBM Plex Sans" pitchFamily="34" charset="0"/>
                          <a:ea typeface="IBM Plex Sans" pitchFamily="34" charset="-122"/>
                          <a:cs typeface="IBM Plex Sans" pitchFamily="34" charset="-120"/>
                        </a:rPr>
                        <a:t>Love signal</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B6B5B0"/>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r>
              <a:tr h="634901">
                <a:tc>
                  <a:txBody>
                    <a:bodyPr/>
                    <a:lstStyle/>
                    <a:p>
                      <a:pPr indent="0" marL="0">
                        <a:lnSpc>
                          <a:spcPts val="1960"/>
                        </a:lnSpc>
                        <a:buNone/>
                      </a:pPr>
                      <a:r>
                        <a:rPr lang="en-US" sz="1400" dirty="0">
                          <a:solidFill>
                            <a:srgbClr val="B4531E"/>
                          </a:solidFill>
                          <a:latin typeface="IBM Plex Sans" pitchFamily="34" charset="0"/>
                          <a:ea typeface="IBM Plex Sans" pitchFamily="34" charset="-122"/>
                          <a:cs typeface="IBM Plex Sans" pitchFamily="34" charset="-120"/>
                        </a:rPr>
                        <a:t>RR</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indent="0" marL="0">
                        <a:lnSpc>
                          <a:spcPts val="1960"/>
                        </a:lnSpc>
                        <a:buNone/>
                      </a:pPr>
                      <a:r>
                        <a:rPr lang="en-US" sz="1400" dirty="0">
                          <a:solidFill>
                            <a:srgbClr val="44505C"/>
                          </a:solidFill>
                          <a:latin typeface="IBM Plex Sans" pitchFamily="34" charset="0"/>
                          <a:ea typeface="IBM Plex Sans" pitchFamily="34" charset="-122"/>
                          <a:cs typeface="IBM Plex Sans" pitchFamily="34" charset="-120"/>
                        </a:rPr>
                        <a:t>along R</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indent="0" marL="0">
                        <a:lnSpc>
                          <a:spcPts val="1960"/>
                        </a:lnSpc>
                        <a:buNone/>
                      </a:pPr>
                      <a:r>
                        <a:rPr lang="en-US" sz="1400" dirty="0">
                          <a:solidFill>
                            <a:srgbClr val="44505C"/>
                          </a:solidFill>
                          <a:latin typeface="IBM Plex Sans" pitchFamily="34" charset="0"/>
                          <a:ea typeface="IBM Plex Sans" pitchFamily="34" charset="-122"/>
                          <a:cs typeface="IBM Plex Sans" pitchFamily="34" charset="-120"/>
                        </a:rPr>
                        <a:t>R</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indent="0" marL="0">
                        <a:lnSpc>
                          <a:spcPts val="1960"/>
                        </a:lnSpc>
                        <a:buNone/>
                      </a:pPr>
                      <a:r>
                        <a:rPr lang="en-US" sz="1400" dirty="0">
                          <a:solidFill>
                            <a:srgbClr val="44505C"/>
                          </a:solidFill>
                          <a:latin typeface="IBM Plex Sans" pitchFamily="34" charset="0"/>
                          <a:ea typeface="IBM Plex Sans" pitchFamily="34" charset="-122"/>
                          <a:cs typeface="IBM Plex Sans" pitchFamily="34" charset="-120"/>
                        </a:rPr>
                        <a:t>Rayleigh, horizontal signal</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r>
              <a:tr h="386011">
                <a:tc>
                  <a:txBody>
                    <a:bodyPr/>
                    <a:lstStyle/>
                    <a:p>
                      <a:pPr indent="0" marL="0">
                        <a:lnSpc>
                          <a:spcPts val="1960"/>
                        </a:lnSpc>
                        <a:buNone/>
                      </a:pPr>
                      <a:r>
                        <a:rPr lang="en-US" sz="1400" dirty="0">
                          <a:solidFill>
                            <a:srgbClr val="44505C"/>
                          </a:solidFill>
                          <a:latin typeface="IBM Plex Sans" pitchFamily="34" charset="0"/>
                          <a:ea typeface="IBM Plex Sans" pitchFamily="34" charset="-122"/>
                          <a:cs typeface="IBM Plex Sans" pitchFamily="34" charset="-120"/>
                        </a:rPr>
                        <a:t>RT</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indent="0" marL="0">
                        <a:lnSpc>
                          <a:spcPts val="1960"/>
                        </a:lnSpc>
                        <a:buNone/>
                      </a:pPr>
                      <a:r>
                        <a:rPr lang="en-US" sz="1400" dirty="0">
                          <a:solidFill>
                            <a:srgbClr val="44505C"/>
                          </a:solidFill>
                          <a:latin typeface="IBM Plex Sans" pitchFamily="34" charset="0"/>
                          <a:ea typeface="IBM Plex Sans" pitchFamily="34" charset="-122"/>
                          <a:cs typeface="IBM Plex Sans" pitchFamily="34" charset="-120"/>
                        </a:rPr>
                        <a:t>along T</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indent="0" marL="0">
                        <a:lnSpc>
                          <a:spcPts val="1960"/>
                        </a:lnSpc>
                        <a:buNone/>
                      </a:pPr>
                      <a:r>
                        <a:rPr lang="en-US" sz="1400" dirty="0">
                          <a:solidFill>
                            <a:srgbClr val="44505C"/>
                          </a:solidFill>
                          <a:latin typeface="IBM Plex Sans" pitchFamily="34" charset="0"/>
                          <a:ea typeface="IBM Plex Sans" pitchFamily="34" charset="-122"/>
                          <a:cs typeface="IBM Plex Sans" pitchFamily="34" charset="-120"/>
                        </a:rPr>
                        <a:t>R</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indent="0" marL="0">
                        <a:lnSpc>
                          <a:spcPts val="1960"/>
                        </a:lnSpc>
                        <a:buNone/>
                      </a:pPr>
                      <a:r>
                        <a:rPr lang="en-US" sz="1400" dirty="0">
                          <a:solidFill>
                            <a:srgbClr val="44505C"/>
                          </a:solidFill>
                          <a:latin typeface="IBM Plex Sans" pitchFamily="34" charset="0"/>
                          <a:ea typeface="IBM Plex Sans" pitchFamily="34" charset="-122"/>
                          <a:cs typeface="IBM Plex Sans" pitchFamily="34" charset="-120"/>
                        </a:rPr>
                        <a:t>≈ 0, leakage</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r>
              <a:tr h="386011">
                <a:tc>
                  <a:txBody>
                    <a:bodyPr/>
                    <a:lstStyle/>
                    <a:p>
                      <a:pPr indent="0" marL="0">
                        <a:lnSpc>
                          <a:spcPts val="1960"/>
                        </a:lnSpc>
                        <a:buNone/>
                      </a:pPr>
                      <a:r>
                        <a:rPr lang="en-US" sz="1400" dirty="0">
                          <a:solidFill>
                            <a:srgbClr val="44505C"/>
                          </a:solidFill>
                          <a:latin typeface="IBM Plex Sans" pitchFamily="34" charset="0"/>
                          <a:ea typeface="IBM Plex Sans" pitchFamily="34" charset="-122"/>
                          <a:cs typeface="IBM Plex Sans" pitchFamily="34" charset="-120"/>
                        </a:rPr>
                        <a:t>TR</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indent="0" marL="0">
                        <a:lnSpc>
                          <a:spcPts val="1960"/>
                        </a:lnSpc>
                        <a:buNone/>
                      </a:pPr>
                      <a:r>
                        <a:rPr lang="en-US" sz="1400" dirty="0">
                          <a:solidFill>
                            <a:srgbClr val="44505C"/>
                          </a:solidFill>
                          <a:latin typeface="IBM Plex Sans" pitchFamily="34" charset="0"/>
                          <a:ea typeface="IBM Plex Sans" pitchFamily="34" charset="-122"/>
                          <a:cs typeface="IBM Plex Sans" pitchFamily="34" charset="-120"/>
                        </a:rPr>
                        <a:t>along R</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indent="0" marL="0">
                        <a:lnSpc>
                          <a:spcPts val="1960"/>
                        </a:lnSpc>
                        <a:buNone/>
                      </a:pPr>
                      <a:r>
                        <a:rPr lang="en-US" sz="1400" dirty="0">
                          <a:solidFill>
                            <a:srgbClr val="44505C"/>
                          </a:solidFill>
                          <a:latin typeface="IBM Plex Sans" pitchFamily="34" charset="0"/>
                          <a:ea typeface="IBM Plex Sans" pitchFamily="34" charset="-122"/>
                          <a:cs typeface="IBM Plex Sans" pitchFamily="34" charset="-120"/>
                        </a:rPr>
                        <a:t>T</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indent="0" marL="0">
                        <a:lnSpc>
                          <a:spcPts val="1960"/>
                        </a:lnSpc>
                        <a:buNone/>
                      </a:pPr>
                      <a:r>
                        <a:rPr lang="en-US" sz="1400" dirty="0">
                          <a:solidFill>
                            <a:srgbClr val="44505C"/>
                          </a:solidFill>
                          <a:latin typeface="IBM Plex Sans" pitchFamily="34" charset="0"/>
                          <a:ea typeface="IBM Plex Sans" pitchFamily="34" charset="-122"/>
                          <a:cs typeface="IBM Plex Sans" pitchFamily="34" charset="-120"/>
                        </a:rPr>
                        <a:t>≈ 0, leakage</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r>
              <a:tr h="386011">
                <a:tc>
                  <a:txBody>
                    <a:bodyPr/>
                    <a:lstStyle/>
                    <a:p>
                      <a:pPr indent="0" marL="0">
                        <a:lnSpc>
                          <a:spcPts val="1960"/>
                        </a:lnSpc>
                        <a:buNone/>
                      </a:pPr>
                      <a:r>
                        <a:rPr lang="en-US" sz="1400" dirty="0">
                          <a:solidFill>
                            <a:srgbClr val="44505C"/>
                          </a:solidFill>
                          <a:latin typeface="IBM Plex Sans" pitchFamily="34" charset="0"/>
                          <a:ea typeface="IBM Plex Sans" pitchFamily="34" charset="-122"/>
                          <a:cs typeface="IBM Plex Sans" pitchFamily="34" charset="-120"/>
                        </a:rPr>
                        <a:t>ZT</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indent="0" marL="0">
                        <a:lnSpc>
                          <a:spcPts val="1960"/>
                        </a:lnSpc>
                        <a:buNone/>
                      </a:pPr>
                      <a:r>
                        <a:rPr lang="en-US" sz="1400" dirty="0">
                          <a:solidFill>
                            <a:srgbClr val="44505C"/>
                          </a:solidFill>
                          <a:latin typeface="IBM Plex Sans" pitchFamily="34" charset="0"/>
                          <a:ea typeface="IBM Plex Sans" pitchFamily="34" charset="-122"/>
                          <a:cs typeface="IBM Plex Sans" pitchFamily="34" charset="-120"/>
                        </a:rPr>
                        <a:t>along T</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indent="0" marL="0">
                        <a:lnSpc>
                          <a:spcPts val="1960"/>
                        </a:lnSpc>
                        <a:buNone/>
                      </a:pPr>
                      <a:r>
                        <a:rPr lang="en-US" sz="1400" dirty="0">
                          <a:solidFill>
                            <a:srgbClr val="44505C"/>
                          </a:solidFill>
                          <a:latin typeface="IBM Plex Sans" pitchFamily="34" charset="0"/>
                          <a:ea typeface="IBM Plex Sans" pitchFamily="34" charset="-122"/>
                          <a:cs typeface="IBM Plex Sans" pitchFamily="34" charset="-120"/>
                        </a:rPr>
                        <a:t>Z</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indent="0" marL="0">
                        <a:lnSpc>
                          <a:spcPts val="1960"/>
                        </a:lnSpc>
                        <a:buNone/>
                      </a:pPr>
                      <a:r>
                        <a:rPr lang="en-US" sz="1400" dirty="0">
                          <a:solidFill>
                            <a:srgbClr val="44505C"/>
                          </a:solidFill>
                          <a:latin typeface="IBM Plex Sans" pitchFamily="34" charset="0"/>
                          <a:ea typeface="IBM Plex Sans" pitchFamily="34" charset="-122"/>
                          <a:cs typeface="IBM Plex Sans" pitchFamily="34" charset="-120"/>
                        </a:rPr>
                        <a:t>≈ 0, leakage</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r>
            </a:tbl>
          </a:graphicData>
        </a:graphic>
      </p:graphicFrame>
      <p:sp>
        <p:nvSpPr>
          <p:cNvPr id="5" name="Text 2"/>
          <p:cNvSpPr/>
          <p:nvPr/>
        </p:nvSpPr>
        <p:spPr>
          <a:xfrm>
            <a:off x="812800" y="4330204"/>
            <a:ext cx="5886450"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4505C"/>
                </a:solidFill>
                <a:latin typeface="IBM Plex Sans" pitchFamily="34" charset="0"/>
                <a:ea typeface="IBM Plex Sans" pitchFamily="34" charset="-122"/>
                <a:cs typeface="IBM Plex Sans" pitchFamily="34" charset="-120"/>
              </a:rPr>
              <a:t>In one line: </a:t>
            </a:r>
            <a:r>
              <a:rPr lang="en-US" sz="1500" b="1" dirty="0">
                <a:solidFill>
                  <a:srgbClr val="1D2B3A"/>
                </a:solidFill>
                <a:latin typeface="IBM Plex Sans" pitchFamily="34" charset="0"/>
                <a:ea typeface="IBM Plex Sans" pitchFamily="34" charset="-122"/>
                <a:cs typeface="IBM Plex Sans" pitchFamily="34" charset="-120"/>
              </a:rPr>
              <a:t>TT = Σ t(receiver)ᵢ · Gᵢⱼ · t(source)ⱼ</a:t>
            </a:r>
            <a:r>
              <a:rPr lang="en-US" sz="1500" dirty="0">
                <a:solidFill>
                  <a:srgbClr val="44505C"/>
                </a:solidFill>
                <a:latin typeface="IBM Plex Sans" pitchFamily="34" charset="0"/>
                <a:ea typeface="IBM Plex Sans" pitchFamily="34" charset="-122"/>
                <a:cs typeface="IBM Plex Sans" pitchFamily="34" charset="-120"/>
              </a:rPr>
              <a:t>, the Green’s tensor sandwiched between the two T vectors. RR is the same with R.</a:t>
            </a:r>
            <a:endParaRPr lang="en-US" sz="1500" dirty="0"/>
          </a:p>
        </p:txBody>
      </p:sp>
      <p:sp>
        <p:nvSpPr>
          <p:cNvPr id="6" name="Text 3"/>
          <p:cNvSpPr/>
          <p:nvPr/>
        </p:nvSpPr>
        <p:spPr>
          <a:xfrm>
            <a:off x="6934200" y="1574750"/>
            <a:ext cx="4064000" cy="1784350"/>
          </a:xfrm>
          <a:prstGeom prst="roundRect">
            <a:avLst>
              <a:gd name="adj" fmla="val 4270"/>
            </a:avLst>
          </a:prstGeom>
          <a:solidFill>
            <a:srgbClr val="1D2B3A"/>
          </a:solidFill>
          <a:ln/>
        </p:spPr>
        <p:txBody>
          <a:bodyPr wrap="square" lIns="180882" tIns="155482" rIns="71154" bIns="130082" rtlCol="0" anchor="t">
            <a:normAutofit/>
          </a:bodyPr>
          <a:lstStyle/>
          <a:p>
            <a:pPr algn="l" indent="0" marL="0">
              <a:lnSpc>
                <a:spcPts val="1875"/>
              </a:lnSpc>
              <a:buNone/>
            </a:pPr>
            <a:r>
              <a:rPr lang="en-US" sz="1250" dirty="0">
                <a:solidFill>
                  <a:srgbClr val="E7EEF2"/>
                </a:solidFill>
                <a:latin typeface="IBM Plex Mono" pitchFamily="49" charset="0"/>
                <a:ea typeface="IBM Plex Mono" pitchFamily="49" charset="-122"/>
                <a:cs typeface="IBM Plex Mono" pitchFamily="49" charset="-120"/>
              </a:rPr>
              <a:t>ts = [sind(a) cosd(a)];</a:t>
            </a:r>
            <a:endParaRPr lang="en-US" sz="1250" dirty="0"/>
          </a:p>
          <a:p>
            <a:pPr algn="l" indent="0" marL="0">
              <a:lnSpc>
                <a:spcPts val="1875"/>
              </a:lnSpc>
              <a:buNone/>
            </a:pPr>
            <a:r>
              <a:rPr lang="en-US" sz="1250" dirty="0">
                <a:solidFill>
                  <a:srgbClr val="E7EEF2"/>
                </a:solidFill>
                <a:latin typeface="IBM Plex Mono" pitchFamily="49" charset="0"/>
                <a:ea typeface="IBM Plex Mono" pitchFamily="49" charset="-122"/>
                <a:cs typeface="IBM Plex Mono" pitchFamily="49" charset="-120"/>
              </a:rPr>
              <a:t>tr = [-sind(b) -cosd(b)];</a:t>
            </a:r>
            <a:endParaRPr lang="en-US" sz="1250" dirty="0"/>
          </a:p>
          <a:p>
            <a:pPr algn="l" indent="0" marL="0">
              <a:lnSpc>
                <a:spcPts val="1875"/>
              </a:lnSpc>
              <a:buNone/>
            </a:pPr>
            <a:endParaRPr lang="en-US" sz="1250" dirty="0"/>
          </a:p>
          <a:p>
            <a:pPr algn="l" indent="0" marL="0">
              <a:lnSpc>
                <a:spcPts val="1875"/>
              </a:lnSpc>
              <a:buNone/>
            </a:pPr>
            <a:r>
              <a:rPr lang="en-US" sz="1250" dirty="0">
                <a:solidFill>
                  <a:srgbClr val="E7EEF2"/>
                </a:solidFill>
                <a:latin typeface="IBM Plex Mono" pitchFamily="49" charset="0"/>
                <a:ea typeface="IBM Plex Mono" pitchFamily="49" charset="-122"/>
                <a:cs typeface="IBM Plex Mono" pitchFamily="49" charset="-120"/>
              </a:rPr>
              <a:t>uxT = ts(1)*Fx.Vx + ts(2)*Fy.Vx;</a:t>
            </a:r>
            <a:endParaRPr lang="en-US" sz="1250" dirty="0"/>
          </a:p>
          <a:p>
            <a:pPr algn="l" indent="0" marL="0">
              <a:lnSpc>
                <a:spcPts val="1875"/>
              </a:lnSpc>
              <a:buNone/>
            </a:pPr>
            <a:r>
              <a:rPr lang="en-US" sz="1250" dirty="0">
                <a:solidFill>
                  <a:srgbClr val="E7EEF2"/>
                </a:solidFill>
                <a:latin typeface="IBM Plex Mono" pitchFamily="49" charset="0"/>
                <a:ea typeface="IBM Plex Mono" pitchFamily="49" charset="-122"/>
                <a:cs typeface="IBM Plex Mono" pitchFamily="49" charset="-120"/>
              </a:rPr>
              <a:t>uyT = ts(1)*Fx.Vy + ts(2)*Fy.Vy;</a:t>
            </a:r>
            <a:endParaRPr lang="en-US" sz="1250" dirty="0"/>
          </a:p>
          <a:p>
            <a:pPr algn="l" indent="0" marL="0">
              <a:lnSpc>
                <a:spcPts val="1875"/>
              </a:lnSpc>
              <a:buNone/>
            </a:pPr>
            <a:r>
              <a:rPr lang="en-US" sz="1250" dirty="0">
                <a:solidFill>
                  <a:srgbClr val="E7EEF2"/>
                </a:solidFill>
                <a:latin typeface="IBM Plex Mono" pitchFamily="49" charset="0"/>
                <a:ea typeface="IBM Plex Mono" pitchFamily="49" charset="-122"/>
                <a:cs typeface="IBM Plex Mono" pitchFamily="49" charset="-120"/>
              </a:rPr>
              <a:t>TT = tr(1)*uxT + tr(2)*uyT;</a:t>
            </a:r>
            <a:endParaRPr lang="en-US" sz="1250" dirty="0"/>
          </a:p>
        </p:txBody>
      </p:sp>
      <p:sp>
        <p:nvSpPr>
          <p:cNvPr id="7" name="Text 4"/>
          <p:cNvSpPr/>
          <p:nvPr/>
        </p:nvSpPr>
        <p:spPr>
          <a:xfrm>
            <a:off x="6934200" y="3486100"/>
            <a:ext cx="4578350" cy="25653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4505C"/>
                </a:solidFill>
                <a:latin typeface="IBM Plex Sans" pitchFamily="34" charset="0"/>
                <a:ea typeface="IBM Plex Sans" pitchFamily="34" charset="-122"/>
                <a:cs typeface="IBM Plex Sans" pitchFamily="34" charset="-120"/>
              </a:rPr>
              <a:t>From rotate_fx_fy.m; a = α and b = β in degrees.</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6F4EE"/>
        </a:solidFill>
      </p:bgPr>
    </p:bg>
    <p:spTree>
      <p:nvGrpSpPr>
        <p:cNvPr id="1" name=""/>
        <p:cNvGrpSpPr/>
        <p:nvPr/>
      </p:nvGrpSpPr>
      <p:grpSpPr>
        <a:xfrm>
          <a:off x="0" y="0"/>
          <a:ext cx="0" cy="0"/>
          <a:chOff x="0" y="0"/>
          <a:chExt cx="0" cy="0"/>
        </a:xfrm>
      </p:grpSpPr>
      <p:sp>
        <p:nvSpPr>
          <p:cNvPr id="2" name="Text 0"/>
          <p:cNvSpPr/>
          <p:nvPr/>
        </p:nvSpPr>
        <p:spPr>
          <a:xfrm>
            <a:off x="812800" y="558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F7A7A"/>
                </a:solidFill>
                <a:latin typeface="IBM Plex Sans" pitchFamily="34" charset="0"/>
                <a:ea typeface="IBM Plex Sans" pitchFamily="34" charset="-122"/>
                <a:cs typeface="IBM Plex Sans" pitchFamily="34" charset="-120"/>
              </a:rPr>
              <a:t>6 · CHECKS ON THE RIO GRANDE DATA</a:t>
            </a:r>
            <a:endParaRPr lang="en-US" sz="1200" dirty="0"/>
          </a:p>
        </p:txBody>
      </p:sp>
      <p:sp>
        <p:nvSpPr>
          <p:cNvPr id="3" name="Text 1"/>
          <p:cNvSpPr/>
          <p:nvPr>
            <p:ph type="title"/>
          </p:nvPr>
        </p:nvSpPr>
        <p:spPr>
          <a:xfrm>
            <a:off x="812800" y="9499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D2B3A"/>
                </a:solidFill>
                <a:latin typeface="EB Garamond" pitchFamily="18" charset="0"/>
                <a:ea typeface="EB Garamond" pitchFamily="18" charset="-122"/>
                <a:cs typeface="EB Garamond" pitchFamily="18" charset="-120"/>
              </a:rPr>
              <a:t>The frames are right: leakage is tiny and the azimuths agree</a:t>
            </a:r>
            <a:endParaRPr lang="en-US" sz="3200" dirty="0"/>
          </a:p>
        </p:txBody>
      </p:sp>
      <p:sp>
        <p:nvSpPr>
          <p:cNvPr id="4" name="Shape 2"/>
          <p:cNvSpPr/>
          <p:nvPr/>
        </p:nvSpPr>
        <p:spPr>
          <a:xfrm>
            <a:off x="819150" y="1581100"/>
            <a:ext cx="3238500" cy="2461171"/>
          </a:xfrm>
          <a:prstGeom prst="roundRect">
            <a:avLst>
              <a:gd name="adj" fmla="val 2838"/>
            </a:avLst>
          </a:prstGeom>
          <a:solidFill>
            <a:srgbClr val="FBFAF6"/>
          </a:solidFill>
          <a:ln w="12700">
            <a:solidFill>
              <a:srgbClr val="D9D4C7"/>
            </a:solidFill>
            <a:prstDash val="solid"/>
          </a:ln>
        </p:spPr>
      </p:sp>
      <p:sp>
        <p:nvSpPr>
          <p:cNvPr id="5" name="Text 3"/>
          <p:cNvSpPr/>
          <p:nvPr/>
        </p:nvSpPr>
        <p:spPr>
          <a:xfrm>
            <a:off x="1054100" y="1816050"/>
            <a:ext cx="2851658" cy="665460"/>
          </a:xfrm>
          <a:prstGeom prst="rect">
            <a:avLst/>
          </a:prstGeom>
          <a:noFill/>
          <a:ln/>
        </p:spPr>
        <p:txBody>
          <a:bodyPr wrap="square" lIns="0" tIns="0" rIns="0" bIns="0" rtlCol="0" anchor="t">
            <a:normAutofit/>
          </a:bodyPr>
          <a:lstStyle/>
          <a:p>
            <a:pPr algn="l" indent="0" marL="0">
              <a:lnSpc>
                <a:spcPts val="5040"/>
              </a:lnSpc>
              <a:buNone/>
            </a:pPr>
            <a:r>
              <a:rPr lang="en-US" sz="4800" b="1" dirty="0">
                <a:solidFill>
                  <a:srgbClr val="1F7A7A"/>
                </a:solidFill>
                <a:latin typeface="EB Garamond" pitchFamily="18" charset="0"/>
                <a:ea typeface="EB Garamond" pitchFamily="18" charset="-122"/>
                <a:cs typeface="EB Garamond" pitchFamily="18" charset="-120"/>
              </a:rPr>
              <a:t>≤ 5e-3</a:t>
            </a:r>
            <a:endParaRPr lang="en-US" sz="4800" dirty="0"/>
          </a:p>
        </p:txBody>
      </p:sp>
      <p:sp>
        <p:nvSpPr>
          <p:cNvPr id="6" name="Text 4"/>
          <p:cNvSpPr/>
          <p:nvPr/>
        </p:nvSpPr>
        <p:spPr>
          <a:xfrm>
            <a:off x="1054100" y="2545011"/>
            <a:ext cx="2851658"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D2B3A"/>
                </a:solidFill>
                <a:latin typeface="IBM Plex Sans" pitchFamily="34" charset="0"/>
                <a:ea typeface="IBM Plex Sans" pitchFamily="34" charset="-122"/>
                <a:cs typeface="IBM Plex Sans" pitchFamily="34" charset="-120"/>
              </a:rPr>
              <a:t>Leakage</a:t>
            </a:r>
            <a:endParaRPr lang="en-US" sz="1400" dirty="0"/>
          </a:p>
        </p:txBody>
      </p:sp>
      <p:sp>
        <p:nvSpPr>
          <p:cNvPr id="7" name="Text 5"/>
          <p:cNvSpPr/>
          <p:nvPr/>
        </p:nvSpPr>
        <p:spPr>
          <a:xfrm>
            <a:off x="1054100" y="2882801"/>
            <a:ext cx="2851658" cy="71879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4505C"/>
                </a:solidFill>
                <a:latin typeface="IBM Plex Sans" pitchFamily="34" charset="0"/>
                <a:ea typeface="IBM Plex Sans" pitchFamily="34" charset="-122"/>
                <a:cs typeface="IBM Plex Sans" pitchFamily="34" charset="-120"/>
              </a:rPr>
              <a:t>Peak ratio of RT, TR and ZT to TT: 1e-5 to 5e-3 across stations 2–80, 0.05–0.1 Hz.</a:t>
            </a:r>
            <a:endParaRPr lang="en-US" sz="1300" dirty="0"/>
          </a:p>
        </p:txBody>
      </p:sp>
      <p:sp>
        <p:nvSpPr>
          <p:cNvPr id="8" name="Shape 6"/>
          <p:cNvSpPr/>
          <p:nvPr/>
        </p:nvSpPr>
        <p:spPr>
          <a:xfrm>
            <a:off x="4476750" y="1581100"/>
            <a:ext cx="3238500" cy="2461171"/>
          </a:xfrm>
          <a:prstGeom prst="roundRect">
            <a:avLst>
              <a:gd name="adj" fmla="val 2838"/>
            </a:avLst>
          </a:prstGeom>
          <a:solidFill>
            <a:srgbClr val="FBFAF6"/>
          </a:solidFill>
          <a:ln w="12700">
            <a:solidFill>
              <a:srgbClr val="D9D4C7"/>
            </a:solidFill>
            <a:prstDash val="solid"/>
          </a:ln>
        </p:spPr>
      </p:sp>
      <p:sp>
        <p:nvSpPr>
          <p:cNvPr id="9" name="Text 7"/>
          <p:cNvSpPr/>
          <p:nvPr/>
        </p:nvSpPr>
        <p:spPr>
          <a:xfrm>
            <a:off x="4711700" y="1816050"/>
            <a:ext cx="2851658" cy="665460"/>
          </a:xfrm>
          <a:prstGeom prst="rect">
            <a:avLst/>
          </a:prstGeom>
          <a:noFill/>
          <a:ln/>
        </p:spPr>
        <p:txBody>
          <a:bodyPr wrap="square" lIns="0" tIns="0" rIns="0" bIns="0" rtlCol="0" anchor="t">
            <a:normAutofit/>
          </a:bodyPr>
          <a:lstStyle/>
          <a:p>
            <a:pPr algn="l" indent="0" marL="0">
              <a:lnSpc>
                <a:spcPts val="5040"/>
              </a:lnSpc>
              <a:buNone/>
            </a:pPr>
            <a:r>
              <a:rPr lang="en-US" sz="4800" b="1" dirty="0">
                <a:solidFill>
                  <a:srgbClr val="1F7A7A"/>
                </a:solidFill>
                <a:latin typeface="EB Garamond" pitchFamily="18" charset="0"/>
                <a:ea typeface="EB Garamond" pitchFamily="18" charset="-122"/>
                <a:cs typeface="EB Garamond" pitchFamily="18" charset="-120"/>
              </a:rPr>
              <a:t>0.0°</a:t>
            </a:r>
            <a:endParaRPr lang="en-US" sz="4800" dirty="0"/>
          </a:p>
        </p:txBody>
      </p:sp>
      <p:sp>
        <p:nvSpPr>
          <p:cNvPr id="10" name="Text 8"/>
          <p:cNvSpPr/>
          <p:nvPr/>
        </p:nvSpPr>
        <p:spPr>
          <a:xfrm>
            <a:off x="4711700" y="2545011"/>
            <a:ext cx="2851658"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D2B3A"/>
                </a:solidFill>
                <a:latin typeface="IBM Plex Sans" pitchFamily="34" charset="0"/>
                <a:ea typeface="IBM Plex Sans" pitchFamily="34" charset="-122"/>
                <a:cs typeface="IBM Plex Sans" pitchFamily="34" charset="-120"/>
              </a:rPr>
              <a:t>Azimuth check</a:t>
            </a:r>
            <a:endParaRPr lang="en-US" sz="1400" dirty="0"/>
          </a:p>
        </p:txBody>
      </p:sp>
      <p:sp>
        <p:nvSpPr>
          <p:cNvPr id="11" name="Text 9"/>
          <p:cNvSpPr/>
          <p:nvPr/>
        </p:nvSpPr>
        <p:spPr>
          <a:xfrm>
            <a:off x="4711700" y="2882801"/>
            <a:ext cx="2851658" cy="94992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4505C"/>
                </a:solidFill>
                <a:latin typeface="IBM Plex Sans" pitchFamily="34" charset="0"/>
                <a:ea typeface="IBM Plex Sans" pitchFamily="34" charset="-122"/>
                <a:cs typeface="IBM Plex Sans" pitchFamily="34" charset="-120"/>
              </a:rPr>
              <a:t>Median error of the azimuth recovered from Z, since Uz(fy) / Uz(fx) = −tan α; maximum about 0.5°.</a:t>
            </a:r>
            <a:endParaRPr lang="en-US" sz="1300" dirty="0"/>
          </a:p>
        </p:txBody>
      </p:sp>
      <p:sp>
        <p:nvSpPr>
          <p:cNvPr id="12" name="Shape 10"/>
          <p:cNvSpPr/>
          <p:nvPr/>
        </p:nvSpPr>
        <p:spPr>
          <a:xfrm>
            <a:off x="8134350" y="1581100"/>
            <a:ext cx="3238500" cy="2461171"/>
          </a:xfrm>
          <a:prstGeom prst="roundRect">
            <a:avLst>
              <a:gd name="adj" fmla="val 2838"/>
            </a:avLst>
          </a:prstGeom>
          <a:solidFill>
            <a:srgbClr val="FBFAF6"/>
          </a:solidFill>
          <a:ln w="12700">
            <a:solidFill>
              <a:srgbClr val="D9D4C7"/>
            </a:solidFill>
            <a:prstDash val="solid"/>
          </a:ln>
        </p:spPr>
      </p:sp>
      <p:sp>
        <p:nvSpPr>
          <p:cNvPr id="13" name="Text 11"/>
          <p:cNvSpPr/>
          <p:nvPr/>
        </p:nvSpPr>
        <p:spPr>
          <a:xfrm>
            <a:off x="8369300" y="1816050"/>
            <a:ext cx="2851658" cy="665460"/>
          </a:xfrm>
          <a:prstGeom prst="rect">
            <a:avLst/>
          </a:prstGeom>
          <a:noFill/>
          <a:ln/>
        </p:spPr>
        <p:txBody>
          <a:bodyPr wrap="square" lIns="0" tIns="0" rIns="0" bIns="0" rtlCol="0" anchor="t">
            <a:normAutofit/>
          </a:bodyPr>
          <a:lstStyle/>
          <a:p>
            <a:pPr algn="l" indent="0" marL="0">
              <a:lnSpc>
                <a:spcPts val="5040"/>
              </a:lnSpc>
              <a:buNone/>
            </a:pPr>
            <a:r>
              <a:rPr lang="en-US" sz="4800" b="1" dirty="0">
                <a:solidFill>
                  <a:srgbClr val="1F7A7A"/>
                </a:solidFill>
                <a:latin typeface="EB Garamond" pitchFamily="18" charset="0"/>
                <a:ea typeface="EB Garamond" pitchFamily="18" charset="-122"/>
                <a:cs typeface="EB Garamond" pitchFamily="18" charset="-120"/>
              </a:rPr>
              <a:t>No flip</a:t>
            </a:r>
            <a:endParaRPr lang="en-US" sz="4800" dirty="0"/>
          </a:p>
        </p:txBody>
      </p:sp>
      <p:sp>
        <p:nvSpPr>
          <p:cNvPr id="14" name="Text 12"/>
          <p:cNvSpPr/>
          <p:nvPr/>
        </p:nvSpPr>
        <p:spPr>
          <a:xfrm>
            <a:off x="8369300" y="2545011"/>
            <a:ext cx="2851658"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D2B3A"/>
                </a:solidFill>
                <a:latin typeface="IBM Plex Sans" pitchFamily="34" charset="0"/>
                <a:ea typeface="IBM Plex Sans" pitchFamily="34" charset="-122"/>
                <a:cs typeface="IBM Plex Sans" pitchFamily="34" charset="-120"/>
              </a:rPr>
              <a:t>Polarity</a:t>
            </a:r>
            <a:endParaRPr lang="en-US" sz="1400" dirty="0"/>
          </a:p>
        </p:txBody>
      </p:sp>
      <p:sp>
        <p:nvSpPr>
          <p:cNvPr id="15" name="Text 13"/>
          <p:cNvSpPr/>
          <p:nvPr/>
        </p:nvSpPr>
        <p:spPr>
          <a:xfrm>
            <a:off x="8369300" y="2882801"/>
            <a:ext cx="2851658" cy="94992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4505C"/>
                </a:solidFill>
                <a:latin typeface="IBM Plex Sans" pitchFamily="34" charset="0"/>
                <a:ea typeface="IBM Plex Sans" pitchFamily="34" charset="-122"/>
                <a:cs typeface="IBM Plex Sans" pitchFamily="34" charset="-120"/>
              </a:rPr>
              <a:t>Raw single-force records reverse sign across the source; after weighting by sin α and cos α they do not.</a:t>
            </a:r>
            <a:endParaRPr lang="en-US" sz="1300" dirty="0"/>
          </a:p>
        </p:txBody>
      </p:sp>
      <p:sp>
        <p:nvSpPr>
          <p:cNvPr id="16" name="Shape 14"/>
          <p:cNvSpPr/>
          <p:nvPr/>
        </p:nvSpPr>
        <p:spPr>
          <a:xfrm>
            <a:off x="812800" y="4226421"/>
            <a:ext cx="10566400" cy="835620"/>
          </a:xfrm>
          <a:prstGeom prst="roundRect">
            <a:avLst>
              <a:gd name="adj" fmla="val 9119"/>
            </a:avLst>
          </a:prstGeom>
          <a:solidFill>
            <a:srgbClr val="1D2B3A"/>
          </a:solidFill>
          <a:ln/>
        </p:spPr>
      </p:sp>
      <p:sp>
        <p:nvSpPr>
          <p:cNvPr id="17" name="Text 15"/>
          <p:cNvSpPr/>
          <p:nvPr/>
        </p:nvSpPr>
        <p:spPr>
          <a:xfrm>
            <a:off x="1041400" y="4515644"/>
            <a:ext cx="1962150" cy="282575"/>
          </a:xfrm>
          <a:prstGeom prst="rect">
            <a:avLst/>
          </a:prstGeom>
          <a:noFill/>
          <a:ln/>
        </p:spPr>
        <p:txBody>
          <a:bodyPr wrap="square" lIns="0" tIns="0" rIns="0" bIns="0" rtlCol="0" anchor="t">
            <a:normAutofit/>
          </a:bodyPr>
          <a:lstStyle/>
          <a:p>
            <a:pPr algn="l" indent="0" marL="0">
              <a:lnSpc>
                <a:spcPts val="2025"/>
              </a:lnSpc>
              <a:buNone/>
            </a:pPr>
            <a:r>
              <a:rPr lang="en-US" sz="1500" b="1" dirty="0">
                <a:solidFill>
                  <a:srgbClr val="F6F4EE"/>
                </a:solidFill>
                <a:latin typeface="IBM Plex Sans" pitchFamily="34" charset="0"/>
                <a:ea typeface="IBM Plex Sans" pitchFamily="34" charset="-122"/>
                <a:cs typeface="IBM Plex Sans" pitchFamily="34" charset="-120"/>
              </a:rPr>
              <a:t>Still to verify</a:t>
            </a:r>
            <a:endParaRPr lang="en-US" sz="1500" dirty="0"/>
          </a:p>
        </p:txBody>
      </p:sp>
      <p:sp>
        <p:nvSpPr>
          <p:cNvPr id="18" name="Text 16"/>
          <p:cNvSpPr/>
          <p:nvPr/>
        </p:nvSpPr>
        <p:spPr>
          <a:xfrm>
            <a:off x="3098800" y="4404221"/>
            <a:ext cx="8293354" cy="50542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D5E0E7"/>
                </a:solidFill>
                <a:latin typeface="IBM Plex Sans" pitchFamily="34" charset="0"/>
                <a:ea typeface="IBM Plex Sans" pitchFamily="34" charset="-122"/>
                <a:cs typeface="IBM Plex Sans" pitchFamily="34" charset="-120"/>
              </a:rPr>
              <a:t>Sign of the synthetic TT against the real TT EGFs (cross-correlation convention), before measuring phase delays on all pairs.</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6F4EE"/>
        </a:solidFill>
      </p:bgPr>
    </p:bg>
    <p:spTree>
      <p:nvGrpSpPr>
        <p:cNvPr id="1" name=""/>
        <p:cNvGrpSpPr/>
        <p:nvPr/>
      </p:nvGrpSpPr>
      <p:grpSpPr>
        <a:xfrm>
          <a:off x="0" y="0"/>
          <a:ext cx="0" cy="0"/>
          <a:chOff x="0" y="0"/>
          <a:chExt cx="0" cy="0"/>
        </a:xfrm>
      </p:grpSpPr>
      <p:sp>
        <p:nvSpPr>
          <p:cNvPr id="2" name="Text 0"/>
          <p:cNvSpPr/>
          <p:nvPr/>
        </p:nvSpPr>
        <p:spPr>
          <a:xfrm>
            <a:off x="812800" y="558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F7A7A"/>
                </a:solidFill>
                <a:latin typeface="IBM Plex Sans" pitchFamily="34" charset="0"/>
                <a:ea typeface="IBM Plex Sans" pitchFamily="34" charset="-122"/>
                <a:cs typeface="IBM Plex Sans" pitchFamily="34" charset="-120"/>
              </a:rPr>
              <a:t>7 · IN THE WORKFLOW</a:t>
            </a:r>
            <a:endParaRPr lang="en-US" sz="1200" dirty="0"/>
          </a:p>
        </p:txBody>
      </p:sp>
      <p:sp>
        <p:nvSpPr>
          <p:cNvPr id="3" name="Text 1"/>
          <p:cNvSpPr/>
          <p:nvPr>
            <p:ph type="title"/>
          </p:nvPr>
        </p:nvSpPr>
        <p:spPr>
          <a:xfrm>
            <a:off x="812800" y="9499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D2B3A"/>
                </a:solidFill>
                <a:latin typeface="EB Garamond" pitchFamily="18" charset="0"/>
                <a:ea typeface="EB Garamond" pitchFamily="18" charset="-122"/>
                <a:cs typeface="EB Garamond" pitchFamily="18" charset="-120"/>
              </a:rPr>
              <a:t>Where each rotation happens in the workflow</a:t>
            </a:r>
            <a:endParaRPr lang="en-US" sz="3200" dirty="0"/>
          </a:p>
        </p:txBody>
      </p:sp>
      <p:sp>
        <p:nvSpPr>
          <p:cNvPr id="4" name="Shape 2"/>
          <p:cNvSpPr/>
          <p:nvPr/>
        </p:nvSpPr>
        <p:spPr>
          <a:xfrm>
            <a:off x="819150" y="1581100"/>
            <a:ext cx="10553700" cy="764530"/>
          </a:xfrm>
          <a:prstGeom prst="roundRect">
            <a:avLst>
              <a:gd name="adj" fmla="val 9136"/>
            </a:avLst>
          </a:prstGeom>
          <a:solidFill>
            <a:srgbClr val="FBFAF6"/>
          </a:solidFill>
          <a:ln w="12700">
            <a:solidFill>
              <a:srgbClr val="D9D4C7"/>
            </a:solidFill>
            <a:prstDash val="solid"/>
          </a:ln>
        </p:spPr>
      </p:sp>
      <p:sp>
        <p:nvSpPr>
          <p:cNvPr id="5" name="Text 3"/>
          <p:cNvSpPr/>
          <p:nvPr/>
        </p:nvSpPr>
        <p:spPr>
          <a:xfrm>
            <a:off x="1003300" y="1714450"/>
            <a:ext cx="406400" cy="523230"/>
          </a:xfrm>
          <a:prstGeom prst="rect">
            <a:avLst/>
          </a:prstGeom>
          <a:noFill/>
          <a:ln/>
        </p:spPr>
        <p:txBody>
          <a:bodyPr wrap="square" lIns="0" tIns="0" rIns="0" bIns="0" rtlCol="0" anchor="t">
            <a:normAutofit/>
          </a:bodyPr>
          <a:lstStyle/>
          <a:p>
            <a:pPr algn="l" indent="0" marL="0">
              <a:lnSpc>
                <a:spcPts val="3920"/>
              </a:lnSpc>
              <a:buNone/>
            </a:pPr>
            <a:r>
              <a:rPr lang="en-US" sz="2800" b="1" dirty="0">
                <a:solidFill>
                  <a:srgbClr val="1F7A7A"/>
                </a:solidFill>
                <a:latin typeface="EB Garamond" pitchFamily="18" charset="0"/>
                <a:ea typeface="EB Garamond" pitchFamily="18" charset="-122"/>
                <a:cs typeface="EB Garamond" pitchFamily="18" charset="-120"/>
              </a:rPr>
              <a:t>1</a:t>
            </a:r>
            <a:endParaRPr lang="en-US" sz="2800" dirty="0"/>
          </a:p>
        </p:txBody>
      </p:sp>
      <p:sp>
        <p:nvSpPr>
          <p:cNvPr id="6" name="Text 4"/>
          <p:cNvSpPr/>
          <p:nvPr/>
        </p:nvSpPr>
        <p:spPr>
          <a:xfrm>
            <a:off x="1511300" y="1829991"/>
            <a:ext cx="1765935"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1D2B3A"/>
                </a:solidFill>
                <a:latin typeface="IBM Plex Sans" pitchFamily="34" charset="0"/>
                <a:ea typeface="IBM Plex Sans" pitchFamily="34" charset="-122"/>
                <a:cs typeface="IBM Plex Sans" pitchFamily="34" charset="-120"/>
              </a:rPr>
              <a:t>Simulate</a:t>
            </a:r>
            <a:endParaRPr lang="en-US" sz="1500" dirty="0"/>
          </a:p>
        </p:txBody>
      </p:sp>
      <p:sp>
        <p:nvSpPr>
          <p:cNvPr id="7" name="Text 5"/>
          <p:cNvSpPr/>
          <p:nvPr/>
        </p:nvSpPr>
        <p:spPr>
          <a:xfrm>
            <a:off x="3378200" y="1852216"/>
            <a:ext cx="3401060" cy="247650"/>
          </a:xfrm>
          <a:prstGeom prst="rect">
            <a:avLst/>
          </a:prstGeom>
          <a:noFill/>
          <a:ln/>
        </p:spPr>
        <p:txBody>
          <a:bodyPr wrap="square" lIns="0" tIns="0" rIns="0" bIns="0" rtlCol="0" anchor="t">
            <a:normAutofit/>
          </a:bodyPr>
          <a:lstStyle/>
          <a:p>
            <a:pPr algn="l" indent="0" marL="0">
              <a:lnSpc>
                <a:spcPts val="1750"/>
              </a:lnSpc>
              <a:buNone/>
            </a:pPr>
            <a:r>
              <a:rPr lang="en-US" sz="1250" dirty="0">
                <a:solidFill>
                  <a:srgbClr val="1D2B3A"/>
                </a:solidFill>
                <a:latin typeface="IBM Plex Mono" pitchFamily="49" charset="0"/>
                <a:ea typeface="IBM Plex Mono" pitchFamily="49" charset="-122"/>
                <a:cs typeface="IBM Plex Mono" pitchFamily="49" charset="-120"/>
              </a:rPr>
              <a:t>seis3d_wave in fx/ and fy/</a:t>
            </a:r>
            <a:endParaRPr lang="en-US" sz="1250" dirty="0"/>
          </a:p>
        </p:txBody>
      </p:sp>
      <p:sp>
        <p:nvSpPr>
          <p:cNvPr id="8" name="Text 6"/>
          <p:cNvSpPr/>
          <p:nvPr/>
        </p:nvSpPr>
        <p:spPr>
          <a:xfrm>
            <a:off x="6832600" y="1731913"/>
            <a:ext cx="4512945" cy="488255"/>
          </a:xfrm>
          <a:prstGeom prst="rect">
            <a:avLst/>
          </a:prstGeom>
          <a:noFill/>
          <a:ln/>
        </p:spPr>
        <p:txBody>
          <a:bodyPr wrap="square" lIns="0" tIns="0" rIns="0" bIns="0" rtlCol="0" anchor="t">
            <a:normAutofit/>
          </a:bodyPr>
          <a:lstStyle/>
          <a:p>
            <a:pPr algn="l" indent="0" marL="0">
              <a:lnSpc>
                <a:spcPts val="1823"/>
              </a:lnSpc>
              <a:buNone/>
            </a:pPr>
            <a:r>
              <a:rPr lang="en-US" sz="1350" dirty="0">
                <a:solidFill>
                  <a:srgbClr val="44505C"/>
                </a:solidFill>
                <a:latin typeface="IBM Plex Sans" pitchFamily="34" charset="0"/>
                <a:ea typeface="IBM Plex Sans" pitchFamily="34" charset="-122"/>
                <a:cs typeface="IBM Plex Sans" pitchFamily="34" charset="-120"/>
              </a:rPr>
              <a:t>Nothing rotated yet: two raw single-force wavefields per virtual source.</a:t>
            </a:r>
            <a:endParaRPr lang="en-US" sz="1350" dirty="0"/>
          </a:p>
        </p:txBody>
      </p:sp>
      <p:sp>
        <p:nvSpPr>
          <p:cNvPr id="9" name="Shape 7"/>
          <p:cNvSpPr/>
          <p:nvPr/>
        </p:nvSpPr>
        <p:spPr>
          <a:xfrm>
            <a:off x="819150" y="2472630"/>
            <a:ext cx="10553700" cy="764530"/>
          </a:xfrm>
          <a:prstGeom prst="roundRect">
            <a:avLst>
              <a:gd name="adj" fmla="val 9136"/>
            </a:avLst>
          </a:prstGeom>
          <a:solidFill>
            <a:srgbClr val="FBFAF6"/>
          </a:solidFill>
          <a:ln w="12700">
            <a:solidFill>
              <a:srgbClr val="D9D4C7"/>
            </a:solidFill>
            <a:prstDash val="solid"/>
          </a:ln>
        </p:spPr>
      </p:sp>
      <p:sp>
        <p:nvSpPr>
          <p:cNvPr id="10" name="Text 8"/>
          <p:cNvSpPr/>
          <p:nvPr/>
        </p:nvSpPr>
        <p:spPr>
          <a:xfrm>
            <a:off x="1003300" y="2605980"/>
            <a:ext cx="406400" cy="523230"/>
          </a:xfrm>
          <a:prstGeom prst="rect">
            <a:avLst/>
          </a:prstGeom>
          <a:noFill/>
          <a:ln/>
        </p:spPr>
        <p:txBody>
          <a:bodyPr wrap="square" lIns="0" tIns="0" rIns="0" bIns="0" rtlCol="0" anchor="t">
            <a:normAutofit/>
          </a:bodyPr>
          <a:lstStyle/>
          <a:p>
            <a:pPr algn="l" indent="0" marL="0">
              <a:lnSpc>
                <a:spcPts val="3920"/>
              </a:lnSpc>
              <a:buNone/>
            </a:pPr>
            <a:r>
              <a:rPr lang="en-US" sz="2800" b="1" dirty="0">
                <a:solidFill>
                  <a:srgbClr val="1F7A7A"/>
                </a:solidFill>
                <a:latin typeface="EB Garamond" pitchFamily="18" charset="0"/>
                <a:ea typeface="EB Garamond" pitchFamily="18" charset="-122"/>
                <a:cs typeface="EB Garamond" pitchFamily="18" charset="-120"/>
              </a:rPr>
              <a:t>2</a:t>
            </a:r>
            <a:endParaRPr lang="en-US" sz="2800" dirty="0"/>
          </a:p>
        </p:txBody>
      </p:sp>
      <p:sp>
        <p:nvSpPr>
          <p:cNvPr id="11" name="Text 9"/>
          <p:cNvSpPr/>
          <p:nvPr/>
        </p:nvSpPr>
        <p:spPr>
          <a:xfrm>
            <a:off x="1511300" y="2721521"/>
            <a:ext cx="1765935"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1D2B3A"/>
                </a:solidFill>
                <a:latin typeface="IBM Plex Sans" pitchFamily="34" charset="0"/>
                <a:ea typeface="IBM Plex Sans" pitchFamily="34" charset="-122"/>
                <a:cs typeface="IBM Plex Sans" pitchFamily="34" charset="-120"/>
              </a:rPr>
              <a:t>Synthetic TT</a:t>
            </a:r>
            <a:endParaRPr lang="en-US" sz="1500" dirty="0"/>
          </a:p>
        </p:txBody>
      </p:sp>
      <p:sp>
        <p:nvSpPr>
          <p:cNvPr id="12" name="Text 10"/>
          <p:cNvSpPr/>
          <p:nvPr/>
        </p:nvSpPr>
        <p:spPr>
          <a:xfrm>
            <a:off x="3378200" y="2743746"/>
            <a:ext cx="3401060" cy="247650"/>
          </a:xfrm>
          <a:prstGeom prst="rect">
            <a:avLst/>
          </a:prstGeom>
          <a:noFill/>
          <a:ln/>
        </p:spPr>
        <p:txBody>
          <a:bodyPr wrap="square" lIns="0" tIns="0" rIns="0" bIns="0" rtlCol="0" anchor="t">
            <a:normAutofit/>
          </a:bodyPr>
          <a:lstStyle/>
          <a:p>
            <a:pPr algn="l" indent="0" marL="0">
              <a:lnSpc>
                <a:spcPts val="1750"/>
              </a:lnSpc>
              <a:buNone/>
            </a:pPr>
            <a:r>
              <a:rPr lang="en-US" sz="1250" dirty="0">
                <a:solidFill>
                  <a:srgbClr val="1D2B3A"/>
                </a:solidFill>
                <a:latin typeface="IBM Plex Mono" pitchFamily="49" charset="0"/>
                <a:ea typeface="IBM Plex Mono" pitchFamily="49" charset="-122"/>
                <a:cs typeface="IBM Plex Mono" pitchFamily="49" charset="-120"/>
              </a:rPr>
              <a:t>snap2sac_sphere_fxfy.m</a:t>
            </a:r>
            <a:endParaRPr lang="en-US" sz="1250" dirty="0"/>
          </a:p>
        </p:txBody>
      </p:sp>
      <p:sp>
        <p:nvSpPr>
          <p:cNvPr id="13" name="Text 11"/>
          <p:cNvSpPr/>
          <p:nvPr/>
        </p:nvSpPr>
        <p:spPr>
          <a:xfrm>
            <a:off x="6832600" y="2623443"/>
            <a:ext cx="4512945" cy="488255"/>
          </a:xfrm>
          <a:prstGeom prst="rect">
            <a:avLst/>
          </a:prstGeom>
          <a:noFill/>
          <a:ln/>
        </p:spPr>
        <p:txBody>
          <a:bodyPr wrap="square" lIns="0" tIns="0" rIns="0" bIns="0" rtlCol="0" anchor="t">
            <a:normAutofit/>
          </a:bodyPr>
          <a:lstStyle/>
          <a:p>
            <a:pPr algn="l" indent="0" marL="0">
              <a:lnSpc>
                <a:spcPts val="1823"/>
              </a:lnSpc>
              <a:buNone/>
            </a:pPr>
            <a:r>
              <a:rPr lang="en-US" sz="1350" b="1" dirty="0">
                <a:solidFill>
                  <a:srgbClr val="1D2B3A"/>
                </a:solidFill>
                <a:latin typeface="IBM Plex Sans" pitchFamily="34" charset="0"/>
                <a:ea typeface="IBM Plex Sans" pitchFamily="34" charset="-122"/>
                <a:cs typeface="IBM Plex Sans" pitchFamily="34" charset="-120"/>
              </a:rPr>
              <a:t>Both sides</a:t>
            </a:r>
            <a:r>
              <a:rPr lang="en-US" sz="1350" dirty="0">
                <a:solidFill>
                  <a:srgbClr val="44505C"/>
                </a:solidFill>
                <a:latin typeface="IBM Plex Sans" pitchFamily="34" charset="0"/>
                <a:ea typeface="IBM Plex Sans" pitchFamily="34" charset="-122"/>
                <a:cs typeface="IBM Plex Sans" pitchFamily="34" charset="-120"/>
              </a:rPr>
              <a:t>: writes TT and RR, plus the response to a T force as x, y, z.</a:t>
            </a:r>
            <a:endParaRPr lang="en-US" sz="1350" dirty="0"/>
          </a:p>
        </p:txBody>
      </p:sp>
      <p:sp>
        <p:nvSpPr>
          <p:cNvPr id="14" name="Shape 12"/>
          <p:cNvSpPr/>
          <p:nvPr/>
        </p:nvSpPr>
        <p:spPr>
          <a:xfrm>
            <a:off x="819150" y="3364161"/>
            <a:ext cx="10553700" cy="764530"/>
          </a:xfrm>
          <a:prstGeom prst="roundRect">
            <a:avLst>
              <a:gd name="adj" fmla="val 9136"/>
            </a:avLst>
          </a:prstGeom>
          <a:solidFill>
            <a:srgbClr val="FBFAF6"/>
          </a:solidFill>
          <a:ln w="12700">
            <a:solidFill>
              <a:srgbClr val="D9D4C7"/>
            </a:solidFill>
            <a:prstDash val="solid"/>
          </a:ln>
        </p:spPr>
      </p:sp>
      <p:sp>
        <p:nvSpPr>
          <p:cNvPr id="15" name="Text 13"/>
          <p:cNvSpPr/>
          <p:nvPr/>
        </p:nvSpPr>
        <p:spPr>
          <a:xfrm>
            <a:off x="1003300" y="3497511"/>
            <a:ext cx="406400" cy="523230"/>
          </a:xfrm>
          <a:prstGeom prst="rect">
            <a:avLst/>
          </a:prstGeom>
          <a:noFill/>
          <a:ln/>
        </p:spPr>
        <p:txBody>
          <a:bodyPr wrap="square" lIns="0" tIns="0" rIns="0" bIns="0" rtlCol="0" anchor="t">
            <a:normAutofit/>
          </a:bodyPr>
          <a:lstStyle/>
          <a:p>
            <a:pPr algn="l" indent="0" marL="0">
              <a:lnSpc>
                <a:spcPts val="3920"/>
              </a:lnSpc>
              <a:buNone/>
            </a:pPr>
            <a:r>
              <a:rPr lang="en-US" sz="2800" b="1" dirty="0">
                <a:solidFill>
                  <a:srgbClr val="1F7A7A"/>
                </a:solidFill>
                <a:latin typeface="EB Garamond" pitchFamily="18" charset="0"/>
                <a:ea typeface="EB Garamond" pitchFamily="18" charset="-122"/>
                <a:cs typeface="EB Garamond" pitchFamily="18" charset="-120"/>
              </a:rPr>
              <a:t>3</a:t>
            </a:r>
            <a:endParaRPr lang="en-US" sz="2800" dirty="0"/>
          </a:p>
        </p:txBody>
      </p:sp>
      <p:sp>
        <p:nvSpPr>
          <p:cNvPr id="16" name="Text 14"/>
          <p:cNvSpPr/>
          <p:nvPr/>
        </p:nvSpPr>
        <p:spPr>
          <a:xfrm>
            <a:off x="1511300" y="3613051"/>
            <a:ext cx="1765935"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1D2B3A"/>
                </a:solidFill>
                <a:latin typeface="IBM Plex Sans" pitchFamily="34" charset="0"/>
                <a:ea typeface="IBM Plex Sans" pitchFamily="34" charset="-122"/>
                <a:cs typeface="IBM Plex Sans" pitchFamily="34" charset="-120"/>
              </a:rPr>
              <a:t>Delays and conf</a:t>
            </a:r>
            <a:endParaRPr lang="en-US" sz="1500" dirty="0"/>
          </a:p>
        </p:txBody>
      </p:sp>
      <p:sp>
        <p:nvSpPr>
          <p:cNvPr id="17" name="Text 15"/>
          <p:cNvSpPr/>
          <p:nvPr/>
        </p:nvSpPr>
        <p:spPr>
          <a:xfrm>
            <a:off x="3378200" y="3524151"/>
            <a:ext cx="3401060" cy="469900"/>
          </a:xfrm>
          <a:prstGeom prst="rect">
            <a:avLst/>
          </a:prstGeom>
          <a:noFill/>
          <a:ln/>
        </p:spPr>
        <p:txBody>
          <a:bodyPr wrap="square" lIns="0" tIns="0" rIns="0" bIns="0" rtlCol="0" anchor="t">
            <a:normAutofit/>
          </a:bodyPr>
          <a:lstStyle/>
          <a:p>
            <a:pPr algn="l" indent="0" marL="0">
              <a:lnSpc>
                <a:spcPts val="1750"/>
              </a:lnSpc>
              <a:buNone/>
            </a:pPr>
            <a:r>
              <a:rPr lang="en-US" sz="1250" dirty="0">
                <a:solidFill>
                  <a:srgbClr val="1D2B3A"/>
                </a:solidFill>
                <a:latin typeface="IBM Plex Mono" pitchFamily="49" charset="0"/>
                <a:ea typeface="IBM Plex Mono" pitchFamily="49" charset="-122"/>
                <a:cs typeface="IBM Plex Mono" pitchFamily="49" charset="-120"/>
              </a:rPr>
              <a:t>kern_synthetic4kernel_fxfy.m</a:t>
            </a:r>
            <a:endParaRPr lang="en-US" sz="1250" dirty="0"/>
          </a:p>
          <a:p>
            <a:pPr algn="l" indent="0" marL="0">
              <a:lnSpc>
                <a:spcPts val="1750"/>
              </a:lnSpc>
              <a:buNone/>
            </a:pPr>
            <a:r>
              <a:rPr lang="en-US" sz="1250" dirty="0">
                <a:solidFill>
                  <a:srgbClr val="1D2B3A"/>
                </a:solidFill>
                <a:latin typeface="IBM Plex Mono" pitchFamily="49" charset="0"/>
                <a:ea typeface="IBM Plex Mono" pitchFamily="49" charset="-122"/>
                <a:cs typeface="IBM Plex Mono" pitchFamily="49" charset="-120"/>
              </a:rPr>
              <a:t>kern_measure2kernelconf_fxfy.sh</a:t>
            </a:r>
            <a:endParaRPr lang="en-US" sz="1250" dirty="0"/>
          </a:p>
        </p:txBody>
      </p:sp>
      <p:sp>
        <p:nvSpPr>
          <p:cNvPr id="18" name="Text 16"/>
          <p:cNvSpPr/>
          <p:nvPr/>
        </p:nvSpPr>
        <p:spPr>
          <a:xfrm>
            <a:off x="6832600" y="3514973"/>
            <a:ext cx="4512945" cy="488255"/>
          </a:xfrm>
          <a:prstGeom prst="rect">
            <a:avLst/>
          </a:prstGeom>
          <a:noFill/>
          <a:ln/>
        </p:spPr>
        <p:txBody>
          <a:bodyPr wrap="square" lIns="0" tIns="0" rIns="0" bIns="0" rtlCol="0" anchor="t">
            <a:normAutofit/>
          </a:bodyPr>
          <a:lstStyle/>
          <a:p>
            <a:pPr algn="l" indent="0" marL="0">
              <a:lnSpc>
                <a:spcPts val="1823"/>
              </a:lnSpc>
              <a:buNone/>
            </a:pPr>
            <a:r>
              <a:rPr lang="en-US" sz="1350" dirty="0">
                <a:solidFill>
                  <a:srgbClr val="44505C"/>
                </a:solidFill>
                <a:latin typeface="IBM Plex Sans" pitchFamily="34" charset="0"/>
                <a:ea typeface="IBM Plex Sans" pitchFamily="34" charset="-122"/>
                <a:cs typeface="IBM Plex Sans" pitchFamily="34" charset="-120"/>
              </a:rPr>
              <a:t>Delays measured on TT. The conf keeps </a:t>
            </a:r>
            <a:r>
              <a:rPr lang="en-US" sz="1350" b="1" dirty="0">
                <a:solidFill>
                  <a:srgbClr val="1D2B3A"/>
                </a:solidFill>
                <a:latin typeface="IBM Plex Sans" pitchFamily="34" charset="0"/>
                <a:ea typeface="IBM Plex Sans" pitchFamily="34" charset="-122"/>
                <a:cs typeface="IBM Plex Sans" pitchFamily="34" charset="-120"/>
              </a:rPr>
              <a:t>rot_mat</a:t>
            </a:r>
            <a:r>
              <a:rPr lang="en-US" sz="1350" dirty="0">
                <a:solidFill>
                  <a:srgbClr val="44505C"/>
                </a:solidFill>
                <a:latin typeface="IBM Plex Sans" pitchFamily="34" charset="0"/>
                <a:ea typeface="IBM Plex Sans" pitchFamily="34" charset="-122"/>
                <a:cs typeface="IBM Plex Sans" pitchFamily="34" charset="-120"/>
              </a:rPr>
              <a:t> (receiver) and (sin α, cos α) (source).</a:t>
            </a:r>
            <a:endParaRPr lang="en-US" sz="1350" dirty="0"/>
          </a:p>
        </p:txBody>
      </p:sp>
      <p:sp>
        <p:nvSpPr>
          <p:cNvPr id="19" name="Shape 17"/>
          <p:cNvSpPr/>
          <p:nvPr/>
        </p:nvSpPr>
        <p:spPr>
          <a:xfrm>
            <a:off x="819150" y="4255691"/>
            <a:ext cx="10553700" cy="764530"/>
          </a:xfrm>
          <a:prstGeom prst="roundRect">
            <a:avLst>
              <a:gd name="adj" fmla="val 9136"/>
            </a:avLst>
          </a:prstGeom>
          <a:solidFill>
            <a:srgbClr val="FBFAF6"/>
          </a:solidFill>
          <a:ln w="12700">
            <a:solidFill>
              <a:srgbClr val="D9D4C7"/>
            </a:solidFill>
            <a:prstDash val="solid"/>
          </a:ln>
        </p:spPr>
      </p:sp>
      <p:sp>
        <p:nvSpPr>
          <p:cNvPr id="20" name="Text 18"/>
          <p:cNvSpPr/>
          <p:nvPr/>
        </p:nvSpPr>
        <p:spPr>
          <a:xfrm>
            <a:off x="1003300" y="4389041"/>
            <a:ext cx="406400" cy="523230"/>
          </a:xfrm>
          <a:prstGeom prst="rect">
            <a:avLst/>
          </a:prstGeom>
          <a:noFill/>
          <a:ln/>
        </p:spPr>
        <p:txBody>
          <a:bodyPr wrap="square" lIns="0" tIns="0" rIns="0" bIns="0" rtlCol="0" anchor="t">
            <a:normAutofit/>
          </a:bodyPr>
          <a:lstStyle/>
          <a:p>
            <a:pPr algn="l" indent="0" marL="0">
              <a:lnSpc>
                <a:spcPts val="3920"/>
              </a:lnSpc>
              <a:buNone/>
            </a:pPr>
            <a:r>
              <a:rPr lang="en-US" sz="2800" b="1" dirty="0">
                <a:solidFill>
                  <a:srgbClr val="1F7A7A"/>
                </a:solidFill>
                <a:latin typeface="EB Garamond" pitchFamily="18" charset="0"/>
                <a:ea typeface="EB Garamond" pitchFamily="18" charset="-122"/>
                <a:cs typeface="EB Garamond" pitchFamily="18" charset="-120"/>
              </a:rPr>
              <a:t>4</a:t>
            </a:r>
            <a:endParaRPr lang="en-US" sz="2800" dirty="0"/>
          </a:p>
        </p:txBody>
      </p:sp>
      <p:sp>
        <p:nvSpPr>
          <p:cNvPr id="21" name="Text 19"/>
          <p:cNvSpPr/>
          <p:nvPr/>
        </p:nvSpPr>
        <p:spPr>
          <a:xfrm>
            <a:off x="1511300" y="4504581"/>
            <a:ext cx="1765935"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1D2B3A"/>
                </a:solidFill>
                <a:latin typeface="IBM Plex Sans" pitchFamily="34" charset="0"/>
                <a:ea typeface="IBM Plex Sans" pitchFamily="34" charset="-122"/>
                <a:cs typeface="IBM Plex Sans" pitchFamily="34" charset="-120"/>
              </a:rPr>
              <a:t>Kernels</a:t>
            </a:r>
            <a:endParaRPr lang="en-US" sz="1500" dirty="0"/>
          </a:p>
        </p:txBody>
      </p:sp>
      <p:sp>
        <p:nvSpPr>
          <p:cNvPr id="22" name="Text 20"/>
          <p:cNvSpPr/>
          <p:nvPr/>
        </p:nvSpPr>
        <p:spPr>
          <a:xfrm>
            <a:off x="3378200" y="4526806"/>
            <a:ext cx="3401060" cy="247650"/>
          </a:xfrm>
          <a:prstGeom prst="rect">
            <a:avLst/>
          </a:prstGeom>
          <a:noFill/>
          <a:ln/>
        </p:spPr>
        <p:txBody>
          <a:bodyPr wrap="square" lIns="0" tIns="0" rIns="0" bIns="0" rtlCol="0" anchor="t">
            <a:normAutofit/>
          </a:bodyPr>
          <a:lstStyle/>
          <a:p>
            <a:pPr algn="l" indent="0" marL="0">
              <a:lnSpc>
                <a:spcPts val="1750"/>
              </a:lnSpc>
              <a:buNone/>
            </a:pPr>
            <a:r>
              <a:rPr lang="en-US" sz="1250" dirty="0">
                <a:solidFill>
                  <a:srgbClr val="1D2B3A"/>
                </a:solidFill>
                <a:latin typeface="IBM Plex Mono" pitchFamily="49" charset="0"/>
                <a:ea typeface="IBM Plex Mono" pitchFamily="49" charset="-122"/>
                <a:cs typeface="IBM Plex Mono" pitchFamily="49" charset="-120"/>
              </a:rPr>
              <a:t>SI_ker_sta_fxyz.F90</a:t>
            </a:r>
            <a:endParaRPr lang="en-US" sz="1250" dirty="0"/>
          </a:p>
        </p:txBody>
      </p:sp>
      <p:sp>
        <p:nvSpPr>
          <p:cNvPr id="23" name="Text 21"/>
          <p:cNvSpPr/>
          <p:nvPr/>
        </p:nvSpPr>
        <p:spPr>
          <a:xfrm>
            <a:off x="6832600" y="4406503"/>
            <a:ext cx="4512945" cy="488255"/>
          </a:xfrm>
          <a:prstGeom prst="rect">
            <a:avLst/>
          </a:prstGeom>
          <a:noFill/>
          <a:ln/>
        </p:spPr>
        <p:txBody>
          <a:bodyPr wrap="square" lIns="0" tIns="0" rIns="0" bIns="0" rtlCol="0" anchor="t">
            <a:normAutofit/>
          </a:bodyPr>
          <a:lstStyle/>
          <a:p>
            <a:pPr algn="l" indent="0" marL="0">
              <a:lnSpc>
                <a:spcPts val="1823"/>
              </a:lnSpc>
              <a:buNone/>
            </a:pPr>
            <a:r>
              <a:rPr lang="en-US" sz="1350" b="1" dirty="0">
                <a:solidFill>
                  <a:srgbClr val="1D2B3A"/>
                </a:solidFill>
                <a:latin typeface="IBM Plex Sans" pitchFamily="34" charset="0"/>
                <a:ea typeface="IBM Plex Sans" pitchFamily="34" charset="-122"/>
                <a:cs typeface="IBM Plex Sans" pitchFamily="34" charset="-120"/>
              </a:rPr>
              <a:t>Receiver</a:t>
            </a:r>
            <a:r>
              <a:rPr lang="en-US" sz="1350" dirty="0">
                <a:solidFill>
                  <a:srgbClr val="44505C"/>
                </a:solidFill>
                <a:latin typeface="IBM Plex Sans" pitchFamily="34" charset="0"/>
                <a:ea typeface="IBM Plex Sans" pitchFamily="34" charset="-122"/>
                <a:cs typeface="IBM Plex Sans" pitchFamily="34" charset="-120"/>
              </a:rPr>
              <a:t>: rot_mat applied before the convolution. </a:t>
            </a:r>
            <a:r>
              <a:rPr lang="en-US" sz="1350" b="1" dirty="0">
                <a:solidFill>
                  <a:srgbClr val="1D2B3A"/>
                </a:solidFill>
                <a:latin typeface="IBM Plex Sans" pitchFamily="34" charset="0"/>
                <a:ea typeface="IBM Plex Sans" pitchFamily="34" charset="-122"/>
                <a:cs typeface="IBM Plex Sans" pitchFamily="34" charset="-120"/>
              </a:rPr>
              <a:t>Source</a:t>
            </a:r>
            <a:r>
              <a:rPr lang="en-US" sz="1350" dirty="0">
                <a:solidFill>
                  <a:srgbClr val="44505C"/>
                </a:solidFill>
                <a:latin typeface="IBM Plex Sans" pitchFamily="34" charset="0"/>
                <a:ea typeface="IBM Plex Sans" pitchFamily="34" charset="-122"/>
                <a:cs typeface="IBM Plex Sans" pitchFamily="34" charset="-120"/>
              </a:rPr>
              <a:t>: sin α · fx + cos α · fy event strains.</a:t>
            </a:r>
            <a:endParaRPr lang="en-US" sz="1350" dirty="0"/>
          </a:p>
        </p:txBody>
      </p:sp>
    </p:spTree>
  </p:cSld>
  <p:clrMapOvr>
    <a:masterClrMapping/>
  </p:clrMapOvr>
</p:sld>
</file>

<file path=ppt/theme/theme1.xml><?xml version="1.0" encoding="utf-8"?>
<a:theme xmlns:a="http://schemas.openxmlformats.org/drawingml/2006/main" name="Love waves from fx and fy runs">
  <a:themeElements>
    <a:clrScheme name="Love waves from fx and fy runs">
      <a:dk1>
        <a:srgbClr val="44505C"/>
      </a:dk1>
      <a:lt1>
        <a:srgbClr val="F6F4EE"/>
      </a:lt1>
      <a:dk2>
        <a:srgbClr val="717981"/>
      </a:dk2>
      <a:lt2>
        <a:srgbClr val="E4E4DF"/>
      </a:lt2>
      <a:accent1>
        <a:srgbClr val="1F7A7A"/>
      </a:accent1>
      <a:accent2>
        <a:srgbClr val="B4531E"/>
      </a:accent2>
      <a:accent3>
        <a:srgbClr val="7FD1CB"/>
      </a:accent3>
      <a:accent4>
        <a:srgbClr val="1D2B3A"/>
      </a:accent4>
      <a:accent5>
        <a:srgbClr val="BFD0DA"/>
      </a:accent5>
      <a:accent6>
        <a:srgbClr val="D5E0E7"/>
      </a:accent6>
      <a:hlink>
        <a:srgbClr val="0563C1"/>
      </a:hlink>
      <a:folHlink>
        <a:srgbClr val="954F72"/>
      </a:folHlink>
    </a:clrScheme>
    <a:fontScheme name="Love waves from fx and fy runs">
      <a:majorFont>
        <a:latin typeface="EB Garamond"/>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BM Plex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Love waves from fx and fy runs</dc:title>
  <dc:subject/>
  <dc:creator/>
  <cp:lastModifiedBy/>
  <cp:revision>1</cp:revision>
  <dcterms:created xsi:type="dcterms:W3CDTF">2026-10-16T03:38:38Z</dcterms:created>
  <dcterms:modified xsi:type="dcterms:W3CDTF">2026-10-16T03:38:38Z</dcterms:modified>
</cp:coreProperties>
</file>