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embeddedFontLst>
    <p:embeddedFont>
      <p:font typeface="EB Garamond" pitchFamily="18" charset="0"/>
      <p:regular r:id="rId18"/>
      <p:bold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font" Target="fonts/font1.fntdata"/><Relationship Id="rId19"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of the talk: agree on what is rotated where, before the kernel code is patched. Rayleigh (ZZ) and Love (TT) projects stay separate; this is only about the TT simulations.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polarity reversal seen in the fy run is exactly this: Love amplitude goes like sin(alpha) for an fx force, so receivers on the other side of the source get the opposite sign, and receivers along the force axis get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flat plane beta = alpha + 180 and the source and receiver arrows coincide. On the sphere they differ by the convergence of meridians, so we keep both pairs. T uses the same handedness at both ends, which matches obspy rotate_ne_rt.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Source-side rotation answers the question: what would the receiver record if the virtual source had pushed across the path to this particular receiver? The weights depend on alpha, so each receiver gets its own mix of the two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Receiver-side rotation is the familiar one. It uses beta, the back azimuth, because T and R are defined by the local propagation direction at the receiver. If the source force really is transverse, the R and Z parts are small leakage, which we use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pair of vectors gives every combination. Only TT and RR carry signal. RT, TR and ZT are not used further; they are our test that the geometry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Leakage and azimuth tests used the fx and fy runs from the Rio Grande project. The remaining open item is the sign convention between the EGF TT and the synthetic TT; a few stations with high SNR are enough to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SI_ker_sta_fxyz.F90 for TT (it also runs fz-only ZZ lines). The original SI_ker_sta.F90 would ignore the source weights and silently use only one event run, so the kernels would be wrong for most azimuths. Both runs must use the same force amplitude, because the program mixes the raw event SGTs with weights sin α and cos 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kernel is linear in the source run, so the new TT kernel must equal sin α times the old-code fx kernel plus cos α times the old-code fy kernel; that identity is the validation test on the later slide. KSTANM, from the station list, selects the SGT_ROOT runs (receiver side) and KEVNM, the first token of the pair line, selects the EVENT_ROOT runs. The assembly step reads only the kernel files in the pick-line folders and ignores the trailing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figure is for the ZZ run, relative to the old code. The FFT speed-up is from the student's modified version of the old ZZ code in a sandbox test (transform length the next power of two at or above 2 nt - 1, 16 FFTs per cell for ZZ); it is not part of the fxyz code yet. The plan is to port it into SI_ker_sta_fxyz after the student finishes the full validation, and to use the current fxyz version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uses draw_kernel_spher_compare.m with ker_dir = {{sim.kernel_fx, sim.kernel_fy}, {sim.kernel_validate}} and the weights sin α and cos α taken from the pair line. For the old-code runs, SGT_STAZ was pointed to the fx output because the z weight is exactly zero for TT. The agreement of about 1e-11 is the double-precision round-off level, so the new code reproduces the old one for any azimuth.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9499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D2B3A"/>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701750"/>
            <a:ext cx="10566400" cy="4343450"/>
          </a:xfrm>
          <a:prstGeom prst="rect">
            <a:avLst/>
          </a:prstGeom>
          <a:noFill/>
          <a:ln/>
        </p:spPr>
        <p:txBody>
          <a:bodyPr wrap="square" lIns="0" tIns="0" rIns="0" bIns="0" rtlCol="0" anchor="t"/>
          <a:lstStyle>
            <a:lvl1pPr algn="l" indent="0" marL="0">
              <a:lnSpc>
                <a:spcPct val="140000"/>
              </a:lnSpc>
              <a:buNone/>
              <a:defRPr lang="en-US" sz="1600" dirty="0">
                <a:solidFill>
                  <a:srgbClr val="1D2B3A"/>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949920"/>
            <a:ext cx="10566400" cy="447030"/>
          </a:xfrm>
          <a:prstGeom prst="rect">
            <a:avLst/>
          </a:prstGeom>
          <a:noFill/>
          <a:ln/>
        </p:spPr>
        <p:txBody>
          <a:bodyPr wrap="square" lIns="0" tIns="0" rIns="0" bIns="0" rtlCol="0" anchor="t"/>
          <a:lstStyle>
            <a:lvl1pPr algn="l" indent="0" marL="0">
              <a:lnSpc>
                <a:spcPct val="115000"/>
              </a:lnSpc>
              <a:buNone/>
              <a:defRPr lang="en-US" sz="3200" dirty="0">
                <a:solidFill>
                  <a:srgbClr val="1D2B3A"/>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701750"/>
            <a:ext cx="10566400" cy="4343450"/>
          </a:xfrm>
          <a:prstGeom prst="rect">
            <a:avLst/>
          </a:prstGeom>
          <a:noFill/>
          <a:ln/>
        </p:spPr>
        <p:txBody>
          <a:bodyPr wrap="square" lIns="0" tIns="0" rIns="0" bIns="0" rtlCol="0" anchor="t"/>
          <a:lstStyle>
            <a:lvl1pPr algn="l" indent="0" marL="0">
              <a:lnSpc>
                <a:spcPct val="140000"/>
              </a:lnSpc>
              <a:buNone/>
              <a:defRPr lang="en-US" sz="1600" dirty="0">
                <a:solidFill>
                  <a:srgbClr val="1D2B3A"/>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B3A"/>
        </a:solidFill>
      </p:bgPr>
    </p:bg>
    <p:spTree>
      <p:nvGrpSpPr>
        <p:cNvPr id="1" name=""/>
        <p:cNvGrpSpPr/>
        <p:nvPr/>
      </p:nvGrpSpPr>
      <p:grpSpPr>
        <a:xfrm>
          <a:off x="0" y="0"/>
          <a:ext cx="0" cy="0"/>
          <a:chOff x="0" y="0"/>
          <a:chExt cx="0" cy="0"/>
        </a:xfrm>
      </p:grpSpPr>
      <p:sp>
        <p:nvSpPr>
          <p:cNvPr id="2" name="Text 0"/>
          <p:cNvSpPr/>
          <p:nvPr/>
        </p:nvSpPr>
        <p:spPr>
          <a:xfrm>
            <a:off x="812800" y="19685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7FD1CB"/>
                </a:solidFill>
                <a:latin typeface="IBM Plex Sans" pitchFamily="34" charset="0"/>
                <a:ea typeface="IBM Plex Sans" pitchFamily="34" charset="-122"/>
                <a:cs typeface="IBM Plex Sans" pitchFamily="34" charset="-120"/>
              </a:rPr>
              <a:t>FWANT · LOVE-WAVE (TT) EXTENSION</a:t>
            </a:r>
            <a:endParaRPr lang="en-US" sz="1400" dirty="0"/>
          </a:p>
        </p:txBody>
      </p:sp>
      <p:sp>
        <p:nvSpPr>
          <p:cNvPr id="3" name="Text 1"/>
          <p:cNvSpPr/>
          <p:nvPr>
            <p:ph type="title"/>
          </p:nvPr>
        </p:nvSpPr>
        <p:spPr>
          <a:xfrm>
            <a:off x="812800" y="242570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4EE"/>
                </a:solidFill>
                <a:latin typeface="EB Garamond" pitchFamily="18" charset="0"/>
                <a:ea typeface="EB Garamond" pitchFamily="18" charset="-122"/>
                <a:cs typeface="EB Garamond" pitchFamily="18" charset="-120"/>
              </a:rPr>
              <a:t>Rotating fx and fy runs into TT and RR</a:t>
            </a:r>
            <a:endParaRPr lang="en-US" sz="6000" dirty="0"/>
          </a:p>
        </p:txBody>
      </p:sp>
      <p:sp>
        <p:nvSpPr>
          <p:cNvPr id="4" name="Text 2"/>
          <p:cNvSpPr/>
          <p:nvPr/>
        </p:nvSpPr>
        <p:spPr>
          <a:xfrm>
            <a:off x="812800" y="4229100"/>
            <a:ext cx="6352256"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FD0DA"/>
                </a:solidFill>
                <a:latin typeface="IBM Plex Sans" pitchFamily="34" charset="0"/>
                <a:ea typeface="IBM Plex Sans" pitchFamily="34" charset="-122"/>
                <a:cs typeface="IBM Plex Sans" pitchFamily="34" charset="-120"/>
              </a:rPr>
              <a:t>What source-side and receiver-side rotation mean, and why we need both</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1 · THE PROBLEM</a:t>
            </a:r>
            <a:endParaRPr lang="en-US" sz="1200" dirty="0"/>
          </a:p>
        </p:txBody>
      </p:sp>
      <p:sp>
        <p:nvSpPr>
          <p:cNvPr id="3" name="Text 1"/>
          <p:cNvSpPr/>
          <p:nvPr>
            <p:ph type="title"/>
          </p:nvPr>
        </p:nvSpPr>
        <p:spPr>
          <a:xfrm>
            <a:off x="812800" y="949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One horizontal force cannot give Love waves at every azimuth</a:t>
            </a:r>
            <a:endParaRPr lang="en-US" sz="3200" dirty="0"/>
          </a:p>
        </p:txBody>
      </p:sp>
      <p:sp>
        <p:nvSpPr>
          <p:cNvPr id="4" name="Text 2"/>
          <p:cNvSpPr/>
          <p:nvPr/>
        </p:nvSpPr>
        <p:spPr>
          <a:xfrm>
            <a:off x="812800" y="1574750"/>
            <a:ext cx="418592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 horizontal force excites </a:t>
            </a:r>
            <a:r>
              <a:rPr lang="en-US" sz="1500" b="1" dirty="0">
                <a:solidFill>
                  <a:srgbClr val="B4531E"/>
                </a:solidFill>
                <a:latin typeface="IBM Plex Sans" pitchFamily="34" charset="0"/>
                <a:ea typeface="IBM Plex Sans" pitchFamily="34" charset="-122"/>
                <a:cs typeface="IBM Plex Sans" pitchFamily="34" charset="-120"/>
              </a:rPr>
              <a:t>Rayleigh</a:t>
            </a:r>
            <a:r>
              <a:rPr lang="en-US" sz="1500" dirty="0">
                <a:solidFill>
                  <a:srgbClr val="44505C"/>
                </a:solidFill>
                <a:latin typeface="IBM Plex Sans" pitchFamily="34" charset="0"/>
                <a:ea typeface="IBM Plex Sans" pitchFamily="34" charset="-122"/>
                <a:cs typeface="IBM Plex Sans" pitchFamily="34" charset="-120"/>
              </a:rPr>
              <a:t> with its component </a:t>
            </a:r>
            <a:r>
              <a:rPr lang="en-US" sz="1500" b="1" dirty="0">
                <a:solidFill>
                  <a:srgbClr val="1D2B3A"/>
                </a:solidFill>
                <a:latin typeface="IBM Plex Sans" pitchFamily="34" charset="0"/>
                <a:ea typeface="IBM Plex Sans" pitchFamily="34" charset="-122"/>
                <a:cs typeface="IBM Plex Sans" pitchFamily="34" charset="-120"/>
              </a:rPr>
              <a:t>along</a:t>
            </a:r>
            <a:r>
              <a:rPr lang="en-US" sz="1500" dirty="0">
                <a:solidFill>
                  <a:srgbClr val="44505C"/>
                </a:solidFill>
                <a:latin typeface="IBM Plex Sans" pitchFamily="34" charset="0"/>
                <a:ea typeface="IBM Plex Sans" pitchFamily="34" charset="-122"/>
                <a:cs typeface="IBM Plex Sans" pitchFamily="34" charset="-120"/>
              </a:rPr>
              <a:t> the path and </a:t>
            </a:r>
            <a:r>
              <a:rPr lang="en-US" sz="1500" b="1" dirty="0">
                <a:solidFill>
                  <a:srgbClr val="1F7A7A"/>
                </a:solidFill>
                <a:latin typeface="IBM Plex Sans" pitchFamily="34" charset="0"/>
                <a:ea typeface="IBM Plex Sans" pitchFamily="34" charset="-122"/>
                <a:cs typeface="IBM Plex Sans" pitchFamily="34" charset="-120"/>
              </a:rPr>
              <a:t>Love</a:t>
            </a:r>
            <a:r>
              <a:rPr lang="en-US" sz="1500" dirty="0">
                <a:solidFill>
                  <a:srgbClr val="44505C"/>
                </a:solidFill>
                <a:latin typeface="IBM Plex Sans" pitchFamily="34" charset="0"/>
                <a:ea typeface="IBM Plex Sans" pitchFamily="34" charset="-122"/>
                <a:cs typeface="IBM Plex Sans" pitchFamily="34" charset="-120"/>
              </a:rPr>
              <a:t> with its component </a:t>
            </a:r>
            <a:r>
              <a:rPr lang="en-US" sz="1500" b="1" dirty="0">
                <a:solidFill>
                  <a:srgbClr val="1D2B3A"/>
                </a:solidFill>
                <a:latin typeface="IBM Plex Sans" pitchFamily="34" charset="0"/>
                <a:ea typeface="IBM Plex Sans" pitchFamily="34" charset="-122"/>
                <a:cs typeface="IBM Plex Sans" pitchFamily="34" charset="-120"/>
              </a:rPr>
              <a:t>across</a:t>
            </a:r>
            <a:r>
              <a:rPr lang="en-US" sz="1500" dirty="0">
                <a:solidFill>
                  <a:srgbClr val="44505C"/>
                </a:solidFill>
                <a:latin typeface="IBM Plex Sans" pitchFamily="34" charset="0"/>
                <a:ea typeface="IBM Plex Sans" pitchFamily="34" charset="-122"/>
                <a:cs typeface="IBM Plex Sans" pitchFamily="34" charset="-120"/>
              </a:rPr>
              <a:t> the path.</a:t>
            </a:r>
            <a:endParaRPr lang="en-US" sz="1500" dirty="0"/>
          </a:p>
        </p:txBody>
      </p:sp>
      <p:sp>
        <p:nvSpPr>
          <p:cNvPr id="5" name="Text 3"/>
          <p:cNvSpPr/>
          <p:nvPr/>
        </p:nvSpPr>
        <p:spPr>
          <a:xfrm>
            <a:off x="812800" y="2514550"/>
            <a:ext cx="418592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 single force toward south therefore flips the sign of Love between east and west receivers, and gives </a:t>
            </a:r>
            <a:r>
              <a:rPr lang="en-US" sz="1500" b="1" dirty="0">
                <a:solidFill>
                  <a:srgbClr val="1D2B3A"/>
                </a:solidFill>
                <a:latin typeface="IBM Plex Sans" pitchFamily="34" charset="0"/>
                <a:ea typeface="IBM Plex Sans" pitchFamily="34" charset="-122"/>
                <a:cs typeface="IBM Plex Sans" pitchFamily="34" charset="-120"/>
              </a:rPr>
              <a:t>zero Love</a:t>
            </a:r>
            <a:r>
              <a:rPr lang="en-US" sz="1500" dirty="0">
                <a:solidFill>
                  <a:srgbClr val="44505C"/>
                </a:solidFill>
                <a:latin typeface="IBM Plex Sans" pitchFamily="34" charset="0"/>
                <a:ea typeface="IBM Plex Sans" pitchFamily="34" charset="-122"/>
                <a:cs typeface="IBM Plex Sans" pitchFamily="34" charset="-120"/>
              </a:rPr>
              <a:t> to the north and south.</a:t>
            </a:r>
            <a:endParaRPr lang="en-US" sz="1500" dirty="0"/>
          </a:p>
        </p:txBody>
      </p:sp>
      <p:sp>
        <p:nvSpPr>
          <p:cNvPr id="6" name="Text 4"/>
          <p:cNvSpPr/>
          <p:nvPr/>
        </p:nvSpPr>
        <p:spPr>
          <a:xfrm>
            <a:off x="812800" y="3454350"/>
            <a:ext cx="418592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One run cannot give TT for every azimuth. Two orthogonal runs, </a:t>
            </a:r>
            <a:r>
              <a:rPr lang="en-US" sz="1500" b="1" dirty="0">
                <a:solidFill>
                  <a:srgbClr val="1D2B3A"/>
                </a:solidFill>
                <a:latin typeface="IBM Plex Sans" pitchFamily="34" charset="0"/>
                <a:ea typeface="IBM Plex Sans" pitchFamily="34" charset="-122"/>
                <a:cs typeface="IBM Plex Sans" pitchFamily="34" charset="-120"/>
              </a:rPr>
              <a:t>fx and fy</a:t>
            </a:r>
            <a:r>
              <a:rPr lang="en-US" sz="1500" dirty="0">
                <a:solidFill>
                  <a:srgbClr val="44505C"/>
                </a:solidFill>
                <a:latin typeface="IBM Plex Sans" pitchFamily="34" charset="0"/>
                <a:ea typeface="IBM Plex Sans" pitchFamily="34" charset="-122"/>
                <a:cs typeface="IBM Plex Sans" pitchFamily="34" charset="-120"/>
              </a:rPr>
              <a:t>, can: any horizontal force is a mix of them.</a:t>
            </a:r>
            <a:endParaRPr lang="en-US" sz="1500" dirty="0"/>
          </a:p>
        </p:txBody>
      </p:sp>
      <p:pic>
        <p:nvPicPr>
          <p:cNvPr id="7" name="Image 0" descr="Virtual source at the centre with a force pointing south and receivers to the east, west, north and south">    </p:cNvPr>
          <p:cNvPicPr>
            <a:picLocks noChangeAspect="1"/>
          </p:cNvPicPr>
          <p:nvPr/>
        </p:nvPicPr>
        <p:blipFill>
          <a:blip r:embed="rId1"/>
          <a:srcRect l="0" r="0" t="0" b="0"/>
          <a:stretch/>
        </p:blipFill>
        <p:spPr>
          <a:xfrm>
            <a:off x="5283200" y="1574750"/>
            <a:ext cx="6096000" cy="4445000"/>
          </a:xfrm>
          <a:prstGeom prst="rect">
            <a:avLst/>
          </a:prstGeom>
        </p:spPr>
      </p:pic>
      <p:sp>
        <p:nvSpPr>
          <p:cNvPr id="8" name="Text 5"/>
          <p:cNvSpPr/>
          <p:nvPr/>
        </p:nvSpPr>
        <p:spPr>
          <a:xfrm>
            <a:off x="6819900" y="3365450"/>
            <a:ext cx="1384300" cy="215900"/>
          </a:xfrm>
          <a:prstGeom prst="rect">
            <a:avLst/>
          </a:prstGeom>
          <a:noFill/>
          <a:ln/>
        </p:spPr>
        <p:txBody>
          <a:bodyPr wrap="square" lIns="0" tIns="0" rIns="0" bIns="0" rtlCol="0" anchor="t">
            <a:normAutofit/>
          </a:bodyPr>
          <a:lstStyle/>
          <a:p>
            <a:pPr algn="r" indent="0" marL="0">
              <a:lnSpc>
                <a:spcPts val="1500"/>
              </a:lnSpc>
              <a:buNone/>
            </a:pPr>
            <a:r>
              <a:rPr lang="en-US" sz="1200" b="1" dirty="0">
                <a:solidFill>
                  <a:srgbClr val="1D2B3A"/>
                </a:solidFill>
                <a:latin typeface="IBM Plex Sans" pitchFamily="34" charset="0"/>
                <a:ea typeface="IBM Plex Sans" pitchFamily="34" charset="-122"/>
                <a:cs typeface="IBM Plex Sans" pitchFamily="34" charset="-120"/>
              </a:rPr>
              <a:t>virtual source</a:t>
            </a:r>
            <a:endParaRPr lang="en-US" sz="1200" dirty="0"/>
          </a:p>
        </p:txBody>
      </p:sp>
      <p:sp>
        <p:nvSpPr>
          <p:cNvPr id="9" name="Text 6"/>
          <p:cNvSpPr/>
          <p:nvPr/>
        </p:nvSpPr>
        <p:spPr>
          <a:xfrm>
            <a:off x="8483600" y="4464000"/>
            <a:ext cx="1701800"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D2B3A"/>
                </a:solidFill>
                <a:latin typeface="IBM Plex Sans" pitchFamily="34" charset="0"/>
                <a:ea typeface="IBM Plex Sans" pitchFamily="34" charset="-122"/>
                <a:cs typeface="IBM Plex Sans" pitchFamily="34" charset="-120"/>
              </a:rPr>
              <a:t>force fx (south)</a:t>
            </a:r>
            <a:endParaRPr lang="en-US" sz="1300" dirty="0"/>
          </a:p>
        </p:txBody>
      </p:sp>
      <p:sp>
        <p:nvSpPr>
          <p:cNvPr id="10" name="Text 7"/>
          <p:cNvSpPr/>
          <p:nvPr/>
        </p:nvSpPr>
        <p:spPr>
          <a:xfrm>
            <a:off x="9664700" y="4025850"/>
            <a:ext cx="1638300" cy="644525"/>
          </a:xfrm>
          <a:prstGeom prst="rect">
            <a:avLst/>
          </a:prstGeom>
          <a:noFill/>
          <a:ln/>
        </p:spPr>
        <p:txBody>
          <a:bodyPr wrap="square" lIns="0" tIns="0" rIns="0" bIns="0" rtlCol="0" anchor="t">
            <a:normAutofit/>
          </a:bodyPr>
          <a:lstStyle/>
          <a:p>
            <a:pPr algn="l" indent="0" marL="0">
              <a:lnSpc>
                <a:spcPts val="1625"/>
              </a:lnSpc>
              <a:buNone/>
            </a:pPr>
            <a:r>
              <a:rPr lang="en-US" sz="1300" dirty="0">
                <a:solidFill>
                  <a:srgbClr val="44505C"/>
                </a:solidFill>
                <a:latin typeface="IBM Plex Sans" pitchFamily="34" charset="0"/>
                <a:ea typeface="IBM Plex Sans" pitchFamily="34" charset="-122"/>
                <a:cs typeface="IBM Plex Sans" pitchFamily="34" charset="-120"/>
              </a:rPr>
              <a:t>East</a:t>
            </a:r>
            <a:endParaRPr lang="en-US" sz="1300" dirty="0"/>
          </a:p>
          <a:p>
            <a:pPr algn="l" indent="0" marL="0">
              <a:lnSpc>
                <a:spcPts val="1625"/>
              </a:lnSpc>
              <a:buNone/>
            </a:pPr>
            <a:r>
              <a:rPr lang="en-US" sz="1300" b="1" dirty="0">
                <a:solidFill>
                  <a:srgbClr val="1F7A7A"/>
                </a:solidFill>
                <a:latin typeface="IBM Plex Sans" pitchFamily="34" charset="0"/>
                <a:ea typeface="IBM Plex Sans" pitchFamily="34" charset="-122"/>
                <a:cs typeface="IBM Plex Sans" pitchFamily="34" charset="-120"/>
              </a:rPr>
              <a:t>Love +1</a:t>
            </a:r>
            <a:endParaRPr lang="en-US" sz="1300" dirty="0"/>
          </a:p>
          <a:p>
            <a:pPr algn="l" indent="0" marL="0">
              <a:lnSpc>
                <a:spcPts val="1625"/>
              </a:lnSpc>
              <a:buNone/>
            </a:pPr>
            <a:r>
              <a:rPr lang="en-US" sz="1300" b="1" dirty="0">
                <a:solidFill>
                  <a:srgbClr val="B4531E"/>
                </a:solidFill>
                <a:latin typeface="IBM Plex Sans" pitchFamily="34" charset="0"/>
                <a:ea typeface="IBM Plex Sans" pitchFamily="34" charset="-122"/>
                <a:cs typeface="IBM Plex Sans" pitchFamily="34" charset="-120"/>
              </a:rPr>
              <a:t>Rayleigh 0</a:t>
            </a:r>
            <a:endParaRPr lang="en-US" sz="1300" dirty="0"/>
          </a:p>
        </p:txBody>
      </p:sp>
      <p:sp>
        <p:nvSpPr>
          <p:cNvPr id="11" name="Text 8"/>
          <p:cNvSpPr/>
          <p:nvPr/>
        </p:nvSpPr>
        <p:spPr>
          <a:xfrm>
            <a:off x="5537200" y="4025850"/>
            <a:ext cx="1638300" cy="644525"/>
          </a:xfrm>
          <a:prstGeom prst="rect">
            <a:avLst/>
          </a:prstGeom>
          <a:noFill/>
          <a:ln/>
        </p:spPr>
        <p:txBody>
          <a:bodyPr wrap="square" lIns="0" tIns="0" rIns="0" bIns="0" rtlCol="0" anchor="t">
            <a:normAutofit/>
          </a:bodyPr>
          <a:lstStyle/>
          <a:p>
            <a:pPr algn="l" indent="0" marL="0">
              <a:lnSpc>
                <a:spcPts val="1625"/>
              </a:lnSpc>
              <a:buNone/>
            </a:pPr>
            <a:r>
              <a:rPr lang="en-US" sz="1300" dirty="0">
                <a:solidFill>
                  <a:srgbClr val="44505C"/>
                </a:solidFill>
                <a:latin typeface="IBM Plex Sans" pitchFamily="34" charset="0"/>
                <a:ea typeface="IBM Plex Sans" pitchFamily="34" charset="-122"/>
                <a:cs typeface="IBM Plex Sans" pitchFamily="34" charset="-120"/>
              </a:rPr>
              <a:t>West</a:t>
            </a:r>
            <a:endParaRPr lang="en-US" sz="1300" dirty="0"/>
          </a:p>
          <a:p>
            <a:pPr algn="l" indent="0" marL="0">
              <a:lnSpc>
                <a:spcPts val="1625"/>
              </a:lnSpc>
              <a:buNone/>
            </a:pPr>
            <a:r>
              <a:rPr lang="en-US" sz="1300" b="1" dirty="0">
                <a:solidFill>
                  <a:srgbClr val="1F7A7A"/>
                </a:solidFill>
                <a:latin typeface="IBM Plex Sans" pitchFamily="34" charset="0"/>
                <a:ea typeface="IBM Plex Sans" pitchFamily="34" charset="-122"/>
                <a:cs typeface="IBM Plex Sans" pitchFamily="34" charset="-120"/>
              </a:rPr>
              <a:t>Love −1</a:t>
            </a:r>
            <a:endParaRPr lang="en-US" sz="1300" dirty="0"/>
          </a:p>
          <a:p>
            <a:pPr algn="l" indent="0" marL="0">
              <a:lnSpc>
                <a:spcPts val="1625"/>
              </a:lnSpc>
              <a:buNone/>
            </a:pPr>
            <a:r>
              <a:rPr lang="en-US" sz="1300" b="1" dirty="0">
                <a:solidFill>
                  <a:srgbClr val="B4531E"/>
                </a:solidFill>
                <a:latin typeface="IBM Plex Sans" pitchFamily="34" charset="0"/>
                <a:ea typeface="IBM Plex Sans" pitchFamily="34" charset="-122"/>
                <a:cs typeface="IBM Plex Sans" pitchFamily="34" charset="-120"/>
              </a:rPr>
              <a:t>Rayleigh 0</a:t>
            </a:r>
            <a:endParaRPr lang="en-US" sz="1300" dirty="0"/>
          </a:p>
        </p:txBody>
      </p:sp>
      <p:sp>
        <p:nvSpPr>
          <p:cNvPr id="12" name="Text 9"/>
          <p:cNvSpPr/>
          <p:nvPr/>
        </p:nvSpPr>
        <p:spPr>
          <a:xfrm>
            <a:off x="8483600" y="1714450"/>
            <a:ext cx="1962150" cy="438150"/>
          </a:xfrm>
          <a:prstGeom prst="rect">
            <a:avLst/>
          </a:prstGeom>
          <a:noFill/>
          <a:ln/>
        </p:spPr>
        <p:txBody>
          <a:bodyPr wrap="square" lIns="0" tIns="0" rIns="0" bIns="0" rtlCol="0" anchor="t">
            <a:normAutofit/>
          </a:bodyPr>
          <a:lstStyle/>
          <a:p>
            <a:pPr algn="l" indent="0" marL="0">
              <a:lnSpc>
                <a:spcPts val="1625"/>
              </a:lnSpc>
              <a:buNone/>
            </a:pPr>
            <a:r>
              <a:rPr lang="en-US" sz="1300" dirty="0">
                <a:solidFill>
                  <a:srgbClr val="44505C"/>
                </a:solidFill>
                <a:latin typeface="IBM Plex Sans" pitchFamily="34" charset="0"/>
                <a:ea typeface="IBM Plex Sans" pitchFamily="34" charset="-122"/>
                <a:cs typeface="IBM Plex Sans" pitchFamily="34" charset="-120"/>
              </a:rPr>
              <a:t>North: </a:t>
            </a:r>
            <a:r>
              <a:rPr lang="en-US" sz="1300" b="1" dirty="0">
                <a:solidFill>
                  <a:srgbClr val="1F7A7A"/>
                </a:solidFill>
                <a:latin typeface="IBM Plex Sans" pitchFamily="34" charset="0"/>
                <a:ea typeface="IBM Plex Sans" pitchFamily="34" charset="-122"/>
                <a:cs typeface="IBM Plex Sans" pitchFamily="34" charset="-120"/>
              </a:rPr>
              <a:t>Love 0</a:t>
            </a:r>
            <a:endParaRPr lang="en-US" sz="1300" dirty="0"/>
          </a:p>
          <a:p>
            <a:pPr algn="l" indent="0" marL="0">
              <a:lnSpc>
                <a:spcPts val="1625"/>
              </a:lnSpc>
              <a:buNone/>
            </a:pPr>
            <a:r>
              <a:rPr lang="en-US" sz="1300" b="1" dirty="0">
                <a:solidFill>
                  <a:srgbClr val="B4531E"/>
                </a:solidFill>
                <a:latin typeface="IBM Plex Sans" pitchFamily="34" charset="0"/>
                <a:ea typeface="IBM Plex Sans" pitchFamily="34" charset="-122"/>
                <a:cs typeface="IBM Plex Sans" pitchFamily="34" charset="-120"/>
              </a:rPr>
              <a:t>Rayleigh −1</a:t>
            </a:r>
            <a:endParaRPr lang="en-US" sz="1300" dirty="0"/>
          </a:p>
        </p:txBody>
      </p:sp>
      <p:sp>
        <p:nvSpPr>
          <p:cNvPr id="13" name="Text 10"/>
          <p:cNvSpPr/>
          <p:nvPr/>
        </p:nvSpPr>
        <p:spPr>
          <a:xfrm>
            <a:off x="8483600" y="5308550"/>
            <a:ext cx="1962150" cy="438150"/>
          </a:xfrm>
          <a:prstGeom prst="rect">
            <a:avLst/>
          </a:prstGeom>
          <a:noFill/>
          <a:ln/>
        </p:spPr>
        <p:txBody>
          <a:bodyPr wrap="square" lIns="0" tIns="0" rIns="0" bIns="0" rtlCol="0" anchor="t">
            <a:normAutofit/>
          </a:bodyPr>
          <a:lstStyle/>
          <a:p>
            <a:pPr algn="l" indent="0" marL="0">
              <a:lnSpc>
                <a:spcPts val="1625"/>
              </a:lnSpc>
              <a:buNone/>
            </a:pPr>
            <a:r>
              <a:rPr lang="en-US" sz="1300" dirty="0">
                <a:solidFill>
                  <a:srgbClr val="44505C"/>
                </a:solidFill>
                <a:latin typeface="IBM Plex Sans" pitchFamily="34" charset="0"/>
                <a:ea typeface="IBM Plex Sans" pitchFamily="34" charset="-122"/>
                <a:cs typeface="IBM Plex Sans" pitchFamily="34" charset="-120"/>
              </a:rPr>
              <a:t>South: </a:t>
            </a:r>
            <a:r>
              <a:rPr lang="en-US" sz="1300" b="1" dirty="0">
                <a:solidFill>
                  <a:srgbClr val="1F7A7A"/>
                </a:solidFill>
                <a:latin typeface="IBM Plex Sans" pitchFamily="34" charset="0"/>
                <a:ea typeface="IBM Plex Sans" pitchFamily="34" charset="-122"/>
                <a:cs typeface="IBM Plex Sans" pitchFamily="34" charset="-120"/>
              </a:rPr>
              <a:t>Love 0</a:t>
            </a:r>
            <a:endParaRPr lang="en-US" sz="1300" dirty="0"/>
          </a:p>
          <a:p>
            <a:pPr algn="l" indent="0" marL="0">
              <a:lnSpc>
                <a:spcPts val="1625"/>
              </a:lnSpc>
              <a:buNone/>
            </a:pPr>
            <a:r>
              <a:rPr lang="en-US" sz="1300" b="1" dirty="0">
                <a:solidFill>
                  <a:srgbClr val="B4531E"/>
                </a:solidFill>
                <a:latin typeface="IBM Plex Sans" pitchFamily="34" charset="0"/>
                <a:ea typeface="IBM Plex Sans" pitchFamily="34" charset="-122"/>
                <a:cs typeface="IBM Plex Sans" pitchFamily="34" charset="-120"/>
              </a:rPr>
              <a:t>Rayleigh +1</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2 · GEOMETRY</a:t>
            </a:r>
            <a:endParaRPr lang="en-US" sz="1200" dirty="0"/>
          </a:p>
        </p:txBody>
      </p:sp>
      <p:sp>
        <p:nvSpPr>
          <p:cNvPr id="3" name="Text 1"/>
          <p:cNvSpPr/>
          <p:nvPr>
            <p:ph type="title"/>
          </p:nvPr>
        </p:nvSpPr>
        <p:spPr>
          <a:xfrm>
            <a:off x="812800" y="949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Two azimuths, two pairs of unit vectors</a:t>
            </a:r>
            <a:endParaRPr lang="en-US" sz="3200" dirty="0"/>
          </a:p>
        </p:txBody>
      </p:sp>
      <p:sp>
        <p:nvSpPr>
          <p:cNvPr id="4" name="Text 2"/>
          <p:cNvSpPr/>
          <p:nvPr/>
        </p:nvSpPr>
        <p:spPr>
          <a:xfrm>
            <a:off x="812800" y="157475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Code frame: </a:t>
            </a:r>
            <a:r>
              <a:rPr lang="en-US" sz="1500" b="1" dirty="0">
                <a:solidFill>
                  <a:srgbClr val="1D2B3A"/>
                </a:solidFill>
                <a:latin typeface="IBM Plex Sans" pitchFamily="34" charset="0"/>
                <a:ea typeface="IBM Plex Sans" pitchFamily="34" charset="-122"/>
                <a:cs typeface="IBM Plex Sans" pitchFamily="34" charset="-120"/>
              </a:rPr>
              <a:t>x = south</a:t>
            </a:r>
            <a:r>
              <a:rPr lang="en-US" sz="1500" dirty="0">
                <a:solidFill>
                  <a:srgbClr val="44505C"/>
                </a:solidFill>
                <a:latin typeface="IBM Plex Sans" pitchFamily="34" charset="0"/>
                <a:ea typeface="IBM Plex Sans" pitchFamily="34" charset="-122"/>
                <a:cs typeface="IBM Plex Sans" pitchFamily="34" charset="-120"/>
              </a:rPr>
              <a:t> (colatitude), </a:t>
            </a:r>
            <a:r>
              <a:rPr lang="en-US" sz="1500" b="1" dirty="0">
                <a:solidFill>
                  <a:srgbClr val="1D2B3A"/>
                </a:solidFill>
                <a:latin typeface="IBM Plex Sans" pitchFamily="34" charset="0"/>
                <a:ea typeface="IBM Plex Sans" pitchFamily="34" charset="-122"/>
                <a:cs typeface="IBM Plex Sans" pitchFamily="34" charset="-120"/>
              </a:rPr>
              <a:t>y = east</a:t>
            </a:r>
            <a:r>
              <a:rPr lang="en-US" sz="1500" dirty="0">
                <a:solidFill>
                  <a:srgbClr val="44505C"/>
                </a:solidFill>
                <a:latin typeface="IBM Plex Sans" pitchFamily="34" charset="0"/>
                <a:ea typeface="IBM Plex Sans" pitchFamily="34" charset="-122"/>
                <a:cs typeface="IBM Plex Sans" pitchFamily="34" charset="-120"/>
              </a:rPr>
              <a:t>, z = up.</a:t>
            </a:r>
            <a:endParaRPr lang="en-US" sz="1500" dirty="0"/>
          </a:p>
        </p:txBody>
      </p:sp>
      <p:sp>
        <p:nvSpPr>
          <p:cNvPr id="5" name="Text 3"/>
          <p:cNvSpPr/>
          <p:nvPr/>
        </p:nvSpPr>
        <p:spPr>
          <a:xfrm>
            <a:off x="812800" y="2247850"/>
            <a:ext cx="4185920"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B3A"/>
                </a:solidFill>
                <a:latin typeface="IBM Plex Sans" pitchFamily="34" charset="0"/>
                <a:ea typeface="IBM Plex Sans" pitchFamily="34" charset="-122"/>
                <a:cs typeface="IBM Plex Sans" pitchFamily="34" charset="-120"/>
              </a:rPr>
              <a:t>α</a:t>
            </a:r>
            <a:r>
              <a:rPr lang="en-US" sz="1500" dirty="0">
                <a:solidFill>
                  <a:srgbClr val="44505C"/>
                </a:solidFill>
                <a:latin typeface="IBM Plex Sans" pitchFamily="34" charset="0"/>
                <a:ea typeface="IBM Plex Sans" pitchFamily="34" charset="-122"/>
                <a:cs typeface="IBM Plex Sans" pitchFamily="34" charset="-120"/>
              </a:rPr>
              <a:t>: azimuth source → receiver. </a:t>
            </a:r>
            <a:r>
              <a:rPr lang="en-US" sz="1500" b="1" dirty="0">
                <a:solidFill>
                  <a:srgbClr val="1D2B3A"/>
                </a:solidFill>
                <a:latin typeface="IBM Plex Sans" pitchFamily="34" charset="0"/>
                <a:ea typeface="IBM Plex Sans" pitchFamily="34" charset="-122"/>
                <a:cs typeface="IBM Plex Sans" pitchFamily="34" charset="-120"/>
              </a:rPr>
              <a:t>β</a:t>
            </a:r>
            <a:r>
              <a:rPr lang="en-US" sz="1500" dirty="0">
                <a:solidFill>
                  <a:srgbClr val="44505C"/>
                </a:solidFill>
                <a:latin typeface="IBM Plex Sans" pitchFamily="34" charset="0"/>
                <a:ea typeface="IBM Plex Sans" pitchFamily="34" charset="-122"/>
                <a:cs typeface="IBM Plex Sans" pitchFamily="34" charset="-120"/>
              </a:rPr>
              <a:t>: azimuth receiver → source. Both clockwise from north.</a:t>
            </a:r>
            <a:endParaRPr lang="en-US" sz="1500" dirty="0"/>
          </a:p>
        </p:txBody>
      </p:sp>
      <p:sp>
        <p:nvSpPr>
          <p:cNvPr id="6" name="Text 4"/>
          <p:cNvSpPr/>
          <p:nvPr/>
        </p:nvSpPr>
        <p:spPr>
          <a:xfrm>
            <a:off x="812800" y="2920950"/>
            <a:ext cx="4185920"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F7A7A"/>
                </a:solidFill>
                <a:latin typeface="IBM Plex Sans" pitchFamily="34" charset="0"/>
                <a:ea typeface="IBM Plex Sans" pitchFamily="34" charset="-122"/>
                <a:cs typeface="IBM Plex Sans" pitchFamily="34" charset="-120"/>
              </a:rPr>
              <a:t>T</a:t>
            </a:r>
            <a:r>
              <a:rPr lang="en-US" sz="1500" dirty="0">
                <a:solidFill>
                  <a:srgbClr val="44505C"/>
                </a:solidFill>
                <a:latin typeface="IBM Plex Sans" pitchFamily="34" charset="0"/>
                <a:ea typeface="IBM Plex Sans" pitchFamily="34" charset="-122"/>
                <a:cs typeface="IBM Plex Sans" pitchFamily="34" charset="-120"/>
              </a:rPr>
              <a:t> is the propagation direction turned 90° clockwise; </a:t>
            </a:r>
            <a:r>
              <a:rPr lang="en-US" sz="1500" b="1" dirty="0">
                <a:solidFill>
                  <a:srgbClr val="B4531E"/>
                </a:solidFill>
                <a:latin typeface="IBM Plex Sans" pitchFamily="34" charset="0"/>
                <a:ea typeface="IBM Plex Sans" pitchFamily="34" charset="-122"/>
                <a:cs typeface="IBM Plex Sans" pitchFamily="34" charset="-120"/>
              </a:rPr>
              <a:t>R</a:t>
            </a:r>
            <a:r>
              <a:rPr lang="en-US" sz="1500" dirty="0">
                <a:solidFill>
                  <a:srgbClr val="44505C"/>
                </a:solidFill>
                <a:latin typeface="IBM Plex Sans" pitchFamily="34" charset="0"/>
                <a:ea typeface="IBM Plex Sans" pitchFamily="34" charset="-122"/>
                <a:cs typeface="IBM Plex Sans" pitchFamily="34" charset="-120"/>
              </a:rPr>
              <a:t> points along propagation.</a:t>
            </a:r>
            <a:endParaRPr lang="en-US" sz="1500" dirty="0"/>
          </a:p>
        </p:txBody>
      </p:sp>
      <p:sp>
        <p:nvSpPr>
          <p:cNvPr id="7" name="Shape 5"/>
          <p:cNvSpPr/>
          <p:nvPr/>
        </p:nvSpPr>
        <p:spPr>
          <a:xfrm>
            <a:off x="819150" y="3600400"/>
            <a:ext cx="4051300" cy="1371402"/>
          </a:xfrm>
          <a:prstGeom prst="roundRect">
            <a:avLst>
              <a:gd name="adj" fmla="val 5093"/>
            </a:avLst>
          </a:prstGeom>
          <a:solidFill>
            <a:srgbClr val="FBFAF6"/>
          </a:solidFill>
          <a:ln w="12700">
            <a:solidFill>
              <a:srgbClr val="D9D4C7"/>
            </a:solidFill>
            <a:prstDash val="solid"/>
          </a:ln>
        </p:spPr>
      </p:sp>
      <p:sp>
        <p:nvSpPr>
          <p:cNvPr id="8" name="Text 6"/>
          <p:cNvSpPr/>
          <p:nvPr/>
        </p:nvSpPr>
        <p:spPr>
          <a:xfrm>
            <a:off x="977900" y="3733750"/>
            <a:ext cx="3845814"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2B3A"/>
                </a:solidFill>
                <a:latin typeface="IBM Plex Mono" pitchFamily="49" charset="0"/>
                <a:ea typeface="IBM Plex Mono" pitchFamily="49" charset="-122"/>
                <a:cs typeface="IBM Plex Mono" pitchFamily="49" charset="-120"/>
              </a:rPr>
              <a:t>T src = ( sin α, cos α)</a:t>
            </a:r>
            <a:endParaRPr lang="en-US" sz="1200" dirty="0"/>
          </a:p>
          <a:p>
            <a:pPr algn="l" indent="0" marL="0">
              <a:lnSpc>
                <a:spcPts val="1680"/>
              </a:lnSpc>
              <a:buNone/>
            </a:pPr>
            <a:r>
              <a:rPr lang="en-US" sz="1200" dirty="0">
                <a:solidFill>
                  <a:srgbClr val="1D2B3A"/>
                </a:solidFill>
                <a:latin typeface="IBM Plex Mono" pitchFamily="49" charset="0"/>
                <a:ea typeface="IBM Plex Mono" pitchFamily="49" charset="-122"/>
                <a:cs typeface="IBM Plex Mono" pitchFamily="49" charset="-120"/>
              </a:rPr>
              <a:t>R src = (−cos α, sin α)</a:t>
            </a:r>
            <a:endParaRPr lang="en-US" sz="1200" dirty="0"/>
          </a:p>
          <a:p>
            <a:pPr algn="l" indent="0" marL="0">
              <a:lnSpc>
                <a:spcPts val="1680"/>
              </a:lnSpc>
              <a:buNone/>
            </a:pPr>
            <a:r>
              <a:rPr lang="en-US" sz="1200" dirty="0">
                <a:solidFill>
                  <a:srgbClr val="1D2B3A"/>
                </a:solidFill>
                <a:latin typeface="IBM Plex Mono" pitchFamily="49" charset="0"/>
                <a:ea typeface="IBM Plex Mono" pitchFamily="49" charset="-122"/>
                <a:cs typeface="IBM Plex Mono" pitchFamily="49" charset="-120"/>
              </a:rPr>
              <a:t>T rcv = (−sin β, −cos β)</a:t>
            </a:r>
            <a:endParaRPr lang="en-US" sz="1200" dirty="0"/>
          </a:p>
          <a:p>
            <a:pPr algn="l" indent="0" marL="0">
              <a:lnSpc>
                <a:spcPts val="1680"/>
              </a:lnSpc>
              <a:buNone/>
            </a:pPr>
            <a:r>
              <a:rPr lang="en-US" sz="1200" dirty="0">
                <a:solidFill>
                  <a:srgbClr val="1D2B3A"/>
                </a:solidFill>
                <a:latin typeface="IBM Plex Mono" pitchFamily="49" charset="0"/>
                <a:ea typeface="IBM Plex Mono" pitchFamily="49" charset="-122"/>
                <a:cs typeface="IBM Plex Mono" pitchFamily="49" charset="-120"/>
              </a:rPr>
              <a:t>R rcv = ( cos β, −sin β)</a:t>
            </a:r>
            <a:endParaRPr lang="en-US" sz="1200" dirty="0"/>
          </a:p>
        </p:txBody>
      </p:sp>
      <p:sp>
        <p:nvSpPr>
          <p:cNvPr id="9" name="Text 7"/>
          <p:cNvSpPr/>
          <p:nvPr/>
        </p:nvSpPr>
        <p:spPr>
          <a:xfrm>
            <a:off x="977900" y="4625132"/>
            <a:ext cx="38458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05C"/>
                </a:solidFill>
                <a:latin typeface="IBM Plex Sans" pitchFamily="34" charset="0"/>
                <a:ea typeface="IBM Plex Sans" pitchFamily="34" charset="-122"/>
                <a:cs typeface="IBM Plex Sans" pitchFamily="34" charset="-120"/>
              </a:rPr>
              <a:t>components in (x, y)</a:t>
            </a:r>
            <a:endParaRPr lang="en-US" sz="1200" dirty="0"/>
          </a:p>
        </p:txBody>
      </p:sp>
      <p:pic>
        <p:nvPicPr>
          <p:cNvPr id="10" name="Image 0" descr="Map view with source and receiver, azimuths alpha and beta, and T and R unit vectors at both ends">    </p:cNvPr>
          <p:cNvPicPr>
            <a:picLocks noChangeAspect="1"/>
          </p:cNvPicPr>
          <p:nvPr/>
        </p:nvPicPr>
        <p:blipFill>
          <a:blip r:embed="rId1"/>
          <a:srcRect l="0" r="0" t="0" b="0"/>
          <a:stretch/>
        </p:blipFill>
        <p:spPr>
          <a:xfrm>
            <a:off x="5283200" y="1574750"/>
            <a:ext cx="6096000" cy="4445000"/>
          </a:xfrm>
          <a:prstGeom prst="rect">
            <a:avLst/>
          </a:prstGeom>
        </p:spPr>
      </p:pic>
      <p:sp>
        <p:nvSpPr>
          <p:cNvPr id="11" name="Text 8"/>
          <p:cNvSpPr/>
          <p:nvPr/>
        </p:nvSpPr>
        <p:spPr>
          <a:xfrm>
            <a:off x="6426200" y="1854150"/>
            <a:ext cx="106680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1D2B3A"/>
                </a:solidFill>
                <a:latin typeface="IBM Plex Sans" pitchFamily="34" charset="0"/>
                <a:ea typeface="IBM Plex Sans" pitchFamily="34" charset="-122"/>
                <a:cs typeface="IBM Plex Sans" pitchFamily="34" charset="-120"/>
              </a:rPr>
              <a:t>y (east)</a:t>
            </a:r>
            <a:endParaRPr lang="en-US" sz="1200" dirty="0"/>
          </a:p>
        </p:txBody>
      </p:sp>
      <p:sp>
        <p:nvSpPr>
          <p:cNvPr id="12" name="Text 9"/>
          <p:cNvSpPr/>
          <p:nvPr/>
        </p:nvSpPr>
        <p:spPr>
          <a:xfrm>
            <a:off x="5765800" y="2527250"/>
            <a:ext cx="119380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1D2B3A"/>
                </a:solidFill>
                <a:latin typeface="IBM Plex Sans" pitchFamily="34" charset="0"/>
                <a:ea typeface="IBM Plex Sans" pitchFamily="34" charset="-122"/>
                <a:cs typeface="IBM Plex Sans" pitchFamily="34" charset="-120"/>
              </a:rPr>
              <a:t>x (south)</a:t>
            </a:r>
            <a:endParaRPr lang="en-US" sz="1200" dirty="0"/>
          </a:p>
        </p:txBody>
      </p:sp>
      <p:sp>
        <p:nvSpPr>
          <p:cNvPr id="13" name="Text 10"/>
          <p:cNvSpPr/>
          <p:nvPr/>
        </p:nvSpPr>
        <p:spPr>
          <a:xfrm>
            <a:off x="5537200" y="5143450"/>
            <a:ext cx="939800"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D2B3A"/>
                </a:solidFill>
                <a:latin typeface="IBM Plex Sans" pitchFamily="34" charset="0"/>
                <a:ea typeface="IBM Plex Sans" pitchFamily="34" charset="-122"/>
                <a:cs typeface="IBM Plex Sans" pitchFamily="34" charset="-120"/>
              </a:rPr>
              <a:t>source</a:t>
            </a:r>
            <a:endParaRPr lang="en-US" sz="1300" dirty="0"/>
          </a:p>
        </p:txBody>
      </p:sp>
      <p:sp>
        <p:nvSpPr>
          <p:cNvPr id="14" name="Text 11"/>
          <p:cNvSpPr/>
          <p:nvPr/>
        </p:nvSpPr>
        <p:spPr>
          <a:xfrm>
            <a:off x="9061252" y="3365450"/>
            <a:ext cx="1003300"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D2B3A"/>
                </a:solidFill>
                <a:latin typeface="IBM Plex Sans" pitchFamily="34" charset="0"/>
                <a:ea typeface="IBM Plex Sans" pitchFamily="34" charset="-122"/>
                <a:cs typeface="IBM Plex Sans" pitchFamily="34" charset="-120"/>
              </a:rPr>
              <a:t>receiver</a:t>
            </a:r>
            <a:endParaRPr lang="en-US" sz="1300" dirty="0"/>
          </a:p>
        </p:txBody>
      </p:sp>
      <p:sp>
        <p:nvSpPr>
          <p:cNvPr id="15" name="Text 12"/>
          <p:cNvSpPr/>
          <p:nvPr/>
        </p:nvSpPr>
        <p:spPr>
          <a:xfrm>
            <a:off x="6502400" y="3797250"/>
            <a:ext cx="30480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D2B3A"/>
                </a:solidFill>
                <a:latin typeface="IBM Plex Sans" pitchFamily="34" charset="0"/>
                <a:ea typeface="IBM Plex Sans" pitchFamily="34" charset="-122"/>
                <a:cs typeface="IBM Plex Sans" pitchFamily="34" charset="-120"/>
              </a:rPr>
              <a:t>α</a:t>
            </a:r>
            <a:endParaRPr lang="en-US" sz="1500" dirty="0"/>
          </a:p>
        </p:txBody>
      </p:sp>
      <p:sp>
        <p:nvSpPr>
          <p:cNvPr id="16" name="Text 13"/>
          <p:cNvSpPr/>
          <p:nvPr/>
        </p:nvSpPr>
        <p:spPr>
          <a:xfrm>
            <a:off x="9581952" y="2273250"/>
            <a:ext cx="30480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D2B3A"/>
                </a:solidFill>
                <a:latin typeface="IBM Plex Sans" pitchFamily="34" charset="0"/>
                <a:ea typeface="IBM Plex Sans" pitchFamily="34" charset="-122"/>
                <a:cs typeface="IBM Plex Sans" pitchFamily="34" charset="-120"/>
              </a:rPr>
              <a:t>β</a:t>
            </a:r>
            <a:endParaRPr lang="en-US" sz="1500" dirty="0"/>
          </a:p>
        </p:txBody>
      </p:sp>
      <p:sp>
        <p:nvSpPr>
          <p:cNvPr id="17" name="Text 14"/>
          <p:cNvSpPr/>
          <p:nvPr/>
        </p:nvSpPr>
        <p:spPr>
          <a:xfrm>
            <a:off x="6807200" y="5934422"/>
            <a:ext cx="1320800" cy="21590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1F7A7A"/>
                </a:solidFill>
                <a:latin typeface="IBM Plex Sans" pitchFamily="34" charset="0"/>
                <a:ea typeface="IBM Plex Sans" pitchFamily="34" charset="-122"/>
                <a:cs typeface="IBM Plex Sans" pitchFamily="34" charset="-120"/>
              </a:rPr>
              <a:t>T at source</a:t>
            </a:r>
            <a:endParaRPr lang="en-US" sz="1200" dirty="0"/>
          </a:p>
        </p:txBody>
      </p:sp>
      <p:sp>
        <p:nvSpPr>
          <p:cNvPr id="18" name="Text 15"/>
          <p:cNvSpPr/>
          <p:nvPr/>
        </p:nvSpPr>
        <p:spPr>
          <a:xfrm>
            <a:off x="7293372" y="4279850"/>
            <a:ext cx="1320800" cy="21590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B4531E"/>
                </a:solidFill>
                <a:latin typeface="IBM Plex Sans" pitchFamily="34" charset="0"/>
                <a:ea typeface="IBM Plex Sans" pitchFamily="34" charset="-122"/>
                <a:cs typeface="IBM Plex Sans" pitchFamily="34" charset="-120"/>
              </a:rPr>
              <a:t>R at source</a:t>
            </a:r>
            <a:endParaRPr lang="en-US" sz="1200" dirty="0"/>
          </a:p>
        </p:txBody>
      </p:sp>
      <p:sp>
        <p:nvSpPr>
          <p:cNvPr id="19" name="Text 16"/>
          <p:cNvSpPr/>
          <p:nvPr/>
        </p:nvSpPr>
        <p:spPr>
          <a:xfrm>
            <a:off x="9886752" y="4156422"/>
            <a:ext cx="1447800" cy="21590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1F7A7A"/>
                </a:solidFill>
                <a:latin typeface="IBM Plex Sans" pitchFamily="34" charset="0"/>
                <a:ea typeface="IBM Plex Sans" pitchFamily="34" charset="-122"/>
                <a:cs typeface="IBM Plex Sans" pitchFamily="34" charset="-120"/>
              </a:rPr>
              <a:t>T at receiver</a:t>
            </a:r>
            <a:endParaRPr lang="en-US" sz="1200" dirty="0"/>
          </a:p>
        </p:txBody>
      </p:sp>
      <p:sp>
        <p:nvSpPr>
          <p:cNvPr id="20" name="Text 17"/>
          <p:cNvSpPr/>
          <p:nvPr/>
        </p:nvSpPr>
        <p:spPr>
          <a:xfrm>
            <a:off x="10372923" y="2501850"/>
            <a:ext cx="1447800" cy="21590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B4531E"/>
                </a:solidFill>
                <a:latin typeface="IBM Plex Sans" pitchFamily="34" charset="0"/>
                <a:ea typeface="IBM Plex Sans" pitchFamily="34" charset="-122"/>
                <a:cs typeface="IBM Plex Sans" pitchFamily="34" charset="-120"/>
              </a:rPr>
              <a:t>R at receiver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3 · SOURCE SIDE</a:t>
            </a:r>
            <a:endParaRPr lang="en-US" sz="1200" dirty="0"/>
          </a:p>
        </p:txBody>
      </p:sp>
      <p:sp>
        <p:nvSpPr>
          <p:cNvPr id="3" name="Text 1"/>
          <p:cNvSpPr/>
          <p:nvPr>
            <p:ph type="title"/>
          </p:nvPr>
        </p:nvSpPr>
        <p:spPr>
          <a:xfrm>
            <a:off x="812800" y="949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Source-side rotation: build a force along T from fx and fy</a:t>
            </a:r>
            <a:endParaRPr lang="en-US" sz="3200" dirty="0"/>
          </a:p>
        </p:txBody>
      </p:sp>
      <p:sp>
        <p:nvSpPr>
          <p:cNvPr id="4" name="Text 2"/>
          <p:cNvSpPr/>
          <p:nvPr/>
        </p:nvSpPr>
        <p:spPr>
          <a:xfrm>
            <a:off x="812800" y="157475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The wavefield is </a:t>
            </a:r>
            <a:r>
              <a:rPr lang="en-US" sz="1500" b="1" dirty="0">
                <a:solidFill>
                  <a:srgbClr val="1D2B3A"/>
                </a:solidFill>
                <a:latin typeface="IBM Plex Sans" pitchFamily="34" charset="0"/>
                <a:ea typeface="IBM Plex Sans" pitchFamily="34" charset="-122"/>
                <a:cs typeface="IBM Plex Sans" pitchFamily="34" charset="-120"/>
              </a:rPr>
              <a:t>linear</a:t>
            </a:r>
            <a:r>
              <a:rPr lang="en-US" sz="1500" dirty="0">
                <a:solidFill>
                  <a:srgbClr val="44505C"/>
                </a:solidFill>
                <a:latin typeface="IBM Plex Sans" pitchFamily="34" charset="0"/>
                <a:ea typeface="IBM Plex Sans" pitchFamily="34" charset="-122"/>
                <a:cs typeface="IBM Plex Sans" pitchFamily="34" charset="-120"/>
              </a:rPr>
              <a:t> in the force: u = Fx · u(fx) + Fy · u(fy).</a:t>
            </a:r>
            <a:endParaRPr lang="en-US" sz="1500" dirty="0"/>
          </a:p>
        </p:txBody>
      </p:sp>
      <p:sp>
        <p:nvSpPr>
          <p:cNvPr id="5" name="Text 3"/>
          <p:cNvSpPr/>
          <p:nvPr/>
        </p:nvSpPr>
        <p:spPr>
          <a:xfrm>
            <a:off x="812800" y="224785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 force along </a:t>
            </a:r>
            <a:r>
              <a:rPr lang="en-US" sz="1500" b="1" dirty="0">
                <a:solidFill>
                  <a:srgbClr val="1F7A7A"/>
                </a:solidFill>
                <a:latin typeface="IBM Plex Sans" pitchFamily="34" charset="0"/>
                <a:ea typeface="IBM Plex Sans" pitchFamily="34" charset="-122"/>
                <a:cs typeface="IBM Plex Sans" pitchFamily="34" charset="-120"/>
              </a:rPr>
              <a:t>T</a:t>
            </a:r>
            <a:r>
              <a:rPr lang="en-US" sz="1500" dirty="0">
                <a:solidFill>
                  <a:srgbClr val="44505C"/>
                </a:solidFill>
                <a:latin typeface="IBM Plex Sans" pitchFamily="34" charset="0"/>
                <a:ea typeface="IBM Plex Sans" pitchFamily="34" charset="-122"/>
                <a:cs typeface="IBM Plex Sans" pitchFamily="34" charset="-120"/>
              </a:rPr>
              <a:t> has (Fx, Fy) = (sin α, cos α), so </a:t>
            </a:r>
            <a:r>
              <a:rPr lang="en-US" sz="1500" b="1" dirty="0">
                <a:solidFill>
                  <a:srgbClr val="1F7A7A"/>
                </a:solidFill>
                <a:latin typeface="IBM Plex Sans" pitchFamily="34" charset="0"/>
                <a:ea typeface="IBM Plex Sans" pitchFamily="34" charset="-122"/>
                <a:cs typeface="IBM Plex Sans" pitchFamily="34" charset="-120"/>
              </a:rPr>
              <a:t>u(T) = sin α · u(fx) + cos α · u(fy)</a:t>
            </a:r>
            <a:endParaRPr lang="en-US" sz="1500" dirty="0"/>
          </a:p>
        </p:txBody>
      </p:sp>
      <p:sp>
        <p:nvSpPr>
          <p:cNvPr id="6" name="Text 4"/>
          <p:cNvSpPr/>
          <p:nvPr/>
        </p:nvSpPr>
        <p:spPr>
          <a:xfrm>
            <a:off x="812800" y="292095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 force along </a:t>
            </a:r>
            <a:r>
              <a:rPr lang="en-US" sz="1500" b="1" dirty="0">
                <a:solidFill>
                  <a:srgbClr val="B4531E"/>
                </a:solidFill>
                <a:latin typeface="IBM Plex Sans" pitchFamily="34" charset="0"/>
                <a:ea typeface="IBM Plex Sans" pitchFamily="34" charset="-122"/>
                <a:cs typeface="IBM Plex Sans" pitchFamily="34" charset="-120"/>
              </a:rPr>
              <a:t>R</a:t>
            </a:r>
            <a:r>
              <a:rPr lang="en-US" sz="1500" dirty="0">
                <a:solidFill>
                  <a:srgbClr val="44505C"/>
                </a:solidFill>
                <a:latin typeface="IBM Plex Sans" pitchFamily="34" charset="0"/>
                <a:ea typeface="IBM Plex Sans" pitchFamily="34" charset="-122"/>
                <a:cs typeface="IBM Plex Sans" pitchFamily="34" charset="-120"/>
              </a:rPr>
              <a:t> has (−cos α, sin α), so </a:t>
            </a:r>
            <a:r>
              <a:rPr lang="en-US" sz="1500" b="1" dirty="0">
                <a:solidFill>
                  <a:srgbClr val="B4531E"/>
                </a:solidFill>
                <a:latin typeface="IBM Plex Sans" pitchFamily="34" charset="0"/>
                <a:ea typeface="IBM Plex Sans" pitchFamily="34" charset="-122"/>
                <a:cs typeface="IBM Plex Sans" pitchFamily="34" charset="-120"/>
              </a:rPr>
              <a:t>u(R) = −cos α · u(fx) + sin α · u(fy)</a:t>
            </a:r>
            <a:endParaRPr lang="en-US" sz="1500" dirty="0"/>
          </a:p>
        </p:txBody>
      </p:sp>
      <p:sp>
        <p:nvSpPr>
          <p:cNvPr id="7" name="Text 5"/>
          <p:cNvSpPr/>
          <p:nvPr/>
        </p:nvSpPr>
        <p:spPr>
          <a:xfrm>
            <a:off x="812800" y="3594050"/>
            <a:ext cx="418592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No new simulation: this is a weighted sum of the two stored wavefields, with </a:t>
            </a:r>
            <a:r>
              <a:rPr lang="en-US" sz="1500" b="1" dirty="0">
                <a:solidFill>
                  <a:srgbClr val="1D2B3A"/>
                </a:solidFill>
                <a:latin typeface="IBM Plex Sans" pitchFamily="34" charset="0"/>
                <a:ea typeface="IBM Plex Sans" pitchFamily="34" charset="-122"/>
                <a:cs typeface="IBM Plex Sans" pitchFamily="34" charset="-120"/>
              </a:rPr>
              <a:t>a different α for every receiver</a:t>
            </a:r>
            <a:r>
              <a:rPr lang="en-US" sz="1500" dirty="0">
                <a:solidFill>
                  <a:srgbClr val="44505C"/>
                </a:solidFill>
                <a:latin typeface="IBM Plex Sans" pitchFamily="34" charset="0"/>
                <a:ea typeface="IBM Plex Sans" pitchFamily="34" charset="-122"/>
                <a:cs typeface="IBM Plex Sans" pitchFamily="34" charset="-120"/>
              </a:rPr>
              <a:t>.</a:t>
            </a:r>
            <a:endParaRPr lang="en-US" sz="1500" dirty="0"/>
          </a:p>
        </p:txBody>
      </p:sp>
      <p:pic>
        <p:nvPicPr>
          <p:cNvPr id="8" name="Image 0" descr="Force along T built from the fx and fy runs with weights sin alpha and cos alpha; force along R built the same way">    </p:cNvPr>
          <p:cNvPicPr>
            <a:picLocks noChangeAspect="1"/>
          </p:cNvPicPr>
          <p:nvPr/>
        </p:nvPicPr>
        <p:blipFill>
          <a:blip r:embed="rId1"/>
          <a:srcRect l="0" r="0" t="0" b="0"/>
          <a:stretch/>
        </p:blipFill>
        <p:spPr>
          <a:xfrm>
            <a:off x="5283200" y="1574750"/>
            <a:ext cx="6096000" cy="4445000"/>
          </a:xfrm>
          <a:prstGeom prst="rect">
            <a:avLst/>
          </a:prstGeom>
        </p:spPr>
      </p:pic>
      <p:sp>
        <p:nvSpPr>
          <p:cNvPr id="9" name="Text 6"/>
          <p:cNvSpPr/>
          <p:nvPr/>
        </p:nvSpPr>
        <p:spPr>
          <a:xfrm>
            <a:off x="6553200" y="2768550"/>
            <a:ext cx="1701800"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44505C"/>
                </a:solidFill>
                <a:latin typeface="IBM Plex Sans" pitchFamily="34" charset="0"/>
                <a:ea typeface="IBM Plex Sans" pitchFamily="34" charset="-122"/>
                <a:cs typeface="IBM Plex Sans" pitchFamily="34" charset="-120"/>
              </a:rPr>
              <a:t>cos α · fy</a:t>
            </a:r>
            <a:endParaRPr lang="en-US" sz="1300" dirty="0"/>
          </a:p>
        </p:txBody>
      </p:sp>
      <p:sp>
        <p:nvSpPr>
          <p:cNvPr id="10" name="Text 7"/>
          <p:cNvSpPr/>
          <p:nvPr/>
        </p:nvSpPr>
        <p:spPr>
          <a:xfrm>
            <a:off x="5295900" y="4135090"/>
            <a:ext cx="1130300" cy="231775"/>
          </a:xfrm>
          <a:prstGeom prst="rect">
            <a:avLst/>
          </a:prstGeom>
          <a:noFill/>
          <a:ln/>
        </p:spPr>
        <p:txBody>
          <a:bodyPr wrap="square" lIns="0" tIns="0" rIns="0" bIns="0" rtlCol="0" anchor="t">
            <a:normAutofit/>
          </a:bodyPr>
          <a:lstStyle/>
          <a:p>
            <a:pPr algn="r" indent="0" marL="0">
              <a:lnSpc>
                <a:spcPts val="1625"/>
              </a:lnSpc>
              <a:buNone/>
            </a:pPr>
            <a:r>
              <a:rPr lang="en-US" sz="1300" b="1" dirty="0">
                <a:solidFill>
                  <a:srgbClr val="44505C"/>
                </a:solidFill>
                <a:latin typeface="IBM Plex Sans" pitchFamily="34" charset="0"/>
                <a:ea typeface="IBM Plex Sans" pitchFamily="34" charset="-122"/>
                <a:cs typeface="IBM Plex Sans" pitchFamily="34" charset="-120"/>
              </a:rPr>
              <a:t>sin α · fx</a:t>
            </a:r>
            <a:endParaRPr lang="en-US" sz="1300" dirty="0"/>
          </a:p>
        </p:txBody>
      </p:sp>
      <p:sp>
        <p:nvSpPr>
          <p:cNvPr id="11" name="Text 8"/>
          <p:cNvSpPr/>
          <p:nvPr/>
        </p:nvSpPr>
        <p:spPr>
          <a:xfrm>
            <a:off x="7950200" y="5298430"/>
            <a:ext cx="1962150" cy="24765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1F7A7A"/>
                </a:solidFill>
                <a:latin typeface="IBM Plex Sans" pitchFamily="34" charset="0"/>
                <a:ea typeface="IBM Plex Sans" pitchFamily="34" charset="-122"/>
                <a:cs typeface="IBM Plex Sans" pitchFamily="34" charset="-120"/>
              </a:rPr>
              <a:t>force along T</a:t>
            </a:r>
            <a:endParaRPr lang="en-US" sz="1400" dirty="0"/>
          </a:p>
        </p:txBody>
      </p:sp>
      <p:sp>
        <p:nvSpPr>
          <p:cNvPr id="12" name="Text 9"/>
          <p:cNvSpPr/>
          <p:nvPr/>
        </p:nvSpPr>
        <p:spPr>
          <a:xfrm>
            <a:off x="8854480" y="1828750"/>
            <a:ext cx="1962150" cy="24765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B4531E"/>
                </a:solidFill>
                <a:latin typeface="IBM Plex Sans" pitchFamily="34" charset="0"/>
                <a:ea typeface="IBM Plex Sans" pitchFamily="34" charset="-122"/>
                <a:cs typeface="IBM Plex Sans" pitchFamily="34" charset="-120"/>
              </a:rPr>
              <a:t>force along R</a:t>
            </a:r>
            <a:endParaRPr lang="en-US" sz="1400" dirty="0"/>
          </a:p>
        </p:txBody>
      </p:sp>
      <p:sp>
        <p:nvSpPr>
          <p:cNvPr id="13" name="Text 10"/>
          <p:cNvSpPr/>
          <p:nvPr/>
        </p:nvSpPr>
        <p:spPr>
          <a:xfrm>
            <a:off x="6172200" y="5905450"/>
            <a:ext cx="196215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4505C"/>
                </a:solidFill>
                <a:latin typeface="IBM Plex Sans" pitchFamily="34" charset="0"/>
                <a:ea typeface="IBM Plex Sans" pitchFamily="34" charset="-122"/>
                <a:cs typeface="IBM Plex Sans" pitchFamily="34" charset="-120"/>
              </a:rPr>
              <a:t>fx axis (south)</a:t>
            </a:r>
            <a:endParaRPr lang="en-US" sz="1200" dirty="0"/>
          </a:p>
        </p:txBody>
      </p:sp>
      <p:sp>
        <p:nvSpPr>
          <p:cNvPr id="14" name="Text 11"/>
          <p:cNvSpPr/>
          <p:nvPr/>
        </p:nvSpPr>
        <p:spPr>
          <a:xfrm>
            <a:off x="9029700" y="3251150"/>
            <a:ext cx="170180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4505C"/>
                </a:solidFill>
                <a:latin typeface="IBM Plex Sans" pitchFamily="34" charset="0"/>
                <a:ea typeface="IBM Plex Sans" pitchFamily="34" charset="-122"/>
                <a:cs typeface="IBM Plex Sans" pitchFamily="34" charset="-120"/>
              </a:rPr>
              <a:t>fy axis (east)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4 · RECEIVER SIDE</a:t>
            </a:r>
            <a:endParaRPr lang="en-US" sz="1200" dirty="0"/>
          </a:p>
        </p:txBody>
      </p:sp>
      <p:sp>
        <p:nvSpPr>
          <p:cNvPr id="3" name="Text 1"/>
          <p:cNvSpPr/>
          <p:nvPr>
            <p:ph type="title"/>
          </p:nvPr>
        </p:nvSpPr>
        <p:spPr>
          <a:xfrm>
            <a:off x="812800" y="9525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Receiver-side rotation: project the response onto T and R</a:t>
            </a:r>
            <a:endParaRPr lang="en-US" sz="3200" dirty="0"/>
          </a:p>
        </p:txBody>
      </p:sp>
      <p:sp>
        <p:nvSpPr>
          <p:cNvPr id="4" name="Text 2"/>
          <p:cNvSpPr/>
          <p:nvPr/>
        </p:nvSpPr>
        <p:spPr>
          <a:xfrm>
            <a:off x="812800" y="1574800"/>
            <a:ext cx="418592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After the source-side step we still hold a </a:t>
            </a:r>
            <a:r>
              <a:rPr lang="en-US" sz="1500" b="1" dirty="0">
                <a:solidFill>
                  <a:srgbClr val="1D2B3A"/>
                </a:solidFill>
                <a:latin typeface="IBM Plex Sans" pitchFamily="34" charset="0"/>
                <a:ea typeface="IBM Plex Sans" pitchFamily="34" charset="-122"/>
                <a:cs typeface="IBM Plex Sans" pitchFamily="34" charset="-120"/>
              </a:rPr>
              <a:t>vector</a:t>
            </a:r>
            <a:r>
              <a:rPr lang="en-US" sz="1500" dirty="0">
                <a:solidFill>
                  <a:srgbClr val="44505C"/>
                </a:solidFill>
                <a:latin typeface="IBM Plex Sans" pitchFamily="34" charset="0"/>
                <a:ea typeface="IBM Plex Sans" pitchFamily="34" charset="-122"/>
                <a:cs typeface="IBM Plex Sans" pitchFamily="34" charset="-120"/>
              </a:rPr>
              <a:t> at each receiver: its x (south) and y (east) components, plus z.</a:t>
            </a:r>
            <a:endParaRPr lang="en-US" sz="1500" dirty="0"/>
          </a:p>
        </p:txBody>
      </p:sp>
      <p:sp>
        <p:nvSpPr>
          <p:cNvPr id="5" name="Text 3"/>
          <p:cNvSpPr/>
          <p:nvPr/>
        </p:nvSpPr>
        <p:spPr>
          <a:xfrm>
            <a:off x="812800" y="251460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Project it with the unit vectors </a:t>
            </a:r>
            <a:r>
              <a:rPr lang="en-US" sz="1500" b="1" dirty="0">
                <a:solidFill>
                  <a:srgbClr val="1D2B3A"/>
                </a:solidFill>
                <a:latin typeface="IBM Plex Sans" pitchFamily="34" charset="0"/>
                <a:ea typeface="IBM Plex Sans" pitchFamily="34" charset="-122"/>
                <a:cs typeface="IBM Plex Sans" pitchFamily="34" charset="-120"/>
              </a:rPr>
              <a:t>at the receiver</a:t>
            </a:r>
            <a:r>
              <a:rPr lang="en-US" sz="1500" dirty="0">
                <a:solidFill>
                  <a:srgbClr val="44505C"/>
                </a:solidFill>
                <a:latin typeface="IBM Plex Sans" pitchFamily="34" charset="0"/>
                <a:ea typeface="IBM Plex Sans" pitchFamily="34" charset="-122"/>
                <a:cs typeface="IBM Plex Sans" pitchFamily="34" charset="-120"/>
              </a:rPr>
              <a:t>: </a:t>
            </a:r>
            <a:r>
              <a:rPr lang="en-US" sz="1500" b="1" dirty="0">
                <a:solidFill>
                  <a:srgbClr val="1F7A7A"/>
                </a:solidFill>
                <a:latin typeface="IBM Plex Sans" pitchFamily="34" charset="0"/>
                <a:ea typeface="IBM Plex Sans" pitchFamily="34" charset="-122"/>
                <a:cs typeface="IBM Plex Sans" pitchFamily="34" charset="-120"/>
              </a:rPr>
              <a:t>TT = T · u</a:t>
            </a:r>
            <a:r>
              <a:rPr lang="en-US" sz="1500" dirty="0">
                <a:solidFill>
                  <a:srgbClr val="44505C"/>
                </a:solidFill>
                <a:latin typeface="IBM Plex Sans" pitchFamily="34" charset="0"/>
                <a:ea typeface="IBM Plex Sans" pitchFamily="34" charset="-122"/>
                <a:cs typeface="IBM Plex Sans" pitchFamily="34" charset="-120"/>
              </a:rPr>
              <a:t>, and the unwanted part </a:t>
            </a:r>
            <a:r>
              <a:rPr lang="en-US" sz="1500" b="1" dirty="0">
                <a:solidFill>
                  <a:srgbClr val="B4531E"/>
                </a:solidFill>
                <a:latin typeface="IBM Plex Sans" pitchFamily="34" charset="0"/>
                <a:ea typeface="IBM Plex Sans" pitchFamily="34" charset="-122"/>
                <a:cs typeface="IBM Plex Sans" pitchFamily="34" charset="-120"/>
              </a:rPr>
              <a:t>RT = R · u</a:t>
            </a:r>
            <a:r>
              <a:rPr lang="en-US" sz="1500" dirty="0">
                <a:solidFill>
                  <a:srgbClr val="44505C"/>
                </a:solidFill>
                <a:latin typeface="IBM Plex Sans" pitchFamily="34" charset="0"/>
                <a:ea typeface="IBM Plex Sans" pitchFamily="34" charset="-122"/>
                <a:cs typeface="IBM Plex Sans" pitchFamily="34" charset="-120"/>
              </a:rPr>
              <a:t>.</a:t>
            </a:r>
            <a:endParaRPr lang="en-US" sz="1500" dirty="0"/>
          </a:p>
        </p:txBody>
      </p:sp>
      <p:sp>
        <p:nvSpPr>
          <p:cNvPr id="6" name="Text 4"/>
          <p:cNvSpPr/>
          <p:nvPr/>
        </p:nvSpPr>
        <p:spPr>
          <a:xfrm>
            <a:off x="812800" y="318770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This is the same as rotating N/E records into R/T with the back azimuth β.</a:t>
            </a:r>
            <a:endParaRPr lang="en-US" sz="1500" dirty="0"/>
          </a:p>
        </p:txBody>
      </p:sp>
      <p:sp>
        <p:nvSpPr>
          <p:cNvPr id="7" name="Text 5"/>
          <p:cNvSpPr/>
          <p:nvPr/>
        </p:nvSpPr>
        <p:spPr>
          <a:xfrm>
            <a:off x="812800" y="3860800"/>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The kernel code repeats this step with </a:t>
            </a:r>
            <a:r>
              <a:rPr lang="en-US" sz="1500" b="1" dirty="0">
                <a:solidFill>
                  <a:srgbClr val="1D2B3A"/>
                </a:solidFill>
                <a:latin typeface="IBM Plex Sans" pitchFamily="34" charset="0"/>
                <a:ea typeface="IBM Plex Sans" pitchFamily="34" charset="-122"/>
                <a:cs typeface="IBM Plex Sans" pitchFamily="34" charset="-120"/>
              </a:rPr>
              <a:t>rot_mat</a:t>
            </a:r>
            <a:r>
              <a:rPr lang="en-US" sz="1500" dirty="0">
                <a:solidFill>
                  <a:srgbClr val="44505C"/>
                </a:solidFill>
                <a:latin typeface="IBM Plex Sans" pitchFamily="34" charset="0"/>
                <a:ea typeface="IBM Plex Sans" pitchFamily="34" charset="-122"/>
                <a:cs typeface="IBM Plex Sans" pitchFamily="34" charset="-120"/>
              </a:rPr>
              <a:t> (columns T, R, Z) from the conf file.</a:t>
            </a:r>
            <a:endParaRPr lang="en-US" sz="1500" dirty="0"/>
          </a:p>
        </p:txBody>
      </p:sp>
      <p:pic>
        <p:nvPicPr>
          <p:cNvPr id="8" name="Image 0" descr="Receiver response vector split into its T and R parts">    </p:cNvPr>
          <p:cNvPicPr>
            <a:picLocks noChangeAspect="1"/>
          </p:cNvPicPr>
          <p:nvPr/>
        </p:nvPicPr>
        <p:blipFill>
          <a:blip r:embed="rId1"/>
          <a:srcRect l="0" r="0" t="0" b="0"/>
          <a:stretch/>
        </p:blipFill>
        <p:spPr>
          <a:xfrm>
            <a:off x="5283200" y="1574800"/>
            <a:ext cx="6096000" cy="4445000"/>
          </a:xfrm>
          <a:prstGeom prst="rect">
            <a:avLst/>
          </a:prstGeom>
        </p:spPr>
      </p:pic>
      <p:sp>
        <p:nvSpPr>
          <p:cNvPr id="9" name="Text 6"/>
          <p:cNvSpPr/>
          <p:nvPr/>
        </p:nvSpPr>
        <p:spPr>
          <a:xfrm>
            <a:off x="8926860" y="1981200"/>
            <a:ext cx="1701800"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B4531E"/>
                </a:solidFill>
                <a:latin typeface="IBM Plex Sans" pitchFamily="34" charset="0"/>
                <a:ea typeface="IBM Plex Sans" pitchFamily="34" charset="-122"/>
                <a:cs typeface="IBM Plex Sans" pitchFamily="34" charset="-120"/>
              </a:rPr>
              <a:t>R at receiver</a:t>
            </a:r>
            <a:endParaRPr lang="en-US" sz="1300" dirty="0"/>
          </a:p>
        </p:txBody>
      </p:sp>
      <p:sp>
        <p:nvSpPr>
          <p:cNvPr id="10" name="Text 7"/>
          <p:cNvSpPr/>
          <p:nvPr/>
        </p:nvSpPr>
        <p:spPr>
          <a:xfrm>
            <a:off x="8906619" y="4991646"/>
            <a:ext cx="1701800"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D2B3A"/>
                </a:solidFill>
                <a:latin typeface="IBM Plex Sans" pitchFamily="34" charset="0"/>
                <a:ea typeface="IBM Plex Sans" pitchFamily="34" charset="-122"/>
                <a:cs typeface="IBM Plex Sans" pitchFamily="34" charset="-120"/>
              </a:rPr>
              <a:t>response u (x, y)</a:t>
            </a:r>
            <a:endParaRPr lang="en-US" sz="1300" dirty="0"/>
          </a:p>
        </p:txBody>
      </p:sp>
      <p:sp>
        <p:nvSpPr>
          <p:cNvPr id="11" name="Text 8"/>
          <p:cNvSpPr/>
          <p:nvPr/>
        </p:nvSpPr>
        <p:spPr>
          <a:xfrm>
            <a:off x="6438900" y="4909096"/>
            <a:ext cx="1447800" cy="231775"/>
          </a:xfrm>
          <a:prstGeom prst="rect">
            <a:avLst/>
          </a:prstGeom>
          <a:noFill/>
          <a:ln/>
        </p:spPr>
        <p:txBody>
          <a:bodyPr wrap="square" lIns="0" tIns="0" rIns="0" bIns="0" rtlCol="0" anchor="t">
            <a:normAutofit/>
          </a:bodyPr>
          <a:lstStyle/>
          <a:p>
            <a:pPr algn="r" indent="0" marL="0">
              <a:lnSpc>
                <a:spcPts val="1625"/>
              </a:lnSpc>
              <a:buNone/>
            </a:pPr>
            <a:r>
              <a:rPr lang="en-US" sz="1300" b="1" dirty="0">
                <a:solidFill>
                  <a:srgbClr val="1F7A7A"/>
                </a:solidFill>
                <a:latin typeface="IBM Plex Sans" pitchFamily="34" charset="0"/>
                <a:ea typeface="IBM Plex Sans" pitchFamily="34" charset="-122"/>
                <a:cs typeface="IBM Plex Sans" pitchFamily="34" charset="-120"/>
              </a:rPr>
              <a:t>TT = T · u</a:t>
            </a:r>
            <a:endParaRPr lang="en-US" sz="1300" dirty="0"/>
          </a:p>
        </p:txBody>
      </p:sp>
      <p:sp>
        <p:nvSpPr>
          <p:cNvPr id="12" name="Text 9"/>
          <p:cNvSpPr/>
          <p:nvPr/>
        </p:nvSpPr>
        <p:spPr>
          <a:xfrm>
            <a:off x="7636619" y="2559050"/>
            <a:ext cx="2158365" cy="21590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B4531E"/>
                </a:solidFill>
                <a:latin typeface="IBM Plex Sans" pitchFamily="34" charset="0"/>
                <a:ea typeface="IBM Plex Sans" pitchFamily="34" charset="-122"/>
                <a:cs typeface="IBM Plex Sans" pitchFamily="34" charset="-120"/>
              </a:rPr>
              <a:t>RT = R · u (leakage)</a:t>
            </a:r>
            <a:endParaRPr lang="en-US" sz="1200" dirty="0"/>
          </a:p>
        </p:txBody>
      </p:sp>
      <p:sp>
        <p:nvSpPr>
          <p:cNvPr id="13" name="Text 10"/>
          <p:cNvSpPr/>
          <p:nvPr/>
        </p:nvSpPr>
        <p:spPr>
          <a:xfrm>
            <a:off x="6057900" y="5829300"/>
            <a:ext cx="1701800" cy="215900"/>
          </a:xfrm>
          <a:prstGeom prst="rect">
            <a:avLst/>
          </a:prstGeom>
          <a:noFill/>
          <a:ln/>
        </p:spPr>
        <p:txBody>
          <a:bodyPr wrap="square" lIns="0" tIns="0" rIns="0" bIns="0" rtlCol="0" anchor="t">
            <a:normAutofit/>
          </a:bodyPr>
          <a:lstStyle/>
          <a:p>
            <a:pPr algn="r" indent="0" marL="0">
              <a:lnSpc>
                <a:spcPts val="1500"/>
              </a:lnSpc>
              <a:buNone/>
            </a:pPr>
            <a:r>
              <a:rPr lang="en-US" sz="1200" dirty="0">
                <a:solidFill>
                  <a:srgbClr val="44505C"/>
                </a:solidFill>
                <a:latin typeface="IBM Plex Sans" pitchFamily="34" charset="0"/>
                <a:ea typeface="IBM Plex Sans" pitchFamily="34" charset="-122"/>
                <a:cs typeface="IBM Plex Sans" pitchFamily="34" charset="-120"/>
              </a:rPr>
              <a:t>x (south)</a:t>
            </a:r>
            <a:endParaRPr lang="en-US" sz="1200" dirty="0"/>
          </a:p>
        </p:txBody>
      </p:sp>
      <p:sp>
        <p:nvSpPr>
          <p:cNvPr id="14" name="Text 11"/>
          <p:cNvSpPr/>
          <p:nvPr/>
        </p:nvSpPr>
        <p:spPr>
          <a:xfrm>
            <a:off x="10172700" y="3238500"/>
            <a:ext cx="106680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4505C"/>
                </a:solidFill>
                <a:latin typeface="IBM Plex Sans" pitchFamily="34" charset="0"/>
                <a:ea typeface="IBM Plex Sans" pitchFamily="34" charset="-122"/>
                <a:cs typeface="IBM Plex Sans" pitchFamily="34" charset="-120"/>
              </a:rPr>
              <a:t>y (east)</a:t>
            </a:r>
            <a:endParaRPr lang="en-US" sz="1200" dirty="0"/>
          </a:p>
        </p:txBody>
      </p:sp>
      <p:sp>
        <p:nvSpPr>
          <p:cNvPr id="15" name="Text 12"/>
          <p:cNvSpPr/>
          <p:nvPr/>
        </p:nvSpPr>
        <p:spPr>
          <a:xfrm>
            <a:off x="7514927" y="5529064"/>
            <a:ext cx="1701800"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F7A7A"/>
                </a:solidFill>
                <a:latin typeface="IBM Plex Sans" pitchFamily="34" charset="0"/>
                <a:ea typeface="IBM Plex Sans" pitchFamily="34" charset="-122"/>
                <a:cs typeface="IBM Plex Sans" pitchFamily="34" charset="-120"/>
              </a:rPr>
              <a:t>T at receiver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5 · BOTH ROTATIONS TOGETHER</a:t>
            </a:r>
            <a:endParaRPr lang="en-US" sz="1200" dirty="0"/>
          </a:p>
        </p:txBody>
      </p:sp>
      <p:sp>
        <p:nvSpPr>
          <p:cNvPr id="3" name="Text 1"/>
          <p:cNvSpPr/>
          <p:nvPr>
            <p:ph type="title"/>
          </p:nvPr>
        </p:nvSpPr>
        <p:spPr>
          <a:xfrm>
            <a:off x="812800" y="949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Putting it together: TT, RR and the leakage checks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587450"/>
          <a:ext cx="5702300" cy="2564954"/>
        </p:xfrm>
        <a:graphic>
          <a:graphicData uri="http://schemas.openxmlformats.org/drawingml/2006/table">
            <a:tbl>
              <a:tblPr/>
              <a:tblGrid>
                <a:gridCol w="1026414"/>
                <a:gridCol w="1368552"/>
                <a:gridCol w="1140460"/>
                <a:gridCol w="2166874"/>
              </a:tblGrid>
              <a:tr h="386011">
                <a:tc>
                  <a:txBody>
                    <a:bodyPr/>
                    <a:lstStyle/>
                    <a:p>
                      <a:pPr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Output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Source force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Receiver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Expected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r>
              <a:tr h="386011">
                <a:tc>
                  <a:txBody>
                    <a:bodyPr/>
                    <a:lstStyle/>
                    <a:p>
                      <a:pPr indent="0" marL="0">
                        <a:lnSpc>
                          <a:spcPts val="1960"/>
                        </a:lnSpc>
                        <a:buNone/>
                      </a:pPr>
                      <a:r>
                        <a:rPr lang="en-US" sz="1400" dirty="0">
                          <a:solidFill>
                            <a:srgbClr val="1F7A7A"/>
                          </a:solidFill>
                          <a:latin typeface="IBM Plex Sans" pitchFamily="34" charset="0"/>
                          <a:ea typeface="IBM Plex Sans" pitchFamily="34" charset="-122"/>
                          <a:cs typeface="IBM Plex Sans" pitchFamily="34" charset="-120"/>
                        </a:rPr>
                        <a:t>TT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along 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Love signal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634901">
                <a:tc>
                  <a:txBody>
                    <a:bodyPr/>
                    <a:lstStyle/>
                    <a:p>
                      <a:pPr indent="0" marL="0">
                        <a:lnSpc>
                          <a:spcPts val="1960"/>
                        </a:lnSpc>
                        <a:buNone/>
                      </a:pPr>
                      <a:r>
                        <a:rPr lang="en-US" sz="1400" dirty="0">
                          <a:solidFill>
                            <a:srgbClr val="B4531E"/>
                          </a:solidFill>
                          <a:latin typeface="IBM Plex Sans" pitchFamily="34" charset="0"/>
                          <a:ea typeface="IBM Plex Sans" pitchFamily="34" charset="-122"/>
                          <a:cs typeface="IBM Plex Sans" pitchFamily="34" charset="-120"/>
                        </a:rPr>
                        <a:t>RR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along 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Rayleigh, horizontal signal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86011">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RT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along 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 0, leakage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86011">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TR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along 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 0, leakage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86011">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ZT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along 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Z</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960"/>
                        </a:lnSpc>
                        <a:buNone/>
                      </a:pPr>
                      <a:r>
                        <a:rPr lang="en-US" sz="1400" dirty="0">
                          <a:solidFill>
                            <a:srgbClr val="44505C"/>
                          </a:solidFill>
                          <a:latin typeface="IBM Plex Sans" pitchFamily="34" charset="0"/>
                          <a:ea typeface="IBM Plex Sans" pitchFamily="34" charset="-122"/>
                          <a:cs typeface="IBM Plex Sans" pitchFamily="34" charset="-120"/>
                        </a:rPr>
                        <a:t>≈ 0, leakage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bl>
          </a:graphicData>
        </a:graphic>
      </p:graphicFrame>
      <p:sp>
        <p:nvSpPr>
          <p:cNvPr id="5" name="Text 2"/>
          <p:cNvSpPr/>
          <p:nvPr/>
        </p:nvSpPr>
        <p:spPr>
          <a:xfrm>
            <a:off x="812800" y="4330204"/>
            <a:ext cx="58864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In one line: </a:t>
            </a:r>
            <a:r>
              <a:rPr lang="en-US" sz="1500" b="1" dirty="0">
                <a:solidFill>
                  <a:srgbClr val="1D2B3A"/>
                </a:solidFill>
                <a:latin typeface="IBM Plex Sans" pitchFamily="34" charset="0"/>
                <a:ea typeface="IBM Plex Sans" pitchFamily="34" charset="-122"/>
                <a:cs typeface="IBM Plex Sans" pitchFamily="34" charset="-120"/>
              </a:rPr>
              <a:t>TT = Σ t(receiver)ᵢ · Gᵢⱼ · t(source)ⱼ</a:t>
            </a:r>
            <a:r>
              <a:rPr lang="en-US" sz="1500" dirty="0">
                <a:solidFill>
                  <a:srgbClr val="44505C"/>
                </a:solidFill>
                <a:latin typeface="IBM Plex Sans" pitchFamily="34" charset="0"/>
                <a:ea typeface="IBM Plex Sans" pitchFamily="34" charset="-122"/>
                <a:cs typeface="IBM Plex Sans" pitchFamily="34" charset="-120"/>
              </a:rPr>
              <a:t>, the Green’s tensor sandwiched between the two T vectors. RR is the same with R.</a:t>
            </a:r>
            <a:endParaRPr lang="en-US" sz="1500" dirty="0"/>
          </a:p>
        </p:txBody>
      </p:sp>
      <p:sp>
        <p:nvSpPr>
          <p:cNvPr id="6" name="Text 3"/>
          <p:cNvSpPr/>
          <p:nvPr/>
        </p:nvSpPr>
        <p:spPr>
          <a:xfrm>
            <a:off x="6934200" y="1574750"/>
            <a:ext cx="4064000" cy="1784350"/>
          </a:xfrm>
          <a:prstGeom prst="roundRect">
            <a:avLst>
              <a:gd name="adj" fmla="val 4270"/>
            </a:avLst>
          </a:prstGeom>
          <a:solidFill>
            <a:srgbClr val="1D2B3A"/>
          </a:solidFill>
          <a:ln/>
        </p:spPr>
        <p:txBody>
          <a:bodyPr wrap="square" lIns="180882" tIns="155482" rIns="71154" bIns="130082" rtlCol="0" anchor="t">
            <a:normAutofit/>
          </a:bodyPr>
          <a:lstStyle/>
          <a:p>
            <a:pPr algn="l" indent="0" marL="0">
              <a:lnSpc>
                <a:spcPts val="1875"/>
              </a:lnSpc>
              <a:buNone/>
            </a:pPr>
            <a:r>
              <a:rPr lang="en-US" sz="1250" dirty="0">
                <a:solidFill>
                  <a:srgbClr val="E7EEF2"/>
                </a:solidFill>
                <a:latin typeface="IBM Plex Mono" pitchFamily="49" charset="0"/>
                <a:ea typeface="IBM Plex Mono" pitchFamily="49" charset="-122"/>
                <a:cs typeface="IBM Plex Mono" pitchFamily="49" charset="-120"/>
              </a:rPr>
              <a:t>ts = [sind(a) cosd(a)];</a:t>
            </a:r>
            <a:endParaRPr lang="en-US" sz="1250" dirty="0"/>
          </a:p>
          <a:p>
            <a:pPr algn="l" indent="0" marL="0">
              <a:lnSpc>
                <a:spcPts val="1875"/>
              </a:lnSpc>
              <a:buNone/>
            </a:pPr>
            <a:r>
              <a:rPr lang="en-US" sz="1250" dirty="0">
                <a:solidFill>
                  <a:srgbClr val="E7EEF2"/>
                </a:solidFill>
                <a:latin typeface="IBM Plex Mono" pitchFamily="49" charset="0"/>
                <a:ea typeface="IBM Plex Mono" pitchFamily="49" charset="-122"/>
                <a:cs typeface="IBM Plex Mono" pitchFamily="49" charset="-120"/>
              </a:rPr>
              <a:t>tr = [-sind(b) -cosd(b)];</a:t>
            </a:r>
            <a:endParaRPr lang="en-US" sz="1250" dirty="0"/>
          </a:p>
          <a:p>
            <a:pPr algn="l" indent="0" marL="0">
              <a:lnSpc>
                <a:spcPts val="1875"/>
              </a:lnSpc>
              <a:buNone/>
            </a:pPr>
            <a:endParaRPr lang="en-US" sz="1250" dirty="0"/>
          </a:p>
          <a:p>
            <a:pPr algn="l" indent="0" marL="0">
              <a:lnSpc>
                <a:spcPts val="1875"/>
              </a:lnSpc>
              <a:buNone/>
            </a:pPr>
            <a:r>
              <a:rPr lang="en-US" sz="1250" dirty="0">
                <a:solidFill>
                  <a:srgbClr val="E7EEF2"/>
                </a:solidFill>
                <a:latin typeface="IBM Plex Mono" pitchFamily="49" charset="0"/>
                <a:ea typeface="IBM Plex Mono" pitchFamily="49" charset="-122"/>
                <a:cs typeface="IBM Plex Mono" pitchFamily="49" charset="-120"/>
              </a:rPr>
              <a:t>uxT = ts(1)*Fx.Vx + ts(2)*Fy.Vx;</a:t>
            </a:r>
            <a:endParaRPr lang="en-US" sz="1250" dirty="0"/>
          </a:p>
          <a:p>
            <a:pPr algn="l" indent="0" marL="0">
              <a:lnSpc>
                <a:spcPts val="1875"/>
              </a:lnSpc>
              <a:buNone/>
            </a:pPr>
            <a:r>
              <a:rPr lang="en-US" sz="1250" dirty="0">
                <a:solidFill>
                  <a:srgbClr val="E7EEF2"/>
                </a:solidFill>
                <a:latin typeface="IBM Plex Mono" pitchFamily="49" charset="0"/>
                <a:ea typeface="IBM Plex Mono" pitchFamily="49" charset="-122"/>
                <a:cs typeface="IBM Plex Mono" pitchFamily="49" charset="-120"/>
              </a:rPr>
              <a:t>uyT = ts(1)*Fx.Vy + ts(2)*Fy.Vy;</a:t>
            </a:r>
            <a:endParaRPr lang="en-US" sz="1250" dirty="0"/>
          </a:p>
          <a:p>
            <a:pPr algn="l" indent="0" marL="0">
              <a:lnSpc>
                <a:spcPts val="1875"/>
              </a:lnSpc>
              <a:buNone/>
            </a:pPr>
            <a:r>
              <a:rPr lang="en-US" sz="1250" dirty="0">
                <a:solidFill>
                  <a:srgbClr val="E7EEF2"/>
                </a:solidFill>
                <a:latin typeface="IBM Plex Mono" pitchFamily="49" charset="0"/>
                <a:ea typeface="IBM Plex Mono" pitchFamily="49" charset="-122"/>
                <a:cs typeface="IBM Plex Mono" pitchFamily="49" charset="-120"/>
              </a:rPr>
              <a:t>TT = tr(1)*uxT + tr(2)*uyT;</a:t>
            </a:r>
            <a:endParaRPr lang="en-US" sz="1250" dirty="0"/>
          </a:p>
        </p:txBody>
      </p:sp>
      <p:sp>
        <p:nvSpPr>
          <p:cNvPr id="7" name="Text 4"/>
          <p:cNvSpPr/>
          <p:nvPr/>
        </p:nvSpPr>
        <p:spPr>
          <a:xfrm>
            <a:off x="6934200" y="3486100"/>
            <a:ext cx="457835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From rotate_fx_fy.m; a = α and b = β in degrees.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6 · CHECKS ON THE RIO GRANDE DATA</a:t>
            </a:r>
            <a:endParaRPr lang="en-US" sz="1200" dirty="0"/>
          </a:p>
        </p:txBody>
      </p:sp>
      <p:sp>
        <p:nvSpPr>
          <p:cNvPr id="3" name="Text 1"/>
          <p:cNvSpPr/>
          <p:nvPr>
            <p:ph type="title"/>
          </p:nvPr>
        </p:nvSpPr>
        <p:spPr>
          <a:xfrm>
            <a:off x="812800" y="949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The frames are right: leakage is tiny and the azimuths agree</a:t>
            </a:r>
            <a:endParaRPr lang="en-US" sz="3200" dirty="0"/>
          </a:p>
        </p:txBody>
      </p:sp>
      <p:sp>
        <p:nvSpPr>
          <p:cNvPr id="4" name="Shape 2"/>
          <p:cNvSpPr/>
          <p:nvPr/>
        </p:nvSpPr>
        <p:spPr>
          <a:xfrm>
            <a:off x="819150" y="1581100"/>
            <a:ext cx="3238500" cy="2461171"/>
          </a:xfrm>
          <a:prstGeom prst="roundRect">
            <a:avLst>
              <a:gd name="adj" fmla="val 2838"/>
            </a:avLst>
          </a:prstGeom>
          <a:solidFill>
            <a:srgbClr val="FBFAF6"/>
          </a:solidFill>
          <a:ln w="12700">
            <a:solidFill>
              <a:srgbClr val="D9D4C7"/>
            </a:solidFill>
            <a:prstDash val="solid"/>
          </a:ln>
        </p:spPr>
      </p:sp>
      <p:sp>
        <p:nvSpPr>
          <p:cNvPr id="5" name="Text 3"/>
          <p:cNvSpPr/>
          <p:nvPr/>
        </p:nvSpPr>
        <p:spPr>
          <a:xfrm>
            <a:off x="1054100" y="181605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 5e-3</a:t>
            </a:r>
            <a:endParaRPr lang="en-US" sz="4800" dirty="0"/>
          </a:p>
        </p:txBody>
      </p:sp>
      <p:sp>
        <p:nvSpPr>
          <p:cNvPr id="6" name="Text 4"/>
          <p:cNvSpPr/>
          <p:nvPr/>
        </p:nvSpPr>
        <p:spPr>
          <a:xfrm>
            <a:off x="1054100" y="254501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Leakage</a:t>
            </a:r>
            <a:endParaRPr lang="en-US" sz="1400" dirty="0"/>
          </a:p>
        </p:txBody>
      </p:sp>
      <p:sp>
        <p:nvSpPr>
          <p:cNvPr id="7" name="Text 5"/>
          <p:cNvSpPr/>
          <p:nvPr/>
        </p:nvSpPr>
        <p:spPr>
          <a:xfrm>
            <a:off x="1054100" y="2882801"/>
            <a:ext cx="2851658"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Peak ratio of RT, TR and ZT to TT: 1e-5 to 5e-3 across stations 2–80, 0.05–0.1 Hz.</a:t>
            </a:r>
            <a:endParaRPr lang="en-US" sz="1300" dirty="0"/>
          </a:p>
        </p:txBody>
      </p:sp>
      <p:sp>
        <p:nvSpPr>
          <p:cNvPr id="8" name="Shape 6"/>
          <p:cNvSpPr/>
          <p:nvPr/>
        </p:nvSpPr>
        <p:spPr>
          <a:xfrm>
            <a:off x="4476750" y="1581100"/>
            <a:ext cx="3238500" cy="2461171"/>
          </a:xfrm>
          <a:prstGeom prst="roundRect">
            <a:avLst>
              <a:gd name="adj" fmla="val 2838"/>
            </a:avLst>
          </a:prstGeom>
          <a:solidFill>
            <a:srgbClr val="FBFAF6"/>
          </a:solidFill>
          <a:ln w="12700">
            <a:solidFill>
              <a:srgbClr val="D9D4C7"/>
            </a:solidFill>
            <a:prstDash val="solid"/>
          </a:ln>
        </p:spPr>
      </p:sp>
      <p:sp>
        <p:nvSpPr>
          <p:cNvPr id="9" name="Text 7"/>
          <p:cNvSpPr/>
          <p:nvPr/>
        </p:nvSpPr>
        <p:spPr>
          <a:xfrm>
            <a:off x="4711700" y="181605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0.0°</a:t>
            </a:r>
            <a:endParaRPr lang="en-US" sz="4800" dirty="0"/>
          </a:p>
        </p:txBody>
      </p:sp>
      <p:sp>
        <p:nvSpPr>
          <p:cNvPr id="10" name="Text 8"/>
          <p:cNvSpPr/>
          <p:nvPr/>
        </p:nvSpPr>
        <p:spPr>
          <a:xfrm>
            <a:off x="4711700" y="254501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Azimuth check</a:t>
            </a:r>
            <a:endParaRPr lang="en-US" sz="1400" dirty="0"/>
          </a:p>
        </p:txBody>
      </p:sp>
      <p:sp>
        <p:nvSpPr>
          <p:cNvPr id="11" name="Text 9"/>
          <p:cNvSpPr/>
          <p:nvPr/>
        </p:nvSpPr>
        <p:spPr>
          <a:xfrm>
            <a:off x="4711700" y="2882801"/>
            <a:ext cx="285165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Median error of the azimuth recovered from Z, since Uz(fy) / Uz(fx) = −tan α; maximum about 0.5°.</a:t>
            </a:r>
            <a:endParaRPr lang="en-US" sz="1300" dirty="0"/>
          </a:p>
        </p:txBody>
      </p:sp>
      <p:sp>
        <p:nvSpPr>
          <p:cNvPr id="12" name="Shape 10"/>
          <p:cNvSpPr/>
          <p:nvPr/>
        </p:nvSpPr>
        <p:spPr>
          <a:xfrm>
            <a:off x="8134350" y="1581100"/>
            <a:ext cx="3238500" cy="2461171"/>
          </a:xfrm>
          <a:prstGeom prst="roundRect">
            <a:avLst>
              <a:gd name="adj" fmla="val 2838"/>
            </a:avLst>
          </a:prstGeom>
          <a:solidFill>
            <a:srgbClr val="FBFAF6"/>
          </a:solidFill>
          <a:ln w="12700">
            <a:solidFill>
              <a:srgbClr val="D9D4C7"/>
            </a:solidFill>
            <a:prstDash val="solid"/>
          </a:ln>
        </p:spPr>
      </p:sp>
      <p:sp>
        <p:nvSpPr>
          <p:cNvPr id="13" name="Text 11"/>
          <p:cNvSpPr/>
          <p:nvPr/>
        </p:nvSpPr>
        <p:spPr>
          <a:xfrm>
            <a:off x="8369300" y="181605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No flip</a:t>
            </a:r>
            <a:endParaRPr lang="en-US" sz="4800" dirty="0"/>
          </a:p>
        </p:txBody>
      </p:sp>
      <p:sp>
        <p:nvSpPr>
          <p:cNvPr id="14" name="Text 12"/>
          <p:cNvSpPr/>
          <p:nvPr/>
        </p:nvSpPr>
        <p:spPr>
          <a:xfrm>
            <a:off x="8369300" y="254501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Polarity</a:t>
            </a:r>
            <a:endParaRPr lang="en-US" sz="1400" dirty="0"/>
          </a:p>
        </p:txBody>
      </p:sp>
      <p:sp>
        <p:nvSpPr>
          <p:cNvPr id="15" name="Text 13"/>
          <p:cNvSpPr/>
          <p:nvPr/>
        </p:nvSpPr>
        <p:spPr>
          <a:xfrm>
            <a:off x="8369300" y="2882801"/>
            <a:ext cx="285165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Raw single-force records reverse sign across the source; after weighting by sin α and cos α they do not.</a:t>
            </a:r>
            <a:endParaRPr lang="en-US" sz="1300" dirty="0"/>
          </a:p>
        </p:txBody>
      </p:sp>
      <p:sp>
        <p:nvSpPr>
          <p:cNvPr id="16" name="Shape 14"/>
          <p:cNvSpPr/>
          <p:nvPr/>
        </p:nvSpPr>
        <p:spPr>
          <a:xfrm>
            <a:off x="812800" y="4226421"/>
            <a:ext cx="10566400" cy="835620"/>
          </a:xfrm>
          <a:prstGeom prst="roundRect">
            <a:avLst>
              <a:gd name="adj" fmla="val 9119"/>
            </a:avLst>
          </a:prstGeom>
          <a:solidFill>
            <a:srgbClr val="1D2B3A"/>
          </a:solidFill>
          <a:ln/>
        </p:spPr>
      </p:sp>
      <p:sp>
        <p:nvSpPr>
          <p:cNvPr id="17" name="Text 15"/>
          <p:cNvSpPr/>
          <p:nvPr/>
        </p:nvSpPr>
        <p:spPr>
          <a:xfrm>
            <a:off x="1041400" y="4515644"/>
            <a:ext cx="196215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F6F4EE"/>
                </a:solidFill>
                <a:latin typeface="IBM Plex Sans" pitchFamily="34" charset="0"/>
                <a:ea typeface="IBM Plex Sans" pitchFamily="34" charset="-122"/>
                <a:cs typeface="IBM Plex Sans" pitchFamily="34" charset="-120"/>
              </a:rPr>
              <a:t>Still to verify</a:t>
            </a:r>
            <a:endParaRPr lang="en-US" sz="1500" dirty="0"/>
          </a:p>
        </p:txBody>
      </p:sp>
      <p:sp>
        <p:nvSpPr>
          <p:cNvPr id="18" name="Text 16"/>
          <p:cNvSpPr/>
          <p:nvPr/>
        </p:nvSpPr>
        <p:spPr>
          <a:xfrm>
            <a:off x="3098800" y="4404221"/>
            <a:ext cx="82933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E0E7"/>
                </a:solidFill>
                <a:latin typeface="IBM Plex Sans" pitchFamily="34" charset="0"/>
                <a:ea typeface="IBM Plex Sans" pitchFamily="34" charset="-122"/>
                <a:cs typeface="IBM Plex Sans" pitchFamily="34" charset="-120"/>
              </a:rPr>
              <a:t>Sign of the synthetic TT against the real TT EGFs (cross-correlation convention), before measuring phase delays on all pairs.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7 · IN THE WORKFLOW</a:t>
            </a:r>
            <a:endParaRPr lang="en-US" sz="1200" dirty="0"/>
          </a:p>
        </p:txBody>
      </p:sp>
      <p:sp>
        <p:nvSpPr>
          <p:cNvPr id="3" name="Text 1"/>
          <p:cNvSpPr/>
          <p:nvPr>
            <p:ph type="title"/>
          </p:nvPr>
        </p:nvSpPr>
        <p:spPr>
          <a:xfrm>
            <a:off x="812800" y="949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Where each rotation happens in the workflow</a:t>
            </a:r>
            <a:endParaRPr lang="en-US" sz="3200" dirty="0"/>
          </a:p>
        </p:txBody>
      </p:sp>
      <p:sp>
        <p:nvSpPr>
          <p:cNvPr id="4" name="Shape 2"/>
          <p:cNvSpPr/>
          <p:nvPr/>
        </p:nvSpPr>
        <p:spPr>
          <a:xfrm>
            <a:off x="819150" y="1581100"/>
            <a:ext cx="10553700" cy="764530"/>
          </a:xfrm>
          <a:prstGeom prst="roundRect">
            <a:avLst>
              <a:gd name="adj" fmla="val 9136"/>
            </a:avLst>
          </a:prstGeom>
          <a:solidFill>
            <a:srgbClr val="FBFAF6"/>
          </a:solidFill>
          <a:ln w="12700">
            <a:solidFill>
              <a:srgbClr val="D9D4C7"/>
            </a:solidFill>
            <a:prstDash val="solid"/>
          </a:ln>
        </p:spPr>
      </p:sp>
      <p:sp>
        <p:nvSpPr>
          <p:cNvPr id="5" name="Text 3"/>
          <p:cNvSpPr/>
          <p:nvPr/>
        </p:nvSpPr>
        <p:spPr>
          <a:xfrm>
            <a:off x="1003300" y="1714450"/>
            <a:ext cx="406400"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F7A7A"/>
                </a:solidFill>
                <a:latin typeface="EB Garamond" pitchFamily="18" charset="0"/>
                <a:ea typeface="EB Garamond" pitchFamily="18" charset="-122"/>
                <a:cs typeface="EB Garamond" pitchFamily="18" charset="-120"/>
              </a:rPr>
              <a:t>1</a:t>
            </a:r>
            <a:endParaRPr lang="en-US" sz="2800" dirty="0"/>
          </a:p>
        </p:txBody>
      </p:sp>
      <p:sp>
        <p:nvSpPr>
          <p:cNvPr id="6" name="Text 4"/>
          <p:cNvSpPr/>
          <p:nvPr/>
        </p:nvSpPr>
        <p:spPr>
          <a:xfrm>
            <a:off x="1511300" y="1829991"/>
            <a:ext cx="1765935"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B3A"/>
                </a:solidFill>
                <a:latin typeface="IBM Plex Sans" pitchFamily="34" charset="0"/>
                <a:ea typeface="IBM Plex Sans" pitchFamily="34" charset="-122"/>
                <a:cs typeface="IBM Plex Sans" pitchFamily="34" charset="-120"/>
              </a:rPr>
              <a:t>Simulate</a:t>
            </a:r>
            <a:endParaRPr lang="en-US" sz="1500" dirty="0"/>
          </a:p>
        </p:txBody>
      </p:sp>
      <p:sp>
        <p:nvSpPr>
          <p:cNvPr id="7" name="Text 5"/>
          <p:cNvSpPr/>
          <p:nvPr/>
        </p:nvSpPr>
        <p:spPr>
          <a:xfrm>
            <a:off x="3378200" y="1852216"/>
            <a:ext cx="3401060" cy="247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1D2B3A"/>
                </a:solidFill>
                <a:latin typeface="IBM Plex Mono" pitchFamily="49" charset="0"/>
                <a:ea typeface="IBM Plex Mono" pitchFamily="49" charset="-122"/>
                <a:cs typeface="IBM Plex Mono" pitchFamily="49" charset="-120"/>
              </a:rPr>
              <a:t>seis3d_wave in fx/ and fy/</a:t>
            </a:r>
            <a:endParaRPr lang="en-US" sz="1250" dirty="0"/>
          </a:p>
        </p:txBody>
      </p:sp>
      <p:sp>
        <p:nvSpPr>
          <p:cNvPr id="8" name="Text 6"/>
          <p:cNvSpPr/>
          <p:nvPr/>
        </p:nvSpPr>
        <p:spPr>
          <a:xfrm>
            <a:off x="6832600" y="1731913"/>
            <a:ext cx="4512945" cy="488255"/>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44505C"/>
                </a:solidFill>
                <a:latin typeface="IBM Plex Sans" pitchFamily="34" charset="0"/>
                <a:ea typeface="IBM Plex Sans" pitchFamily="34" charset="-122"/>
                <a:cs typeface="IBM Plex Sans" pitchFamily="34" charset="-120"/>
              </a:rPr>
              <a:t>Nothing rotated yet: two raw single-force wavefields per virtual source.</a:t>
            </a:r>
            <a:endParaRPr lang="en-US" sz="1350" dirty="0"/>
          </a:p>
        </p:txBody>
      </p:sp>
      <p:sp>
        <p:nvSpPr>
          <p:cNvPr id="9" name="Shape 7"/>
          <p:cNvSpPr/>
          <p:nvPr/>
        </p:nvSpPr>
        <p:spPr>
          <a:xfrm>
            <a:off x="819150" y="2472630"/>
            <a:ext cx="10553700" cy="764530"/>
          </a:xfrm>
          <a:prstGeom prst="roundRect">
            <a:avLst>
              <a:gd name="adj" fmla="val 9136"/>
            </a:avLst>
          </a:prstGeom>
          <a:solidFill>
            <a:srgbClr val="FBFAF6"/>
          </a:solidFill>
          <a:ln w="12700">
            <a:solidFill>
              <a:srgbClr val="D9D4C7"/>
            </a:solidFill>
            <a:prstDash val="solid"/>
          </a:ln>
        </p:spPr>
      </p:sp>
      <p:sp>
        <p:nvSpPr>
          <p:cNvPr id="10" name="Text 8"/>
          <p:cNvSpPr/>
          <p:nvPr/>
        </p:nvSpPr>
        <p:spPr>
          <a:xfrm>
            <a:off x="1003300" y="2605980"/>
            <a:ext cx="406400"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F7A7A"/>
                </a:solidFill>
                <a:latin typeface="EB Garamond" pitchFamily="18" charset="0"/>
                <a:ea typeface="EB Garamond" pitchFamily="18" charset="-122"/>
                <a:cs typeface="EB Garamond" pitchFamily="18" charset="-120"/>
              </a:rPr>
              <a:t>2</a:t>
            </a:r>
            <a:endParaRPr lang="en-US" sz="2800" dirty="0"/>
          </a:p>
        </p:txBody>
      </p:sp>
      <p:sp>
        <p:nvSpPr>
          <p:cNvPr id="11" name="Text 9"/>
          <p:cNvSpPr/>
          <p:nvPr/>
        </p:nvSpPr>
        <p:spPr>
          <a:xfrm>
            <a:off x="1511300" y="2721521"/>
            <a:ext cx="1765935"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B3A"/>
                </a:solidFill>
                <a:latin typeface="IBM Plex Sans" pitchFamily="34" charset="0"/>
                <a:ea typeface="IBM Plex Sans" pitchFamily="34" charset="-122"/>
                <a:cs typeface="IBM Plex Sans" pitchFamily="34" charset="-120"/>
              </a:rPr>
              <a:t>Synthetic TT</a:t>
            </a:r>
            <a:endParaRPr lang="en-US" sz="1500" dirty="0"/>
          </a:p>
        </p:txBody>
      </p:sp>
      <p:sp>
        <p:nvSpPr>
          <p:cNvPr id="12" name="Text 10"/>
          <p:cNvSpPr/>
          <p:nvPr/>
        </p:nvSpPr>
        <p:spPr>
          <a:xfrm>
            <a:off x="3378200" y="2743746"/>
            <a:ext cx="3401060" cy="247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1D2B3A"/>
                </a:solidFill>
                <a:latin typeface="IBM Plex Mono" pitchFamily="49" charset="0"/>
                <a:ea typeface="IBM Plex Mono" pitchFamily="49" charset="-122"/>
                <a:cs typeface="IBM Plex Mono" pitchFamily="49" charset="-120"/>
              </a:rPr>
              <a:t>snap2sac_sphere_TT.m</a:t>
            </a:r>
            <a:endParaRPr lang="en-US" sz="1250" dirty="0"/>
          </a:p>
        </p:txBody>
      </p:sp>
      <p:sp>
        <p:nvSpPr>
          <p:cNvPr id="13" name="Text 11"/>
          <p:cNvSpPr/>
          <p:nvPr/>
        </p:nvSpPr>
        <p:spPr>
          <a:xfrm>
            <a:off x="6832600" y="2623443"/>
            <a:ext cx="4512945" cy="488255"/>
          </a:xfrm>
          <a:prstGeom prst="rect">
            <a:avLst/>
          </a:prstGeom>
          <a:noFill/>
          <a:ln/>
        </p:spPr>
        <p:txBody>
          <a:bodyPr wrap="square" lIns="0" tIns="0" rIns="0" bIns="0" rtlCol="0" anchor="t">
            <a:normAutofit/>
          </a:bodyPr>
          <a:lstStyle/>
          <a:p>
            <a:pPr algn="l" indent="0" marL="0">
              <a:lnSpc>
                <a:spcPts val="1823"/>
              </a:lnSpc>
              <a:buNone/>
            </a:pPr>
            <a:r>
              <a:rPr lang="en-US" sz="1350" b="1" dirty="0">
                <a:solidFill>
                  <a:srgbClr val="1D2B3A"/>
                </a:solidFill>
                <a:latin typeface="IBM Plex Sans" pitchFamily="34" charset="0"/>
                <a:ea typeface="IBM Plex Sans" pitchFamily="34" charset="-122"/>
                <a:cs typeface="IBM Plex Sans" pitchFamily="34" charset="-120"/>
              </a:rPr>
              <a:t>Both sides</a:t>
            </a:r>
            <a:r>
              <a:rPr lang="en-US" sz="1350" dirty="0">
                <a:solidFill>
                  <a:srgbClr val="44505C"/>
                </a:solidFill>
                <a:latin typeface="IBM Plex Sans" pitchFamily="34" charset="0"/>
                <a:ea typeface="IBM Plex Sans" pitchFamily="34" charset="-122"/>
                <a:cs typeface="IBM Plex Sans" pitchFamily="34" charset="-120"/>
              </a:rPr>
              <a:t>: writes TT and RR, plus the response to a T force as x, y, z.</a:t>
            </a:r>
            <a:endParaRPr lang="en-US" sz="1350" dirty="0"/>
          </a:p>
        </p:txBody>
      </p:sp>
      <p:sp>
        <p:nvSpPr>
          <p:cNvPr id="14" name="Shape 12"/>
          <p:cNvSpPr/>
          <p:nvPr/>
        </p:nvSpPr>
        <p:spPr>
          <a:xfrm>
            <a:off x="819150" y="3364161"/>
            <a:ext cx="10553700" cy="764530"/>
          </a:xfrm>
          <a:prstGeom prst="roundRect">
            <a:avLst>
              <a:gd name="adj" fmla="val 9136"/>
            </a:avLst>
          </a:prstGeom>
          <a:solidFill>
            <a:srgbClr val="FBFAF6"/>
          </a:solidFill>
          <a:ln w="12700">
            <a:solidFill>
              <a:srgbClr val="D9D4C7"/>
            </a:solidFill>
            <a:prstDash val="solid"/>
          </a:ln>
        </p:spPr>
      </p:sp>
      <p:sp>
        <p:nvSpPr>
          <p:cNvPr id="15" name="Text 13"/>
          <p:cNvSpPr/>
          <p:nvPr/>
        </p:nvSpPr>
        <p:spPr>
          <a:xfrm>
            <a:off x="1003300" y="3497511"/>
            <a:ext cx="406400"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F7A7A"/>
                </a:solidFill>
                <a:latin typeface="EB Garamond" pitchFamily="18" charset="0"/>
                <a:ea typeface="EB Garamond" pitchFamily="18" charset="-122"/>
                <a:cs typeface="EB Garamond" pitchFamily="18" charset="-120"/>
              </a:rPr>
              <a:t>3</a:t>
            </a:r>
            <a:endParaRPr lang="en-US" sz="2800" dirty="0"/>
          </a:p>
        </p:txBody>
      </p:sp>
      <p:sp>
        <p:nvSpPr>
          <p:cNvPr id="16" name="Text 14"/>
          <p:cNvSpPr/>
          <p:nvPr/>
        </p:nvSpPr>
        <p:spPr>
          <a:xfrm>
            <a:off x="1511300" y="3613051"/>
            <a:ext cx="1765935"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B3A"/>
                </a:solidFill>
                <a:latin typeface="IBM Plex Sans" pitchFamily="34" charset="0"/>
                <a:ea typeface="IBM Plex Sans" pitchFamily="34" charset="-122"/>
                <a:cs typeface="IBM Plex Sans" pitchFamily="34" charset="-120"/>
              </a:rPr>
              <a:t>Delays and conf</a:t>
            </a:r>
            <a:endParaRPr lang="en-US" sz="1500" dirty="0"/>
          </a:p>
        </p:txBody>
      </p:sp>
      <p:sp>
        <p:nvSpPr>
          <p:cNvPr id="17" name="Text 15"/>
          <p:cNvSpPr/>
          <p:nvPr/>
        </p:nvSpPr>
        <p:spPr>
          <a:xfrm>
            <a:off x="3378200" y="3524151"/>
            <a:ext cx="3401060" cy="46990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1D2B3A"/>
                </a:solidFill>
                <a:latin typeface="IBM Plex Mono" pitchFamily="49" charset="0"/>
                <a:ea typeface="IBM Plex Mono" pitchFamily="49" charset="-122"/>
                <a:cs typeface="IBM Plex Mono" pitchFamily="49" charset="-120"/>
              </a:rPr>
              <a:t>kern_synthetic4kernel_TT.m</a:t>
            </a:r>
            <a:endParaRPr lang="en-US" sz="1250" dirty="0"/>
          </a:p>
          <a:p>
            <a:pPr algn="l" indent="0" marL="0">
              <a:lnSpc>
                <a:spcPts val="1750"/>
              </a:lnSpc>
              <a:buNone/>
            </a:pPr>
            <a:r>
              <a:rPr lang="en-US" sz="1250" dirty="0">
                <a:solidFill>
                  <a:srgbClr val="1D2B3A"/>
                </a:solidFill>
                <a:latin typeface="IBM Plex Mono" pitchFamily="49" charset="0"/>
                <a:ea typeface="IBM Plex Mono" pitchFamily="49" charset="-122"/>
                <a:cs typeface="IBM Plex Mono" pitchFamily="49" charset="-120"/>
              </a:rPr>
              <a:t>kern_measure2kernelconf_TT.sh</a:t>
            </a:r>
            <a:endParaRPr lang="en-US" sz="1250" dirty="0"/>
          </a:p>
        </p:txBody>
      </p:sp>
      <p:sp>
        <p:nvSpPr>
          <p:cNvPr id="18" name="Text 16"/>
          <p:cNvSpPr/>
          <p:nvPr/>
        </p:nvSpPr>
        <p:spPr>
          <a:xfrm>
            <a:off x="6832600" y="3514973"/>
            <a:ext cx="4512945" cy="488255"/>
          </a:xfrm>
          <a:prstGeom prst="rect">
            <a:avLst/>
          </a:prstGeom>
          <a:noFill/>
          <a:ln/>
        </p:spPr>
        <p:txBody>
          <a:bodyPr wrap="square" lIns="0" tIns="0" rIns="0" bIns="0" rtlCol="0" anchor="t">
            <a:normAutofit/>
          </a:bodyPr>
          <a:lstStyle/>
          <a:p>
            <a:pPr algn="l" indent="0" marL="0">
              <a:lnSpc>
                <a:spcPts val="1823"/>
              </a:lnSpc>
              <a:buNone/>
            </a:pPr>
            <a:r>
              <a:rPr lang="en-US" sz="1350" dirty="0">
                <a:solidFill>
                  <a:srgbClr val="44505C"/>
                </a:solidFill>
                <a:latin typeface="IBM Plex Sans" pitchFamily="34" charset="0"/>
                <a:ea typeface="IBM Plex Sans" pitchFamily="34" charset="-122"/>
                <a:cs typeface="IBM Plex Sans" pitchFamily="34" charset="-120"/>
              </a:rPr>
              <a:t>Delays measured on TT. The conf keeps </a:t>
            </a:r>
            <a:r>
              <a:rPr lang="en-US" sz="1350" b="1" dirty="0">
                <a:solidFill>
                  <a:srgbClr val="1D2B3A"/>
                </a:solidFill>
                <a:latin typeface="IBM Plex Sans" pitchFamily="34" charset="0"/>
                <a:ea typeface="IBM Plex Sans" pitchFamily="34" charset="-122"/>
                <a:cs typeface="IBM Plex Sans" pitchFamily="34" charset="-120"/>
              </a:rPr>
              <a:t>rot_mat</a:t>
            </a:r>
            <a:r>
              <a:rPr lang="en-US" sz="1350" dirty="0">
                <a:solidFill>
                  <a:srgbClr val="44505C"/>
                </a:solidFill>
                <a:latin typeface="IBM Plex Sans" pitchFamily="34" charset="0"/>
                <a:ea typeface="IBM Plex Sans" pitchFamily="34" charset="-122"/>
                <a:cs typeface="IBM Plex Sans" pitchFamily="34" charset="-120"/>
              </a:rPr>
              <a:t> (receiver) and (sin α, cos α) (source).</a:t>
            </a:r>
            <a:endParaRPr lang="en-US" sz="1350" dirty="0"/>
          </a:p>
        </p:txBody>
      </p:sp>
      <p:sp>
        <p:nvSpPr>
          <p:cNvPr id="19" name="Shape 17"/>
          <p:cNvSpPr/>
          <p:nvPr/>
        </p:nvSpPr>
        <p:spPr>
          <a:xfrm>
            <a:off x="819150" y="4255691"/>
            <a:ext cx="10553700" cy="764530"/>
          </a:xfrm>
          <a:prstGeom prst="roundRect">
            <a:avLst>
              <a:gd name="adj" fmla="val 9136"/>
            </a:avLst>
          </a:prstGeom>
          <a:solidFill>
            <a:srgbClr val="FBFAF6"/>
          </a:solidFill>
          <a:ln w="12700">
            <a:solidFill>
              <a:srgbClr val="D9D4C7"/>
            </a:solidFill>
            <a:prstDash val="solid"/>
          </a:ln>
        </p:spPr>
      </p:sp>
      <p:sp>
        <p:nvSpPr>
          <p:cNvPr id="20" name="Text 18"/>
          <p:cNvSpPr/>
          <p:nvPr/>
        </p:nvSpPr>
        <p:spPr>
          <a:xfrm>
            <a:off x="1003300" y="4389041"/>
            <a:ext cx="406400"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F7A7A"/>
                </a:solidFill>
                <a:latin typeface="EB Garamond" pitchFamily="18" charset="0"/>
                <a:ea typeface="EB Garamond" pitchFamily="18" charset="-122"/>
                <a:cs typeface="EB Garamond" pitchFamily="18" charset="-120"/>
              </a:rPr>
              <a:t>4</a:t>
            </a:r>
            <a:endParaRPr lang="en-US" sz="2800" dirty="0"/>
          </a:p>
        </p:txBody>
      </p:sp>
      <p:sp>
        <p:nvSpPr>
          <p:cNvPr id="21" name="Text 19"/>
          <p:cNvSpPr/>
          <p:nvPr/>
        </p:nvSpPr>
        <p:spPr>
          <a:xfrm>
            <a:off x="1511300" y="4504581"/>
            <a:ext cx="1765935"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B3A"/>
                </a:solidFill>
                <a:latin typeface="IBM Plex Sans" pitchFamily="34" charset="0"/>
                <a:ea typeface="IBM Plex Sans" pitchFamily="34" charset="-122"/>
                <a:cs typeface="IBM Plex Sans" pitchFamily="34" charset="-120"/>
              </a:rPr>
              <a:t>Kernels</a:t>
            </a:r>
            <a:endParaRPr lang="en-US" sz="1500" dirty="0"/>
          </a:p>
        </p:txBody>
      </p:sp>
      <p:sp>
        <p:nvSpPr>
          <p:cNvPr id="22" name="Text 20"/>
          <p:cNvSpPr/>
          <p:nvPr/>
        </p:nvSpPr>
        <p:spPr>
          <a:xfrm>
            <a:off x="3378200" y="4526806"/>
            <a:ext cx="3401060" cy="247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1D2B3A"/>
                </a:solidFill>
                <a:latin typeface="IBM Plex Mono" pitchFamily="49" charset="0"/>
                <a:ea typeface="IBM Plex Mono" pitchFamily="49" charset="-122"/>
                <a:cs typeface="IBM Plex Mono" pitchFamily="49" charset="-120"/>
              </a:rPr>
              <a:t>SI_ker_sta_fxyz.F90</a:t>
            </a:r>
            <a:endParaRPr lang="en-US" sz="1250" dirty="0"/>
          </a:p>
        </p:txBody>
      </p:sp>
      <p:sp>
        <p:nvSpPr>
          <p:cNvPr id="23" name="Text 21"/>
          <p:cNvSpPr/>
          <p:nvPr/>
        </p:nvSpPr>
        <p:spPr>
          <a:xfrm>
            <a:off x="6832600" y="4406503"/>
            <a:ext cx="4512945" cy="488255"/>
          </a:xfrm>
          <a:prstGeom prst="rect">
            <a:avLst/>
          </a:prstGeom>
          <a:noFill/>
          <a:ln/>
        </p:spPr>
        <p:txBody>
          <a:bodyPr wrap="square" lIns="0" tIns="0" rIns="0" bIns="0" rtlCol="0" anchor="t">
            <a:normAutofit/>
          </a:bodyPr>
          <a:lstStyle/>
          <a:p>
            <a:pPr algn="l" indent="0" marL="0">
              <a:lnSpc>
                <a:spcPts val="1823"/>
              </a:lnSpc>
              <a:buNone/>
            </a:pPr>
            <a:r>
              <a:rPr lang="en-US" sz="1350" b="1" dirty="0">
                <a:solidFill>
                  <a:srgbClr val="1D2B3A"/>
                </a:solidFill>
                <a:latin typeface="IBM Plex Sans" pitchFamily="34" charset="0"/>
                <a:ea typeface="IBM Plex Sans" pitchFamily="34" charset="-122"/>
                <a:cs typeface="IBM Plex Sans" pitchFamily="34" charset="-120"/>
              </a:rPr>
              <a:t>Receiver</a:t>
            </a:r>
            <a:r>
              <a:rPr lang="en-US" sz="1350" dirty="0">
                <a:solidFill>
                  <a:srgbClr val="44505C"/>
                </a:solidFill>
                <a:latin typeface="IBM Plex Sans" pitchFamily="34" charset="0"/>
                <a:ea typeface="IBM Plex Sans" pitchFamily="34" charset="-122"/>
                <a:cs typeface="IBM Plex Sans" pitchFamily="34" charset="-120"/>
              </a:rPr>
              <a:t>: rot_mat applied before the convolution. </a:t>
            </a:r>
            <a:r>
              <a:rPr lang="en-US" sz="1350" b="1" dirty="0">
                <a:solidFill>
                  <a:srgbClr val="1D2B3A"/>
                </a:solidFill>
                <a:latin typeface="IBM Plex Sans" pitchFamily="34" charset="0"/>
                <a:ea typeface="IBM Plex Sans" pitchFamily="34" charset="-122"/>
                <a:cs typeface="IBM Plex Sans" pitchFamily="34" charset="-120"/>
              </a:rPr>
              <a:t>Source</a:t>
            </a:r>
            <a:r>
              <a:rPr lang="en-US" sz="1350" dirty="0">
                <a:solidFill>
                  <a:srgbClr val="44505C"/>
                </a:solidFill>
                <a:latin typeface="IBM Plex Sans" pitchFamily="34" charset="0"/>
                <a:ea typeface="IBM Plex Sans" pitchFamily="34" charset="-122"/>
                <a:cs typeface="IBM Plex Sans" pitchFamily="34" charset="-120"/>
              </a:rPr>
              <a:t>: sin α · fx + cos α · fy event strains.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8 · KERNEL CODE</a:t>
            </a:r>
            <a:endParaRPr lang="en-US" sz="1200" dirty="0"/>
          </a:p>
        </p:txBody>
      </p:sp>
      <p:sp>
        <p:nvSpPr>
          <p:cNvPr id="3" name="Text 1"/>
          <p:cNvSpPr/>
          <p:nvPr>
            <p:ph type="title"/>
          </p:nvPr>
        </p:nvSpPr>
        <p:spPr>
          <a:xfrm>
            <a:off x="812800" y="9499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What changed from SI_ker_sta.F90 to SI_ker_sta_fxyz.F90</a:t>
            </a:r>
            <a:endParaRPr lang="en-US" sz="3200" dirty="0"/>
          </a:p>
        </p:txBody>
      </p:sp>
      <p:sp>
        <p:nvSpPr>
          <p:cNvPr id="4" name="Text 2"/>
          <p:cNvSpPr/>
          <p:nvPr/>
        </p:nvSpPr>
        <p:spPr>
          <a:xfrm>
            <a:off x="990600" y="1574750"/>
            <a:ext cx="16383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A97A3"/>
                </a:solidFill>
                <a:latin typeface="IBM Plex Sans" pitchFamily="34" charset="0"/>
                <a:ea typeface="IBM Plex Sans" pitchFamily="34" charset="-122"/>
                <a:cs typeface="IBM Plex Sans" pitchFamily="34" charset="-120"/>
              </a:rPr>
              <a:t>ITEM</a:t>
            </a:r>
            <a:endParaRPr lang="en-US" sz="1200" dirty="0"/>
          </a:p>
        </p:txBody>
      </p:sp>
      <p:sp>
        <p:nvSpPr>
          <p:cNvPr id="5" name="Text 3"/>
          <p:cNvSpPr/>
          <p:nvPr/>
        </p:nvSpPr>
        <p:spPr>
          <a:xfrm>
            <a:off x="2730500" y="1574750"/>
            <a:ext cx="39243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A97A3"/>
                </a:solidFill>
                <a:latin typeface="IBM Plex Sans" pitchFamily="34" charset="0"/>
                <a:ea typeface="IBM Plex Sans" pitchFamily="34" charset="-122"/>
                <a:cs typeface="IBM Plex Sans" pitchFamily="34" charset="-120"/>
              </a:rPr>
              <a:t>OLD CODE (ZZ ONLY)</a:t>
            </a:r>
            <a:endParaRPr lang="en-US" sz="1200" dirty="0"/>
          </a:p>
        </p:txBody>
      </p:sp>
      <p:sp>
        <p:nvSpPr>
          <p:cNvPr id="6" name="Text 4"/>
          <p:cNvSpPr/>
          <p:nvPr/>
        </p:nvSpPr>
        <p:spPr>
          <a:xfrm>
            <a:off x="6692900" y="1574750"/>
            <a:ext cx="457835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NEW CODE (TT AND ZZ)</a:t>
            </a:r>
            <a:endParaRPr lang="en-US" sz="1200" dirty="0"/>
          </a:p>
        </p:txBody>
      </p:sp>
      <p:sp>
        <p:nvSpPr>
          <p:cNvPr id="7" name="Shape 5"/>
          <p:cNvSpPr/>
          <p:nvPr/>
        </p:nvSpPr>
        <p:spPr>
          <a:xfrm>
            <a:off x="819150" y="1896021"/>
            <a:ext cx="10553700" cy="712391"/>
          </a:xfrm>
          <a:prstGeom prst="roundRect">
            <a:avLst>
              <a:gd name="adj" fmla="val 9805"/>
            </a:avLst>
          </a:prstGeom>
          <a:solidFill>
            <a:srgbClr val="FBFAF6"/>
          </a:solidFill>
          <a:ln w="12700">
            <a:solidFill>
              <a:srgbClr val="D9D4C7"/>
            </a:solidFill>
            <a:prstDash val="solid"/>
          </a:ln>
        </p:spPr>
      </p:sp>
      <p:sp>
        <p:nvSpPr>
          <p:cNvPr id="8" name="Text 6"/>
          <p:cNvSpPr/>
          <p:nvPr/>
        </p:nvSpPr>
        <p:spPr>
          <a:xfrm>
            <a:off x="1003300" y="2123331"/>
            <a:ext cx="1638300"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D2B3A"/>
                </a:solidFill>
                <a:latin typeface="IBM Plex Sans" pitchFamily="34" charset="0"/>
                <a:ea typeface="IBM Plex Sans" pitchFamily="34" charset="-122"/>
                <a:cs typeface="IBM Plex Sans" pitchFamily="34" charset="-120"/>
              </a:rPr>
              <a:t>Source side</a:t>
            </a:r>
            <a:endParaRPr lang="en-US" sz="1450" dirty="0"/>
          </a:p>
        </p:txBody>
      </p:sp>
      <p:sp>
        <p:nvSpPr>
          <p:cNvPr id="9" name="Text 7"/>
          <p:cNvSpPr/>
          <p:nvPr/>
        </p:nvSpPr>
        <p:spPr>
          <a:xfrm>
            <a:off x="2743200" y="2029371"/>
            <a:ext cx="392430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4505C"/>
                </a:solidFill>
                <a:latin typeface="IBM Plex Sans" pitchFamily="34" charset="0"/>
                <a:ea typeface="IBM Plex Sans" pitchFamily="34" charset="-122"/>
                <a:cs typeface="IBM Plex Sans" pitchFamily="34" charset="-120"/>
              </a:rPr>
              <a:t>One event run (EVENT_OUTD); no source weights are read.</a:t>
            </a:r>
            <a:endParaRPr lang="en-US" sz="1300" dirty="0"/>
          </a:p>
        </p:txBody>
      </p:sp>
      <p:sp>
        <p:nvSpPr>
          <p:cNvPr id="10" name="Text 8"/>
          <p:cNvSpPr/>
          <p:nvPr/>
        </p:nvSpPr>
        <p:spPr>
          <a:xfrm>
            <a:off x="6705600" y="2029371"/>
            <a:ext cx="4578350"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D2B3A"/>
                </a:solidFill>
                <a:latin typeface="IBM Plex Sans" pitchFamily="34" charset="0"/>
                <a:ea typeface="IBM Plex Sans" pitchFamily="34" charset="-122"/>
                <a:cs typeface="IBM Plex Sans" pitchFamily="34" charset="-120"/>
              </a:rPr>
              <a:t>Mixes the event SGTs</a:t>
            </a:r>
            <a:r>
              <a:rPr lang="en-US" sz="1300" dirty="0">
                <a:solidFill>
                  <a:srgbClr val="44505C"/>
                </a:solidFill>
                <a:latin typeface="IBM Plex Sans" pitchFamily="34" charset="0"/>
                <a:ea typeface="IBM Plex Sans" pitchFamily="34" charset="-122"/>
                <a:cs typeface="IBM Plex Sans" pitchFamily="34" charset="-120"/>
              </a:rPr>
              <a:t>: wsrc(1) · fx run + wsrc(2) · fy run, i.e. sin α and cos α.</a:t>
            </a:r>
            <a:endParaRPr lang="en-US" sz="1300" dirty="0"/>
          </a:p>
        </p:txBody>
      </p:sp>
      <p:sp>
        <p:nvSpPr>
          <p:cNvPr id="11" name="Shape 9"/>
          <p:cNvSpPr/>
          <p:nvPr/>
        </p:nvSpPr>
        <p:spPr>
          <a:xfrm>
            <a:off x="819150" y="2722711"/>
            <a:ext cx="10553700" cy="935236"/>
          </a:xfrm>
          <a:prstGeom prst="roundRect">
            <a:avLst>
              <a:gd name="adj" fmla="val 7469"/>
            </a:avLst>
          </a:prstGeom>
          <a:solidFill>
            <a:srgbClr val="FBFAF6"/>
          </a:solidFill>
          <a:ln w="12700">
            <a:solidFill>
              <a:srgbClr val="D9D4C7"/>
            </a:solidFill>
            <a:prstDash val="solid"/>
          </a:ln>
        </p:spPr>
      </p:sp>
      <p:sp>
        <p:nvSpPr>
          <p:cNvPr id="12" name="Text 10"/>
          <p:cNvSpPr/>
          <p:nvPr/>
        </p:nvSpPr>
        <p:spPr>
          <a:xfrm>
            <a:off x="1003300" y="3061444"/>
            <a:ext cx="1638300"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D2B3A"/>
                </a:solidFill>
                <a:latin typeface="IBM Plex Sans" pitchFamily="34" charset="0"/>
                <a:ea typeface="IBM Plex Sans" pitchFamily="34" charset="-122"/>
                <a:cs typeface="IBM Plex Sans" pitchFamily="34" charset="-120"/>
              </a:rPr>
              <a:t>Receiver side</a:t>
            </a:r>
            <a:endParaRPr lang="en-US" sz="1450" dirty="0"/>
          </a:p>
        </p:txBody>
      </p:sp>
      <p:sp>
        <p:nvSpPr>
          <p:cNvPr id="13" name="Text 11"/>
          <p:cNvSpPr/>
          <p:nvPr/>
        </p:nvSpPr>
        <p:spPr>
          <a:xfrm>
            <a:off x="2743200" y="2967484"/>
            <a:ext cx="392430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4505C"/>
                </a:solidFill>
                <a:latin typeface="IBM Plex Sans" pitchFamily="34" charset="0"/>
                <a:ea typeface="IBM Plex Sans" pitchFamily="34" charset="-122"/>
                <a:cs typeface="IBM Plex Sans" pitchFamily="34" charset="-120"/>
              </a:rPr>
              <a:t>Station X, Y, Z SGTs always loaded; rot_mat applied to the synthetics and scattered fields.</a:t>
            </a:r>
            <a:endParaRPr lang="en-US" sz="1300" dirty="0"/>
          </a:p>
        </p:txBody>
      </p:sp>
      <p:sp>
        <p:nvSpPr>
          <p:cNvPr id="14" name="Text 12"/>
          <p:cNvSpPr/>
          <p:nvPr/>
        </p:nvSpPr>
        <p:spPr>
          <a:xfrm>
            <a:off x="6705600" y="2856061"/>
            <a:ext cx="4578350" cy="693936"/>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D2B3A"/>
                </a:solidFill>
                <a:latin typeface="IBM Plex Sans" pitchFamily="34" charset="0"/>
                <a:ea typeface="IBM Plex Sans" pitchFamily="34" charset="-122"/>
                <a:cs typeface="IBM Plex Sans" pitchFamily="34" charset="-120"/>
              </a:rPr>
              <a:t>Receiver weights</a:t>
            </a:r>
            <a:r>
              <a:rPr lang="en-US" sz="1300" dirty="0">
                <a:solidFill>
                  <a:srgbClr val="44505C"/>
                </a:solidFill>
                <a:latin typeface="IBM Plex Sans" pitchFamily="34" charset="0"/>
                <a:ea typeface="IBM Plex Sans" pitchFamily="34" charset="-122"/>
                <a:cs typeface="IBM Plex Sans" pitchFamily="34" charset="-120"/>
              </a:rPr>
              <a:t> from the rot_mat column of the picked channel; only the components with non-zero weight are loaded.</a:t>
            </a:r>
            <a:endParaRPr lang="en-US" sz="1300" dirty="0"/>
          </a:p>
        </p:txBody>
      </p:sp>
      <p:sp>
        <p:nvSpPr>
          <p:cNvPr id="15" name="Shape 13"/>
          <p:cNvSpPr/>
          <p:nvPr/>
        </p:nvSpPr>
        <p:spPr>
          <a:xfrm>
            <a:off x="819150" y="3772247"/>
            <a:ext cx="10553700" cy="524470"/>
          </a:xfrm>
          <a:prstGeom prst="roundRect">
            <a:avLst>
              <a:gd name="adj" fmla="val 13318"/>
            </a:avLst>
          </a:prstGeom>
          <a:solidFill>
            <a:srgbClr val="FBFAF6"/>
          </a:solidFill>
          <a:ln w="12700">
            <a:solidFill>
              <a:srgbClr val="D9D4C7"/>
            </a:solidFill>
            <a:prstDash val="solid"/>
          </a:ln>
        </p:spPr>
      </p:sp>
      <p:sp>
        <p:nvSpPr>
          <p:cNvPr id="16" name="Text 14"/>
          <p:cNvSpPr/>
          <p:nvPr/>
        </p:nvSpPr>
        <p:spPr>
          <a:xfrm>
            <a:off x="1003300" y="3905597"/>
            <a:ext cx="1638300"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D2B3A"/>
                </a:solidFill>
                <a:latin typeface="IBM Plex Sans" pitchFamily="34" charset="0"/>
                <a:ea typeface="IBM Plex Sans" pitchFamily="34" charset="-122"/>
                <a:cs typeface="IBM Plex Sans" pitchFamily="34" charset="-120"/>
              </a:rPr>
              <a:t>Pair line in conf</a:t>
            </a:r>
            <a:endParaRPr lang="en-US" sz="1450" dirty="0"/>
          </a:p>
        </p:txBody>
      </p:sp>
      <p:sp>
        <p:nvSpPr>
          <p:cNvPr id="17" name="Text 15"/>
          <p:cNvSpPr/>
          <p:nvPr/>
        </p:nvSpPr>
        <p:spPr>
          <a:xfrm>
            <a:off x="2743200" y="3927822"/>
            <a:ext cx="3924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2B3A"/>
                </a:solidFill>
                <a:latin typeface="IBM Plex Mono" pitchFamily="49" charset="0"/>
                <a:ea typeface="IBM Plex Mono" pitchFamily="49" charset="-122"/>
                <a:cs typeface="IBM Plex Mono" pitchFamily="49" charset="-120"/>
              </a:rPr>
              <a:t>event picknum(6) rot_mat(9)</a:t>
            </a:r>
            <a:endParaRPr lang="en-US" sz="1200" dirty="0"/>
          </a:p>
        </p:txBody>
      </p:sp>
      <p:sp>
        <p:nvSpPr>
          <p:cNvPr id="18" name="Text 16"/>
          <p:cNvSpPr/>
          <p:nvPr/>
        </p:nvSpPr>
        <p:spPr>
          <a:xfrm>
            <a:off x="6705600" y="3927822"/>
            <a:ext cx="4578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2B3A"/>
                </a:solidFill>
                <a:latin typeface="IBM Plex Mono" pitchFamily="49" charset="0"/>
                <a:ea typeface="IBM Plex Mono" pitchFamily="49" charset="-122"/>
                <a:cs typeface="IBM Plex Mono" pitchFamily="49" charset="-120"/>
              </a:rPr>
              <a:t>event picknum(6) rot_mat(9) sinα cosα</a:t>
            </a:r>
            <a:endParaRPr lang="en-US" sz="1200" dirty="0"/>
          </a:p>
        </p:txBody>
      </p:sp>
      <p:sp>
        <p:nvSpPr>
          <p:cNvPr id="19" name="Shape 17"/>
          <p:cNvSpPr/>
          <p:nvPr/>
        </p:nvSpPr>
        <p:spPr>
          <a:xfrm>
            <a:off x="819150" y="4411018"/>
            <a:ext cx="10553700" cy="712391"/>
          </a:xfrm>
          <a:prstGeom prst="roundRect">
            <a:avLst>
              <a:gd name="adj" fmla="val 9805"/>
            </a:avLst>
          </a:prstGeom>
          <a:solidFill>
            <a:srgbClr val="FBFAF6"/>
          </a:solidFill>
          <a:ln w="12700">
            <a:solidFill>
              <a:srgbClr val="D9D4C7"/>
            </a:solidFill>
            <a:prstDash val="solid"/>
          </a:ln>
        </p:spPr>
      </p:sp>
      <p:sp>
        <p:nvSpPr>
          <p:cNvPr id="20" name="Text 18"/>
          <p:cNvSpPr/>
          <p:nvPr/>
        </p:nvSpPr>
        <p:spPr>
          <a:xfrm>
            <a:off x="1003300" y="4638328"/>
            <a:ext cx="1638300"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D2B3A"/>
                </a:solidFill>
                <a:latin typeface="IBM Plex Sans" pitchFamily="34" charset="0"/>
                <a:ea typeface="IBM Plex Sans" pitchFamily="34" charset="-122"/>
                <a:cs typeface="IBM Plex Sans" pitchFamily="34" charset="-120"/>
              </a:rPr>
              <a:t>Convolution</a:t>
            </a:r>
            <a:endParaRPr lang="en-US" sz="1450" dirty="0"/>
          </a:p>
        </p:txBody>
      </p:sp>
      <p:sp>
        <p:nvSpPr>
          <p:cNvPr id="21" name="Text 19"/>
          <p:cNvSpPr/>
          <p:nvPr/>
        </p:nvSpPr>
        <p:spPr>
          <a:xfrm>
            <a:off x="2743200" y="4655790"/>
            <a:ext cx="39243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4505C"/>
                </a:solidFill>
                <a:latin typeface="IBM Plex Sans" pitchFamily="34" charset="0"/>
                <a:ea typeface="IBM Plex Sans" pitchFamily="34" charset="-122"/>
                <a:cs typeface="IBM Plex Sans" pitchFamily="34" charset="-120"/>
              </a:rPr>
              <a:t>Full time sum in every grid cell.</a:t>
            </a:r>
            <a:endParaRPr lang="en-US" sz="1300" dirty="0"/>
          </a:p>
        </p:txBody>
      </p:sp>
      <p:sp>
        <p:nvSpPr>
          <p:cNvPr id="22" name="Text 20"/>
          <p:cNvSpPr/>
          <p:nvPr/>
        </p:nvSpPr>
        <p:spPr>
          <a:xfrm>
            <a:off x="6705600" y="4544368"/>
            <a:ext cx="4578350"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D2B3A"/>
                </a:solidFill>
                <a:latin typeface="IBM Plex Sans" pitchFamily="34" charset="0"/>
                <a:ea typeface="IBM Plex Sans" pitchFamily="34" charset="-122"/>
                <a:cs typeface="IBM Plex Sans" pitchFamily="34" charset="-120"/>
              </a:rPr>
              <a:t>Skips leading zeros</a:t>
            </a:r>
            <a:r>
              <a:rPr lang="en-US" sz="1300" dirty="0">
                <a:solidFill>
                  <a:srgbClr val="44505C"/>
                </a:solidFill>
                <a:latin typeface="IBM Plex Sans" pitchFamily="34" charset="0"/>
                <a:ea typeface="IBM Plex Sans" pitchFamily="34" charset="-122"/>
                <a:cs typeface="IBM Plex Sans" pitchFamily="34" charset="-120"/>
              </a:rPr>
              <a:t> of the SGT; stops at the last pick for the P1 and N filters (not P2).</a:t>
            </a:r>
            <a:endParaRPr lang="en-US" sz="1300" dirty="0"/>
          </a:p>
        </p:txBody>
      </p:sp>
      <p:sp>
        <p:nvSpPr>
          <p:cNvPr id="23" name="Shape 21"/>
          <p:cNvSpPr/>
          <p:nvPr/>
        </p:nvSpPr>
        <p:spPr>
          <a:xfrm>
            <a:off x="819150" y="5237708"/>
            <a:ext cx="10553700" cy="712391"/>
          </a:xfrm>
          <a:prstGeom prst="roundRect">
            <a:avLst>
              <a:gd name="adj" fmla="val 9805"/>
            </a:avLst>
          </a:prstGeom>
          <a:solidFill>
            <a:srgbClr val="FBFAF6"/>
          </a:solidFill>
          <a:ln w="12700">
            <a:solidFill>
              <a:srgbClr val="D9D4C7"/>
            </a:solidFill>
            <a:prstDash val="solid"/>
          </a:ln>
        </p:spPr>
      </p:sp>
      <p:sp>
        <p:nvSpPr>
          <p:cNvPr id="24" name="Text 22"/>
          <p:cNvSpPr/>
          <p:nvPr/>
        </p:nvSpPr>
        <p:spPr>
          <a:xfrm>
            <a:off x="1003300" y="5465018"/>
            <a:ext cx="1638300"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1D2B3A"/>
                </a:solidFill>
                <a:latin typeface="IBM Plex Sans" pitchFamily="34" charset="0"/>
                <a:ea typeface="IBM Plex Sans" pitchFamily="34" charset="-122"/>
                <a:cs typeface="IBM Plex Sans" pitchFamily="34" charset="-120"/>
              </a:rPr>
              <a:t>Kernel folders</a:t>
            </a:r>
            <a:endParaRPr lang="en-US" sz="1450" dirty="0"/>
          </a:p>
        </p:txBody>
      </p:sp>
      <p:sp>
        <p:nvSpPr>
          <p:cNvPr id="25" name="Text 23"/>
          <p:cNvSpPr/>
          <p:nvPr/>
        </p:nvSpPr>
        <p:spPr>
          <a:xfrm>
            <a:off x="2743200" y="5482481"/>
            <a:ext cx="39243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4505C"/>
                </a:solidFill>
                <a:latin typeface="IBM Plex Sans" pitchFamily="34" charset="0"/>
                <a:ea typeface="IBM Plex Sans" pitchFamily="34" charset="-122"/>
                <a:cs typeface="IBM Plex Sans" pitchFamily="34" charset="-120"/>
              </a:rPr>
              <a:t>Written per pick line (phase_Vp, phase_Vs).</a:t>
            </a:r>
            <a:endParaRPr lang="en-US" sz="1300" dirty="0"/>
          </a:p>
        </p:txBody>
      </p:sp>
      <p:sp>
        <p:nvSpPr>
          <p:cNvPr id="26" name="Text 24"/>
          <p:cNvSpPr/>
          <p:nvPr/>
        </p:nvSpPr>
        <p:spPr>
          <a:xfrm>
            <a:off x="6705600" y="5371058"/>
            <a:ext cx="457835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4505C"/>
                </a:solidFill>
                <a:latin typeface="IBM Plex Sans" pitchFamily="34" charset="0"/>
                <a:ea typeface="IBM Plex Sans" pitchFamily="34" charset="-122"/>
                <a:cs typeface="IBM Plex Sans" pitchFamily="34" charset="-120"/>
              </a:rPr>
              <a:t>Same layout, so </a:t>
            </a:r>
            <a:r>
              <a:rPr lang="en-US" sz="1300" b="1" dirty="0">
                <a:solidFill>
                  <a:srgbClr val="1D2B3A"/>
                </a:solidFill>
                <a:latin typeface="IBM Plex Sans" pitchFamily="34" charset="0"/>
                <a:ea typeface="IBM Plex Sans" pitchFamily="34" charset="-122"/>
                <a:cs typeface="IBM Plex Sans" pitchFamily="34" charset="-120"/>
              </a:rPr>
              <a:t>SI_ker2assm and the solver need no change</a:t>
            </a:r>
            <a:r>
              <a:rPr lang="en-US" sz="1300" dirty="0">
                <a:solidFill>
                  <a:srgbClr val="44505C"/>
                </a:solidFill>
                <a:latin typeface="IBM Plex Sans" pitchFamily="34" charset="0"/>
                <a:ea typeface="IBM Plex Sans" pitchFamily="34" charset="-122"/>
                <a:cs typeface="IBM Plex Sans" pitchFamily="34" charset="-120"/>
              </a:rPr>
              <a: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9 · COST</a:t>
            </a:r>
            <a:endParaRPr lang="en-US" sz="1200" dirty="0"/>
          </a:p>
        </p:txBody>
      </p:sp>
      <p:sp>
        <p:nvSpPr>
          <p:cNvPr id="3" name="Text 1"/>
          <p:cNvSpPr/>
          <p:nvPr>
            <p:ph type="title"/>
          </p:nvPr>
        </p:nvSpPr>
        <p:spPr>
          <a:xfrm>
            <a:off x="812800" y="94992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Slightly more memory, less CPU, and an FFT option still to come</a:t>
            </a:r>
            <a:endParaRPr lang="en-US" sz="3200" dirty="0"/>
          </a:p>
        </p:txBody>
      </p:sp>
      <p:sp>
        <p:nvSpPr>
          <p:cNvPr id="4" name="Shape 2"/>
          <p:cNvSpPr/>
          <p:nvPr/>
        </p:nvSpPr>
        <p:spPr>
          <a:xfrm>
            <a:off x="819150" y="2028130"/>
            <a:ext cx="3238500" cy="2461171"/>
          </a:xfrm>
          <a:prstGeom prst="roundRect">
            <a:avLst>
              <a:gd name="adj" fmla="val 2838"/>
            </a:avLst>
          </a:prstGeom>
          <a:solidFill>
            <a:srgbClr val="FBFAF6"/>
          </a:solidFill>
          <a:ln w="12700">
            <a:solidFill>
              <a:srgbClr val="D9D4C7"/>
            </a:solidFill>
            <a:prstDash val="solid"/>
          </a:ln>
        </p:spPr>
      </p:sp>
      <p:sp>
        <p:nvSpPr>
          <p:cNvPr id="5" name="Text 3"/>
          <p:cNvSpPr/>
          <p:nvPr/>
        </p:nvSpPr>
        <p:spPr>
          <a:xfrm>
            <a:off x="1054100" y="226308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+14%</a:t>
            </a:r>
            <a:endParaRPr lang="en-US" sz="4800" dirty="0"/>
          </a:p>
        </p:txBody>
      </p:sp>
      <p:sp>
        <p:nvSpPr>
          <p:cNvPr id="6" name="Text 4"/>
          <p:cNvSpPr/>
          <p:nvPr/>
        </p:nvSpPr>
        <p:spPr>
          <a:xfrm>
            <a:off x="1054100" y="299204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Memory (ZZ)</a:t>
            </a:r>
            <a:endParaRPr lang="en-US" sz="1400" dirty="0"/>
          </a:p>
        </p:txBody>
      </p:sp>
      <p:sp>
        <p:nvSpPr>
          <p:cNvPr id="7" name="Text 5"/>
          <p:cNvSpPr/>
          <p:nvPr/>
        </p:nvSpPr>
        <p:spPr>
          <a:xfrm>
            <a:off x="1054100" y="3329831"/>
            <a:ext cx="2851658"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Two extra work arrays for the mixed event and receiver fields.</a:t>
            </a:r>
            <a:endParaRPr lang="en-US" sz="1300" dirty="0"/>
          </a:p>
        </p:txBody>
      </p:sp>
      <p:sp>
        <p:nvSpPr>
          <p:cNvPr id="8" name="Shape 6"/>
          <p:cNvSpPr/>
          <p:nvPr/>
        </p:nvSpPr>
        <p:spPr>
          <a:xfrm>
            <a:off x="4476750" y="2028130"/>
            <a:ext cx="3238500" cy="2461171"/>
          </a:xfrm>
          <a:prstGeom prst="roundRect">
            <a:avLst>
              <a:gd name="adj" fmla="val 2838"/>
            </a:avLst>
          </a:prstGeom>
          <a:solidFill>
            <a:srgbClr val="FBFAF6"/>
          </a:solidFill>
          <a:ln w="12700">
            <a:solidFill>
              <a:srgbClr val="D9D4C7"/>
            </a:solidFill>
            <a:prstDash val="solid"/>
          </a:ln>
        </p:spPr>
      </p:sp>
      <p:sp>
        <p:nvSpPr>
          <p:cNvPr id="9" name="Text 7"/>
          <p:cNvSpPr/>
          <p:nvPr/>
        </p:nvSpPr>
        <p:spPr>
          <a:xfrm>
            <a:off x="4711700" y="226308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Fewer</a:t>
            </a:r>
            <a:endParaRPr lang="en-US" sz="4800" dirty="0"/>
          </a:p>
        </p:txBody>
      </p:sp>
      <p:sp>
        <p:nvSpPr>
          <p:cNvPr id="10" name="Text 8"/>
          <p:cNvSpPr/>
          <p:nvPr/>
        </p:nvSpPr>
        <p:spPr>
          <a:xfrm>
            <a:off x="4711700" y="299204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CPU operations</a:t>
            </a:r>
            <a:endParaRPr lang="en-US" sz="1400" dirty="0"/>
          </a:p>
        </p:txBody>
      </p:sp>
      <p:sp>
        <p:nvSpPr>
          <p:cNvPr id="11" name="Text 9"/>
          <p:cNvSpPr/>
          <p:nvPr/>
        </p:nvSpPr>
        <p:spPr>
          <a:xfrm>
            <a:off x="4711700" y="3329831"/>
            <a:ext cx="2851658"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Skipping the leading zeros of each SGT saves work that grows quadratically with the skipped length.</a:t>
            </a:r>
            <a:endParaRPr lang="en-US" sz="1300" dirty="0"/>
          </a:p>
        </p:txBody>
      </p:sp>
      <p:sp>
        <p:nvSpPr>
          <p:cNvPr id="12" name="Shape 10"/>
          <p:cNvSpPr/>
          <p:nvPr/>
        </p:nvSpPr>
        <p:spPr>
          <a:xfrm>
            <a:off x="8134350" y="2028130"/>
            <a:ext cx="3238500" cy="2461171"/>
          </a:xfrm>
          <a:prstGeom prst="roundRect">
            <a:avLst>
              <a:gd name="adj" fmla="val 2838"/>
            </a:avLst>
          </a:prstGeom>
          <a:solidFill>
            <a:srgbClr val="FBFAF6"/>
          </a:solidFill>
          <a:ln w="12700">
            <a:solidFill>
              <a:srgbClr val="D9D4C7"/>
            </a:solidFill>
            <a:prstDash val="solid"/>
          </a:ln>
        </p:spPr>
      </p:sp>
      <p:sp>
        <p:nvSpPr>
          <p:cNvPr id="13" name="Text 11"/>
          <p:cNvSpPr/>
          <p:nvPr/>
        </p:nvSpPr>
        <p:spPr>
          <a:xfrm>
            <a:off x="8369300" y="226308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~26×</a:t>
            </a:r>
            <a:endParaRPr lang="en-US" sz="4800" dirty="0"/>
          </a:p>
        </p:txBody>
      </p:sp>
      <p:sp>
        <p:nvSpPr>
          <p:cNvPr id="14" name="Text 12"/>
          <p:cNvSpPr/>
          <p:nvPr/>
        </p:nvSpPr>
        <p:spPr>
          <a:xfrm>
            <a:off x="8369300" y="299204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FFT convolution</a:t>
            </a:r>
            <a:endParaRPr lang="en-US" sz="1400" dirty="0"/>
          </a:p>
        </p:txBody>
      </p:sp>
      <p:sp>
        <p:nvSpPr>
          <p:cNvPr id="15" name="Text 13"/>
          <p:cNvSpPr/>
          <p:nvPr/>
        </p:nvSpPr>
        <p:spPr>
          <a:xfrm>
            <a:off x="8369300" y="3329831"/>
            <a:ext cx="2851658"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Student's module in a test, matching the direct sum to about 4e-16.</a:t>
            </a:r>
            <a:endParaRPr lang="en-US" sz="1300" dirty="0"/>
          </a:p>
        </p:txBody>
      </p:sp>
      <p:sp>
        <p:nvSpPr>
          <p:cNvPr id="16" name="Shape 14"/>
          <p:cNvSpPr/>
          <p:nvPr/>
        </p:nvSpPr>
        <p:spPr>
          <a:xfrm>
            <a:off x="812800" y="4673451"/>
            <a:ext cx="10566400" cy="835620"/>
          </a:xfrm>
          <a:prstGeom prst="roundRect">
            <a:avLst>
              <a:gd name="adj" fmla="val 9119"/>
            </a:avLst>
          </a:prstGeom>
          <a:solidFill>
            <a:srgbClr val="1D2B3A"/>
          </a:solidFill>
          <a:ln/>
        </p:spPr>
      </p:sp>
      <p:sp>
        <p:nvSpPr>
          <p:cNvPr id="17" name="Text 15"/>
          <p:cNvSpPr/>
          <p:nvPr/>
        </p:nvSpPr>
        <p:spPr>
          <a:xfrm>
            <a:off x="1041400" y="4962674"/>
            <a:ext cx="196215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F6F4EE"/>
                </a:solidFill>
                <a:latin typeface="IBM Plex Sans" pitchFamily="34" charset="0"/>
                <a:ea typeface="IBM Plex Sans" pitchFamily="34" charset="-122"/>
                <a:cs typeface="IBM Plex Sans" pitchFamily="34" charset="-120"/>
              </a:rPr>
              <a:t>Build notes</a:t>
            </a:r>
            <a:endParaRPr lang="en-US" sz="1500" dirty="0"/>
          </a:p>
        </p:txBody>
      </p:sp>
      <p:sp>
        <p:nvSpPr>
          <p:cNvPr id="18" name="Text 16"/>
          <p:cNvSpPr/>
          <p:nvPr/>
        </p:nvSpPr>
        <p:spPr>
          <a:xfrm>
            <a:off x="3098800" y="4851251"/>
            <a:ext cx="82933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E0E7"/>
                </a:solidFill>
                <a:latin typeface="IBM Plex Sans" pitchFamily="34" charset="0"/>
                <a:ea typeface="IBM Plex Sans" pitchFamily="34" charset="-122"/>
                <a:cs typeface="IBM Plex Sans" pitchFamily="34" charset="-120"/>
              </a:rPr>
              <a:t>Use the double-precision build only: the existing "SP" builds are already double because of a Makefile flag. OpenMP is used only when compiled with OMP=1.</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A"/>
                </a:solidFill>
                <a:latin typeface="IBM Plex Sans" pitchFamily="34" charset="0"/>
                <a:ea typeface="IBM Plex Sans" pitchFamily="34" charset="-122"/>
                <a:cs typeface="IBM Plex Sans" pitchFamily="34" charset="-120"/>
              </a:rPr>
              <a:t>10 · VALIDATION</a:t>
            </a:r>
            <a:endParaRPr lang="en-US" sz="1200" dirty="0"/>
          </a:p>
        </p:txBody>
      </p:sp>
      <p:sp>
        <p:nvSpPr>
          <p:cNvPr id="3" name="Text 1"/>
          <p:cNvSpPr/>
          <p:nvPr>
            <p:ph type="title"/>
          </p:nvPr>
        </p:nvSpPr>
        <p:spPr>
          <a:xfrm>
            <a:off x="812800" y="949920"/>
            <a:ext cx="11379200"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D2B3A"/>
                </a:solidFill>
                <a:latin typeface="EB Garamond" pitchFamily="18" charset="0"/>
                <a:ea typeface="EB Garamond" pitchFamily="18" charset="-122"/>
                <a:cs typeface="EB Garamond" pitchFamily="18" charset="-120"/>
              </a:rPr>
              <a:t>New TT kernel = sin α · K(fx) + cos α · K(fy) from the old code</a:t>
            </a:r>
            <a:endParaRPr lang="en-US" sz="3200" dirty="0"/>
          </a:p>
        </p:txBody>
      </p:sp>
      <p:sp>
        <p:nvSpPr>
          <p:cNvPr id="4" name="Text 2"/>
          <p:cNvSpPr/>
          <p:nvPr/>
        </p:nvSpPr>
        <p:spPr>
          <a:xfrm>
            <a:off x="812800" y="1574750"/>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4505C"/>
                </a:solidFill>
                <a:latin typeface="IBM Plex Sans" pitchFamily="34" charset="0"/>
                <a:ea typeface="IBM Plex Sans" pitchFamily="34" charset="-122"/>
                <a:cs typeface="IBM Plex Sans" pitchFamily="34" charset="-120"/>
              </a:rPr>
              <a:t>The old code cannot mix source runs, but it is linear in the source run: run it on the fx and fy event folders, combine with the pair's weights, and compare with one run of the new code.</a:t>
            </a:r>
            <a:endParaRPr lang="en-US" sz="1500" dirty="0"/>
          </a:p>
        </p:txBody>
      </p:sp>
      <p:sp>
        <p:nvSpPr>
          <p:cNvPr id="5" name="Shape 3"/>
          <p:cNvSpPr/>
          <p:nvPr/>
        </p:nvSpPr>
        <p:spPr>
          <a:xfrm>
            <a:off x="819150" y="2292300"/>
            <a:ext cx="3238500" cy="2230041"/>
          </a:xfrm>
          <a:prstGeom prst="roundRect">
            <a:avLst>
              <a:gd name="adj" fmla="val 3132"/>
            </a:avLst>
          </a:prstGeom>
          <a:solidFill>
            <a:srgbClr val="FBFAF6"/>
          </a:solidFill>
          <a:ln w="12700">
            <a:solidFill>
              <a:srgbClr val="D9D4C7"/>
            </a:solidFill>
            <a:prstDash val="solid"/>
          </a:ln>
        </p:spPr>
      </p:sp>
      <p:sp>
        <p:nvSpPr>
          <p:cNvPr id="6" name="Text 4"/>
          <p:cNvSpPr/>
          <p:nvPr/>
        </p:nvSpPr>
        <p:spPr>
          <a:xfrm>
            <a:off x="1054100" y="252725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~2e-11</a:t>
            </a:r>
            <a:endParaRPr lang="en-US" sz="4800" dirty="0"/>
          </a:p>
        </p:txBody>
      </p:sp>
      <p:sp>
        <p:nvSpPr>
          <p:cNvPr id="7" name="Text 5"/>
          <p:cNvSpPr/>
          <p:nvPr/>
        </p:nvSpPr>
        <p:spPr>
          <a:xfrm>
            <a:off x="1054100" y="325621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Relative difference</a:t>
            </a:r>
            <a:endParaRPr lang="en-US" sz="1400" dirty="0"/>
          </a:p>
        </p:txBody>
      </p:sp>
      <p:sp>
        <p:nvSpPr>
          <p:cNvPr id="8" name="Text 6"/>
          <p:cNvSpPr/>
          <p:nvPr/>
        </p:nvSpPr>
        <p:spPr>
          <a:xfrm>
            <a:off x="1054100" y="3594001"/>
            <a:ext cx="2851658"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max|new − old| over max|old|: 1.9e-11 for phase_Vp, 2.5e-11 for phase_Vs.</a:t>
            </a:r>
            <a:endParaRPr lang="en-US" sz="1300" dirty="0"/>
          </a:p>
        </p:txBody>
      </p:sp>
      <p:sp>
        <p:nvSpPr>
          <p:cNvPr id="9" name="Shape 7"/>
          <p:cNvSpPr/>
          <p:nvPr/>
        </p:nvSpPr>
        <p:spPr>
          <a:xfrm>
            <a:off x="4476750" y="2292300"/>
            <a:ext cx="3238500" cy="2230041"/>
          </a:xfrm>
          <a:prstGeom prst="roundRect">
            <a:avLst>
              <a:gd name="adj" fmla="val 3132"/>
            </a:avLst>
          </a:prstGeom>
          <a:solidFill>
            <a:srgbClr val="FBFAF6"/>
          </a:solidFill>
          <a:ln w="12700">
            <a:solidFill>
              <a:srgbClr val="D9D4C7"/>
            </a:solidFill>
            <a:prstDash val="solid"/>
          </a:ln>
        </p:spPr>
      </p:sp>
      <p:sp>
        <p:nvSpPr>
          <p:cNvPr id="10" name="Text 8"/>
          <p:cNvSpPr/>
          <p:nvPr/>
        </p:nvSpPr>
        <p:spPr>
          <a:xfrm>
            <a:off x="4711700" y="252725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 cos α</a:t>
            </a:r>
            <a:endParaRPr lang="en-US" sz="4800" dirty="0"/>
          </a:p>
        </p:txBody>
      </p:sp>
      <p:sp>
        <p:nvSpPr>
          <p:cNvPr id="11" name="Text 9"/>
          <p:cNvSpPr/>
          <p:nvPr/>
        </p:nvSpPr>
        <p:spPr>
          <a:xfrm>
            <a:off x="4711700" y="325621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Pairs and depths</a:t>
            </a:r>
            <a:endParaRPr lang="en-US" sz="1400" dirty="0"/>
          </a:p>
        </p:txBody>
      </p:sp>
      <p:sp>
        <p:nvSpPr>
          <p:cNvPr id="12" name="Text 10"/>
          <p:cNvSpPr/>
          <p:nvPr/>
        </p:nvSpPr>
        <p:spPr>
          <a:xfrm>
            <a:off x="4711700" y="3594001"/>
            <a:ext cx="2851658"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Two pairs, one with a negative cos α, and several depths: identical to the same level.</a:t>
            </a:r>
            <a:endParaRPr lang="en-US" sz="1300" dirty="0"/>
          </a:p>
        </p:txBody>
      </p:sp>
      <p:sp>
        <p:nvSpPr>
          <p:cNvPr id="13" name="Shape 11"/>
          <p:cNvSpPr/>
          <p:nvPr/>
        </p:nvSpPr>
        <p:spPr>
          <a:xfrm>
            <a:off x="8134350" y="2292300"/>
            <a:ext cx="3238500" cy="2230041"/>
          </a:xfrm>
          <a:prstGeom prst="roundRect">
            <a:avLst>
              <a:gd name="adj" fmla="val 3132"/>
            </a:avLst>
          </a:prstGeom>
          <a:solidFill>
            <a:srgbClr val="FBFAF6"/>
          </a:solidFill>
          <a:ln w="12700">
            <a:solidFill>
              <a:srgbClr val="D9D4C7"/>
            </a:solidFill>
            <a:prstDash val="solid"/>
          </a:ln>
        </p:spPr>
      </p:sp>
      <p:sp>
        <p:nvSpPr>
          <p:cNvPr id="14" name="Text 12"/>
          <p:cNvSpPr/>
          <p:nvPr/>
        </p:nvSpPr>
        <p:spPr>
          <a:xfrm>
            <a:off x="8369300" y="2527250"/>
            <a:ext cx="2851658"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1F7A7A"/>
                </a:solidFill>
                <a:latin typeface="EB Garamond" pitchFamily="18" charset="0"/>
                <a:ea typeface="EB Garamond" pitchFamily="18" charset="-122"/>
                <a:cs typeface="EB Garamond" pitchFamily="18" charset="-120"/>
              </a:rPr>
              <a:t>Same sign</a:t>
            </a:r>
            <a:endParaRPr lang="en-US" sz="4800" dirty="0"/>
          </a:p>
        </p:txBody>
      </p:sp>
      <p:sp>
        <p:nvSpPr>
          <p:cNvPr id="15" name="Text 13"/>
          <p:cNvSpPr/>
          <p:nvPr/>
        </p:nvSpPr>
        <p:spPr>
          <a:xfrm>
            <a:off x="8369300" y="3256211"/>
            <a:ext cx="285165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D2B3A"/>
                </a:solidFill>
                <a:latin typeface="IBM Plex Sans" pitchFamily="34" charset="0"/>
                <a:ea typeface="IBM Plex Sans" pitchFamily="34" charset="-122"/>
                <a:cs typeface="IBM Plex Sans" pitchFamily="34" charset="-120"/>
              </a:rPr>
              <a:t>As the ZZ kernels</a:t>
            </a:r>
            <a:endParaRPr lang="en-US" sz="1400" dirty="0"/>
          </a:p>
        </p:txBody>
      </p:sp>
      <p:sp>
        <p:nvSpPr>
          <p:cNvPr id="16" name="Text 14"/>
          <p:cNvSpPr/>
          <p:nvPr/>
        </p:nvSpPr>
        <p:spPr>
          <a:xfrm>
            <a:off x="8369300" y="3594001"/>
            <a:ext cx="2851658"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4505C"/>
                </a:solidFill>
                <a:latin typeface="IBM Plex Sans" pitchFamily="34" charset="0"/>
                <a:ea typeface="IBM Plex Sans" pitchFamily="34" charset="-122"/>
                <a:cs typeface="IBM Plex Sans" pitchFamily="34" charset="-120"/>
              </a:rPr>
              <a:t>Kernels are mostly negative along the path, as for ZZ; phase-delay polarity matches the waveforms.</a:t>
            </a:r>
            <a:endParaRPr lang="en-US" sz="1300" dirty="0"/>
          </a:p>
        </p:txBody>
      </p:sp>
      <p:sp>
        <p:nvSpPr>
          <p:cNvPr id="17" name="Shape 15"/>
          <p:cNvSpPr/>
          <p:nvPr/>
        </p:nvSpPr>
        <p:spPr>
          <a:xfrm>
            <a:off x="812800" y="4706491"/>
            <a:ext cx="10566400" cy="835620"/>
          </a:xfrm>
          <a:prstGeom prst="roundRect">
            <a:avLst>
              <a:gd name="adj" fmla="val 9119"/>
            </a:avLst>
          </a:prstGeom>
          <a:solidFill>
            <a:srgbClr val="1D2B3A"/>
          </a:solidFill>
          <a:ln/>
        </p:spPr>
      </p:sp>
      <p:sp>
        <p:nvSpPr>
          <p:cNvPr id="18" name="Text 16"/>
          <p:cNvSpPr/>
          <p:nvPr/>
        </p:nvSpPr>
        <p:spPr>
          <a:xfrm>
            <a:off x="1041400" y="4995714"/>
            <a:ext cx="196215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F6F4EE"/>
                </a:solidFill>
                <a:latin typeface="IBM Plex Sans" pitchFamily="34" charset="0"/>
                <a:ea typeface="IBM Plex Sans" pitchFamily="34" charset="-122"/>
                <a:cs typeface="IBM Plex Sans" pitchFamily="34" charset="-120"/>
              </a:rPr>
              <a:t>Still to do</a:t>
            </a:r>
            <a:endParaRPr lang="en-US" sz="1500" dirty="0"/>
          </a:p>
        </p:txBody>
      </p:sp>
      <p:sp>
        <p:nvSpPr>
          <p:cNvPr id="19" name="Text 17"/>
          <p:cNvSpPr/>
          <p:nvPr/>
        </p:nvSpPr>
        <p:spPr>
          <a:xfrm>
            <a:off x="3098800" y="4884291"/>
            <a:ext cx="82933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5E0E7"/>
                </a:solidFill>
                <a:latin typeface="IBM Plex Sans" pitchFamily="34" charset="0"/>
                <a:ea typeface="IBM Plex Sans" pitchFamily="34" charset="-122"/>
                <a:cs typeface="IBM Plex Sans" pitchFamily="34" charset="-120"/>
              </a:rPr>
              <a:t>Add the FFT convolution after the student's validation, then rerun this comparison on the new version. ZZ kernels from the two codes were already identical.</a:t>
            </a:r>
            <a:endParaRPr lang="en-US" sz="1400" dirty="0"/>
          </a:p>
        </p:txBody>
      </p:sp>
    </p:spTree>
  </p:cSld>
  <p:clrMapOvr>
    <a:masterClrMapping/>
  </p:clrMapOvr>
</p:sld>
</file>

<file path=ppt/theme/theme1.xml><?xml version="1.0" encoding="utf-8"?>
<a:theme xmlns:a="http://schemas.openxmlformats.org/drawingml/2006/main" name="Love waves from fx and fy runs">
  <a:themeElements>
    <a:clrScheme name="Love waves from fx and fy runs">
      <a:dk1>
        <a:srgbClr val="1D2B3A"/>
      </a:dk1>
      <a:lt1>
        <a:srgbClr val="F6F4EE"/>
      </a:lt1>
      <a:dk2>
        <a:srgbClr val="535D67"/>
      </a:dk2>
      <a:lt2>
        <a:srgbClr val="E0E0DC"/>
      </a:lt2>
      <a:accent1>
        <a:srgbClr val="1F7A7A"/>
      </a:accent1>
      <a:accent2>
        <a:srgbClr val="B4531E"/>
      </a:accent2>
      <a:accent3>
        <a:srgbClr val="7FD1CB"/>
      </a:accent3>
      <a:accent4>
        <a:srgbClr val="44505C"/>
      </a:accent4>
      <a:accent5>
        <a:srgbClr val="D5E0E7"/>
      </a:accent5>
      <a:accent6>
        <a:srgbClr val="8A97A3"/>
      </a:accent6>
      <a:hlink>
        <a:srgbClr val="0563C1"/>
      </a:hlink>
      <a:folHlink>
        <a:srgbClr val="954F72"/>
      </a:folHlink>
    </a:clrScheme>
    <a:fontScheme name="Love waves from fx and fy runs">
      <a:majorFont>
        <a:latin typeface="EB 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Love waves from fx and fy runs</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EB Garamond
Copyright 2017 The EB Garamond Project Authors (https://github.com/octaviopardo/EBGaramond12)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2026-10-21T04:04:53Z</dcterms:created>
  <dcterms:modified xsi:type="dcterms:W3CDTF">2026-10-21T04:04:53Z</dcterms:modified>
</cp:coreProperties>
</file>